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3931920"/>
            <a:ext cx="2926080" cy="2926080"/>
          </a:xfrm>
          <a:prstGeom prst="ellipse">
            <a:avLst/>
          </a:prstGeom>
          <a:ln w="9525">
            <a:solidFill>
              <a:srgbClr val="E6F2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9855" y="3566160"/>
            <a:ext cx="3657600" cy="3657600"/>
          </a:xfrm>
          <a:prstGeom prst="ellipse">
            <a:avLst/>
          </a:prstGeom>
          <a:ln w="9525">
            <a:solidFill>
              <a:srgbClr val="E6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095" y="3200400"/>
            <a:ext cx="4389120" cy="4389120"/>
          </a:xfrm>
          <a:prstGeom prst="ellipse">
            <a:avLst/>
          </a:prstGeom>
          <a:ln w="9525">
            <a:solidFill>
              <a:srgbClr val="E6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Assembler to Rust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the Apollo Guidance Computer with AI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4023360"/>
            <a:ext cx="1097280" cy="36576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Vitaliy Schreibmann</a:t>
            </a:r>
            <a:pPr indent="0" marL="0">
              <a:buNone/>
            </a:pPr>
            <a:r>
              <a:rPr lang="en-US" sz="14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Senacor Technologies   ·   April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chapters · Apollo, the problem, the pipeline, the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2024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Apollo Guidance Computer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constraints, real-time architecture, and the original Comanche055 software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2697480"/>
            <a:ext cx="10058400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88036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417320" y="2807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172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abstractions, 1960s assembly code, and why Rust is the right choice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3657600"/>
            <a:ext cx="10058400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417320" y="3767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Transformation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133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pipeline: analyst → architect → developer → code-review → tester → debugger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4617720"/>
            <a:ext cx="10058400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80060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141732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093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milestones complete — 207 tests passing — 12,000+ lines of idiomatic Rust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4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6895" y="13716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063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0A4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9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Apollo Guidance Computer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II AGC — Comanche 055 — the original real-time computer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794760"/>
            <a:ext cx="731520" cy="4114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8" name="Text 6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Apollo Guidance Computer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II AGC — Comanche 055 — Command Module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4206240" cy="12344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12344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2.048 MHz · 15-bit words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40,000 operations / second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4206240" cy="12344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46120"/>
            <a:ext cx="73152" cy="12344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685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RAM  ·  72 KB ROM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0325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Magnetically woven core rope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4206240" cy="12344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4663440"/>
            <a:ext cx="73152" cy="12344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18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operating system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5449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owns a 10 ms task cycle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828800"/>
            <a:ext cx="6568135" cy="4251960"/>
          </a:xfrm>
          <a:prstGeom prst="rect">
            <a:avLst/>
          </a:prstGeom>
          <a:solidFill>
            <a:srgbClr val="0A4B4D"/>
          </a:solidFill>
          <a:ln/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2011680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COMANCHE 055 — KEY FACTS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377440"/>
            <a:ext cx="457200" cy="32004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5532120" y="2816352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2697480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11 Command Module flight software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5532120" y="3218688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3099816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thruster + main engine commands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2700000">
            <a:off x="5532120" y="3621024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3502152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100,000 lines of AGC assembly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2700000">
            <a:off x="5532120" y="4023360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0" name="Text 28"/>
          <p:cNvSpPr/>
          <p:nvPr/>
        </p:nvSpPr>
        <p:spPr>
          <a:xfrm>
            <a:off x="5806440" y="3904488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DSKY console — verb/noun crew interface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2700000">
            <a:off x="5532120" y="4425696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4306824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Magnetically woven core rope memory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2700000">
            <a:off x="5532120" y="4828032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4" name="Text 32"/>
          <p:cNvSpPr/>
          <p:nvPr/>
        </p:nvSpPr>
        <p:spPr>
          <a:xfrm>
            <a:off x="5806440" y="4709160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— 10 ms fixed scheduler cycle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rot="2700000">
            <a:off x="5532120" y="5230368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6" name="Text 34"/>
          <p:cNvSpPr/>
          <p:nvPr/>
        </p:nvSpPr>
        <p:spPr>
          <a:xfrm>
            <a:off x="5806440" y="5111496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star sightings + IMU data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2700000">
            <a:off x="5532120" y="5632704"/>
            <a:ext cx="91440" cy="9144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5513832"/>
            <a:ext cx="56537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Fail-safe: always returns to a safe state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4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6895" y="13716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063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0A4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9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re-engineer 1960s assembly — and why Rust?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794760"/>
            <a:ext cx="731520" cy="4114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8" name="Text 6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Challenges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obstacles between AGC assembler and modern Rust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38404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Abstractions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assembly has no functions, structs, or types. Variables are raw memory addresses. Comments are the only documentation. Original developer intent must be reconstructed from runtime behavior and cross-references to design documents.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67048" y="182880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048" y="1828800"/>
            <a:ext cx="73152" cy="38404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2808" y="219456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15" name="Text 13"/>
          <p:cNvSpPr/>
          <p:nvPr/>
        </p:nvSpPr>
        <p:spPr>
          <a:xfrm>
            <a:off x="463280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4632808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Constraints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32808" y="347472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18" name="Text 16"/>
          <p:cNvSpPr/>
          <p:nvPr/>
        </p:nvSpPr>
        <p:spPr>
          <a:xfrm>
            <a:off x="4632808" y="365760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OS. There is no heap allocator. The AGC scheduler ticks every 10 ms in silicon. Our Rust implementation must honour the same timing guarantees using no_std and fixed-size, pre-allocated data structures throughout.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31175" y="1828800"/>
            <a:ext cx="3657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1175" y="1828800"/>
            <a:ext cx="73152" cy="38404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6935" y="2194560"/>
            <a:ext cx="640080" cy="64008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22" name="Text 20"/>
          <p:cNvSpPr/>
          <p:nvPr/>
        </p:nvSpPr>
        <p:spPr>
          <a:xfrm>
            <a:off x="8396935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8396935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vs. Readability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96935" y="347472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25" name="Text 23"/>
          <p:cNvSpPr/>
          <p:nvPr/>
        </p:nvSpPr>
        <p:spPr>
          <a:xfrm>
            <a:off x="8396935" y="365760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constant and computation must match Comanche 055 — bit for bit. Yet the overarching goal is readable, idiomatic Rust that any modern engineer can understand and maintain, not a line-for-line transliteration of 1960s opcodes.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modern language that matches AGC constraints without a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29968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no_std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33472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to bare metal with no OS, no heap. Matches the AGC environment exactly — the right foundation for a real-time embedded 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1828800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8218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2029968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12538" y="2514600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14" name="Text 12"/>
          <p:cNvSpPr/>
          <p:nvPr/>
        </p:nvSpPr>
        <p:spPr>
          <a:xfrm>
            <a:off x="4612538" y="2633472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borrow checker eliminate whole classes of bugs without garbage collection overhead or runtime costs.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73517" y="1828800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73517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7" name="Text 15"/>
          <p:cNvSpPr/>
          <p:nvPr/>
        </p:nvSpPr>
        <p:spPr>
          <a:xfrm>
            <a:off x="8447837" y="2029968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47837" y="2514600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19" name="Text 17"/>
          <p:cNvSpPr/>
          <p:nvPr/>
        </p:nvSpPr>
        <p:spPr>
          <a:xfrm>
            <a:off x="8447837" y="2633472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Enums, traits, and iterators are abstractions that compile away entirely. There is no hidden runtime — what you see is what runs.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96512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096512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4782312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01184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integers and custom newtypes (i15, u15) express AGC word semantics explicitly, catching numerical errors at compile time.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38218" y="4096512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38218" y="4096512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7" name="Text 25"/>
          <p:cNvSpPr/>
          <p:nvPr/>
        </p:nvSpPr>
        <p:spPr>
          <a:xfrm>
            <a:off x="4612538" y="429768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12538" y="4782312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29" name="Text 27"/>
          <p:cNvSpPr/>
          <p:nvPr/>
        </p:nvSpPr>
        <p:spPr>
          <a:xfrm>
            <a:off x="4612538" y="4901184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#[test] and cargo test give instant feedback. The original AGC had no unit tests. Our port has 207 — all green.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73517" y="4096512"/>
            <a:ext cx="351525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73517" y="4096512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2" name="Text 30"/>
          <p:cNvSpPr/>
          <p:nvPr/>
        </p:nvSpPr>
        <p:spPr>
          <a:xfrm>
            <a:off x="8447837" y="4297680"/>
            <a:ext cx="3012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47837" y="4782312"/>
            <a:ext cx="320040" cy="27432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34" name="Text 32"/>
          <p:cNvSpPr/>
          <p:nvPr/>
        </p:nvSpPr>
        <p:spPr>
          <a:xfrm>
            <a:off x="8447837" y="4901184"/>
            <a:ext cx="3012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doc-comments, and meaningful names restore the abstraction layer that was lost when assembly was the only option.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6895" y="13716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063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0A4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9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Transformation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pipeline driven by Claude 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794760"/>
            <a:ext cx="731520" cy="4114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8" name="Text 6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Multi-Agent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agents with focused tools, coordinated by Claude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analyst-reengineer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05658" y="2103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9" name="Text 7"/>
          <p:cNvSpPr/>
          <p:nvPr/>
        </p:nvSpPr>
        <p:spPr>
          <a:xfrm>
            <a:off x="2905658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AGC assembly + reference docs. Produces functional specs per component.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Glob · Grep · Write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2978" y="1828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2978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5" name="Text 13"/>
          <p:cNvSpPr/>
          <p:nvPr/>
        </p:nvSpPr>
        <p:spPr>
          <a:xfrm>
            <a:off x="4597298" y="2057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5717" y="2103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725717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7298" y="2514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Rust module structure, traits, and data types. Validates via Plan Mode.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7298" y="3429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7298" y="3474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Write · EnterPlanMode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43037" y="1828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43037" y="1828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7357" y="2057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45775" y="2103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5775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7357" y="2514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idiomatic no_std Rust following specs and architecture decisions.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7357" y="3429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7357" y="3474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Edit · Write · Bash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114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114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43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05658" y="4389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2905658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4800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line against Comanche 055. Files ADRs for all deviations.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715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760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Grep · Write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22978" y="4114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22978" y="4114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9" name="Text 37"/>
          <p:cNvSpPr/>
          <p:nvPr/>
        </p:nvSpPr>
        <p:spPr>
          <a:xfrm>
            <a:off x="4597298" y="4343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25717" y="4389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41" name="Text 39"/>
          <p:cNvSpPr/>
          <p:nvPr/>
        </p:nvSpPr>
        <p:spPr>
          <a:xfrm>
            <a:off x="6725717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97298" y="4800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unit tests per public interface and scenario tests for mission phases.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97298" y="5715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7298" y="5760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Write · Edit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43037" y="4114800"/>
            <a:ext cx="354573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43037" y="4114800"/>
            <a:ext cx="73152" cy="2011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47" name="Text 45"/>
          <p:cNvSpPr/>
          <p:nvPr/>
        </p:nvSpPr>
        <p:spPr>
          <a:xfrm>
            <a:off x="8417357" y="4343400"/>
            <a:ext cx="2128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545775" y="4389120"/>
            <a:ext cx="914400" cy="274320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0545775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17357" y="4800600"/>
            <a:ext cx="30428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test failures and regressions. Fixes without breaking passing tests.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17357" y="5715000"/>
            <a:ext cx="3042818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7357" y="5760720"/>
            <a:ext cx="3042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· Edit · Bash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Skill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.claude/ directory — transformation infrastructure as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3545738" cy="425196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42519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517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analyst-reengineer.md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986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assembly, produce specs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architect.md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Plan-mode module design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no_std Rust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297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54456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vs. Comanche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tester.md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9320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scenario coverage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5394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debugger.md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6418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without regressions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2978" y="1828800"/>
            <a:ext cx="3545738" cy="425196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2978" y="1828800"/>
            <a:ext cx="73152" cy="42519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3" name="Text 21"/>
          <p:cNvSpPr/>
          <p:nvPr/>
        </p:nvSpPr>
        <p:spPr>
          <a:xfrm>
            <a:off x="4597298" y="2057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7298" y="242316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25" name="Text 23"/>
          <p:cNvSpPr/>
          <p:nvPr/>
        </p:nvSpPr>
        <p:spPr>
          <a:xfrm>
            <a:off x="4597298" y="26517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agc-assembly-reader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7298" y="28986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YUL-era assembler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7298" y="32004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rust-no-std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7298" y="344728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idioms + crates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7298" y="374904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comanche055-validator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7298" y="399592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constant 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7298" y="4297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fixed-point-math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97298" y="454456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i15/u15 newtype semantics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7298" y="484632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mission-phase-sim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97298" y="509320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P20/P52/P63-65 scenarios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97298" y="5394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adr-author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7298" y="56418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docs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43037" y="1828800"/>
            <a:ext cx="3545738" cy="425196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43037" y="1828800"/>
            <a:ext cx="73152" cy="42519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9" name="Text 37"/>
          <p:cNvSpPr/>
          <p:nvPr/>
        </p:nvSpPr>
        <p:spPr>
          <a:xfrm>
            <a:off x="8417357" y="20574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417357" y="2423160"/>
            <a:ext cx="365760" cy="32004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41" name="Text 39"/>
          <p:cNvSpPr/>
          <p:nvPr/>
        </p:nvSpPr>
        <p:spPr>
          <a:xfrm>
            <a:off x="8417357" y="26517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7357" y="28986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wiring + permissions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17357" y="320040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7357" y="344728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conventions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7357" y="374904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7357" y="399592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Slash-command shortcuts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7357" y="429768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hooks/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7357" y="454456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commit checks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17357" y="484632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mcp-servers.json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7357" y="509320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registry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7357" y="5394960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docs/references/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7357" y="5641848"/>
            <a:ext cx="3088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+ Rust PDFs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About Claude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from two days of hands-on experimentation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1118585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Too Close to Assembler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9997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sufficient context, Claude produces assembly-style Rust — not idiomatic. It needs the Rust Book, Apollo PDFs, and VirtualAGC docs loaded before any code generation.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99232"/>
            <a:ext cx="1118585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999232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227832"/>
            <a:ext cx="548640" cy="54864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417320" y="3136392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Mode Determines Quality — and Token Cost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56432"/>
            <a:ext cx="9997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ad-hoc prompting → low token usage → low quality. Spec-driven prompting → high token usage → high quality. No way to predict token cost upfront. Commit to quality from the start — token frugality always backfires.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69664"/>
            <a:ext cx="1118585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169664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398264"/>
            <a:ext cx="548640" cy="54864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417320" y="4306824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Has Memory — but Needs a Strong Foundation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626864"/>
            <a:ext cx="9997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accumulates within a session and Claude uses it well. However, the Analyse &amp; Architecture agent must carry massive domain knowledge (AGC hardware, Rust embedded, mission phases) to produce reliable output.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340096"/>
            <a:ext cx="1118585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5340096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5568696"/>
            <a:ext cx="548640" cy="54864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568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417320" y="5477256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That Works: Spec → Code → Test → Validate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797296"/>
            <a:ext cx="99971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full functional spec first → generate Rust → run cargo test → validate against Comanche 055 assembler and AGC specification PDFs. Proven across all 5 milestones.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 — original assembler code as support, not basis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11185855" cy="64008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640080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6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400" i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First — requirements are always incomplete. Spec-driven development is Agile.</a:t>
            </a:r>
            <a:pPr indent="0" marL="0">
              <a:buNone/>
            </a:pPr>
            <a:r>
              <a:rPr lang="en-US" sz="2000" b="1" dirty="0">
                <a:solidFill>
                  <a:srgbClr val="D66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590724" cy="868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260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Spec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Architecture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39364" y="3140964"/>
            <a:ext cx="182880" cy="164592"/>
          </a:xfrm>
          <a:prstGeom prst="rtTriangle">
            <a:avLst/>
          </a:prstGeom>
          <a:solidFill>
            <a:srgbClr val="0D6E71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7964" y="2788920"/>
            <a:ext cx="2590724" cy="868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7964" y="29260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Code Gen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7964" y="324612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agent · full context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6004408" y="3140964"/>
            <a:ext cx="182880" cy="164592"/>
          </a:xfrm>
          <a:prstGeom prst="rtTriangle">
            <a:avLst/>
          </a:prstGeom>
          <a:solidFill>
            <a:srgbClr val="0D6E71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3008" y="2788920"/>
            <a:ext cx="2590724" cy="868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008" y="29260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3008" y="324612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agent · cargo 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8869451" y="3140964"/>
            <a:ext cx="182880" cy="164592"/>
          </a:xfrm>
          <a:prstGeom prst="rtTriangle">
            <a:avLst/>
          </a:prstGeom>
          <a:solidFill>
            <a:srgbClr val="0D6E71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8051" y="2788920"/>
            <a:ext cx="2590724" cy="8686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92608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vs AGS / PDF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051" y="3246120"/>
            <a:ext cx="259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 agent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54557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977640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148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4348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a full functional specification — never jump straight to code. Requirements are inherently incomplete; the spec forces clarity before generation.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3008" y="3977640"/>
            <a:ext cx="54557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3008" y="3977640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41148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Code is Support, Not Basis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07328" y="44348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AGC assembler source serves as a validation reference and domain guide. AI generates new idiomatic Rust algorithms — not a line-by-line transliteration.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166360"/>
            <a:ext cx="54557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5166360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3035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= High Tokens = High Quality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62356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prompting consumes significantly more tokens but delivers dramatically higher-quality output. Quality is the non-negotiable constraint.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33008" y="5166360"/>
            <a:ext cx="54557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3008" y="5166360"/>
            <a:ext cx="73152" cy="10058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53035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Essential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07328" y="562356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validated against Comanche 055 assembler source and the original AGC specification PDFs. No milestone complete until verified.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whiteboard to 5 complete milestones — in one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5432908" cy="457200"/>
          </a:xfrm>
          <a:prstGeom prst="rect">
            <a:avLst/>
          </a:prstGeom>
          <a:solidFill>
            <a:srgbClr val="0A4B4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515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PLAN  ·  April 9,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55868" y="1828800"/>
            <a:ext cx="5432908" cy="45720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8" name="Text 6"/>
          <p:cNvSpPr/>
          <p:nvPr/>
        </p:nvSpPr>
        <p:spPr>
          <a:xfrm>
            <a:off x="6438748" y="1828800"/>
            <a:ext cx="5158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EXECUTION  ·  April 10,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32908" cy="356616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5868" y="2286000"/>
            <a:ext cx="5432908" cy="3566160"/>
          </a:xfrm>
          <a:prstGeom prst="rect">
            <a:avLst/>
          </a:prstGeom>
          <a:solidFill>
            <a:srgbClr val="FBFCFC"/>
          </a:solidFill>
          <a:ln w="9525">
            <a:solidFill>
              <a:srgbClr val="D9E3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87752"/>
            <a:ext cx="320040" cy="32004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4655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770632"/>
            <a:ext cx="465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design → fix AGC problems + Rust embedding. Target: ~1,000 lines with structure, types &amp; components.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3273552"/>
            <a:ext cx="320040" cy="32004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4655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Strategy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456432"/>
            <a:ext cx="465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 exhausted after 2h — no more tokens. Switched approach and planned next steps carefully.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959352"/>
            <a:ext cx="320040" cy="32004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9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1097280" y="3886200"/>
            <a:ext cx="4655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Reading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4142232"/>
            <a:ext cx="465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 + Embedded Rust Book — deep knowledge loading for all AI agents before code generation.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645152"/>
            <a:ext cx="320040" cy="32004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645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1097280" y="4572000"/>
            <a:ext cx="4655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828032"/>
            <a:ext cx="465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→ 5,000 LoC Markdown + 1,000 Rust.  M2 → 5,000 Markdown + 2,500 Rust.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330952"/>
            <a:ext cx="320040" cy="320040"/>
          </a:xfrm>
          <a:prstGeom prst="ellipse">
            <a:avLst/>
          </a:prstGeom>
          <a:solidFill>
            <a:srgbClr val="0D6E7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30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1097280" y="5257800"/>
            <a:ext cx="4655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Loop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5513832"/>
            <a:ext cx="4655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PDF + Comanche 055 assembler validation at every step.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38748" y="24688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24548" y="246888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38748" y="27432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24548" y="274320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locked, pipeline 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38748" y="3017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24548" y="301752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 spec complete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408615" y="3035808"/>
            <a:ext cx="1097280" cy="201168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10408615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Analysis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38748" y="3291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24548" y="329184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fixed-point math, memory map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408615" y="3310128"/>
            <a:ext cx="1097280" cy="201168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42" name="Text 40"/>
          <p:cNvSpPr/>
          <p:nvPr/>
        </p:nvSpPr>
        <p:spPr>
          <a:xfrm>
            <a:off x="10408615" y="3310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Dev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38748" y="3566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24548" y="356616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M1 tests green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408615" y="3584448"/>
            <a:ext cx="1097280" cy="20116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46" name="Text 44"/>
          <p:cNvSpPr/>
          <p:nvPr/>
        </p:nvSpPr>
        <p:spPr>
          <a:xfrm>
            <a:off x="10408615" y="35844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✓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38748" y="3840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11:40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24548" y="384048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stellar nav spec complete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408615" y="3858768"/>
            <a:ext cx="1097280" cy="201168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50" name="Text 48"/>
          <p:cNvSpPr/>
          <p:nvPr/>
        </p:nvSpPr>
        <p:spPr>
          <a:xfrm>
            <a:off x="10408615" y="3858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Analysis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38748" y="4114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24548" y="411480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foundation implemented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408615" y="4133088"/>
            <a:ext cx="1097280" cy="201168"/>
          </a:xfrm>
          <a:prstGeom prst="rect">
            <a:avLst/>
          </a:prstGeom>
          <a:solidFill>
            <a:srgbClr val="E6F2F2"/>
          </a:solidFill>
          <a:ln/>
        </p:spPr>
      </p:sp>
      <p:sp>
        <p:nvSpPr>
          <p:cNvPr id="54" name="Text 52"/>
          <p:cNvSpPr/>
          <p:nvPr/>
        </p:nvSpPr>
        <p:spPr>
          <a:xfrm>
            <a:off x="10408615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Dev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38748" y="4389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24548" y="438912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foundation tests green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408615" y="4407408"/>
            <a:ext cx="1097280" cy="20116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8" name="Text 56"/>
          <p:cNvSpPr/>
          <p:nvPr/>
        </p:nvSpPr>
        <p:spPr>
          <a:xfrm>
            <a:off x="10408615" y="4407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✓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38748" y="4663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124548" y="466344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break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408615" y="4681728"/>
            <a:ext cx="1097280" cy="201168"/>
          </a:xfrm>
          <a:prstGeom prst="rect">
            <a:avLst/>
          </a:prstGeom>
          <a:solidFill>
            <a:srgbClr val="F2E8D6"/>
          </a:solidFill>
          <a:ln/>
        </p:spPr>
      </p:sp>
      <p:sp>
        <p:nvSpPr>
          <p:cNvPr id="62" name="Text 60"/>
          <p:cNvSpPr/>
          <p:nvPr/>
        </p:nvSpPr>
        <p:spPr>
          <a:xfrm>
            <a:off x="10408615" y="4681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Pause —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38748" y="4937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124548" y="493776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DAP complete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408615" y="4956048"/>
            <a:ext cx="1097280" cy="20116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66" name="Text 64"/>
          <p:cNvSpPr/>
          <p:nvPr/>
        </p:nvSpPr>
        <p:spPr>
          <a:xfrm>
            <a:off x="10408615" y="49560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✓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38748" y="5212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15:55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124548" y="521208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programs (P20/P52/P63–65)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408615" y="5230368"/>
            <a:ext cx="1097280" cy="20116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0" name="Text 68"/>
          <p:cNvSpPr/>
          <p:nvPr/>
        </p:nvSpPr>
        <p:spPr>
          <a:xfrm>
            <a:off x="10408615" y="5230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✓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438748" y="54864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16:40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124548" y="5486400"/>
            <a:ext cx="32383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DSKY + mission simulation complete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408615" y="5504688"/>
            <a:ext cx="1097280" cy="20116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4" name="Text 72"/>
          <p:cNvSpPr/>
          <p:nvPr/>
        </p:nvSpPr>
        <p:spPr>
          <a:xfrm>
            <a:off x="10408615" y="5504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✓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02920" y="5989320"/>
            <a:ext cx="11185855" cy="292608"/>
          </a:xfrm>
          <a:prstGeom prst="rect">
            <a:avLst/>
          </a:prstGeom>
          <a:solidFill>
            <a:srgbClr val="0A4B4D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" y="59893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Markdown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13,500</a:t>
            </a:r>
            <a:pPr algn="ctr" indent="0" marL="0">
              <a:buNone/>
            </a:pPr>
            <a:r>
              <a:rPr lang="en-US" sz="11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LoC Rust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12,200</a:t>
            </a:r>
            <a:pPr algn="ctr" indent="0" marL="0">
              <a:buNone/>
            </a:pPr>
            <a:r>
              <a:rPr lang="en-US" sz="11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Total </a:t>
            </a:r>
            <a:pPr algn="ctr" indent="0" marL="0">
              <a:buNone/>
            </a:pPr>
            <a:r>
              <a:rPr lang="en-US" sz="11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25,700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4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6895" y="137160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063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914400" y="24688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0A4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90" dirty="0"/>
          </a:p>
        </p:txBody>
      </p:sp>
      <p:sp>
        <p:nvSpPr>
          <p:cNvPr id="5" name="Text 3"/>
          <p:cNvSpPr/>
          <p:nvPr/>
        </p:nvSpPr>
        <p:spPr>
          <a:xfrm>
            <a:off x="201168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milestones complete — the AGC lives in Rust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794760"/>
            <a:ext cx="731520" cy="4114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8" name="Text 6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Milestones — All Complete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bare hardware abstraction layer to full mission simulation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74520"/>
            <a:ext cx="2054291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73152" cy="35661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74520"/>
            <a:ext cx="2054291" cy="6400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74520"/>
            <a:ext cx="20542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10026" y="2743200"/>
            <a:ext cx="640080" cy="64008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210026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01466" y="4297680"/>
            <a:ext cx="457200" cy="0"/>
          </a:xfrm>
          <a:prstGeom prst="line">
            <a:avLst/>
          </a:prstGeom>
          <a:noFill/>
          <a:ln w="19050">
            <a:solidFill>
              <a:srgbClr val="D66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interrupts, fixed-point math, memory 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5811" y="1874520"/>
            <a:ext cx="2054291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5811" y="1874520"/>
            <a:ext cx="73152" cy="35661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6" name="Shape 14"/>
          <p:cNvSpPr/>
          <p:nvPr/>
        </p:nvSpPr>
        <p:spPr>
          <a:xfrm>
            <a:off x="2785811" y="1874520"/>
            <a:ext cx="2054291" cy="6400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811" y="1874520"/>
            <a:ext cx="20542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92917" y="2743200"/>
            <a:ext cx="640080" cy="64008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3492917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922971" y="3566160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Foundation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84357" y="4297680"/>
            <a:ext cx="457200" cy="0"/>
          </a:xfrm>
          <a:prstGeom prst="line">
            <a:avLst/>
          </a:prstGeom>
          <a:noFill/>
          <a:ln w="19050">
            <a:solidFill>
              <a:srgbClr val="D66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2971" y="443484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integration, stellar orientation, coordinate transforms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68702" y="1874520"/>
            <a:ext cx="2054291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68702" y="1874520"/>
            <a:ext cx="73152" cy="35661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5" name="Shape 23"/>
          <p:cNvSpPr/>
          <p:nvPr/>
        </p:nvSpPr>
        <p:spPr>
          <a:xfrm>
            <a:off x="5068702" y="1874520"/>
            <a:ext cx="2054291" cy="6400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6" name="Text 24"/>
          <p:cNvSpPr/>
          <p:nvPr/>
        </p:nvSpPr>
        <p:spPr>
          <a:xfrm>
            <a:off x="5068702" y="1874520"/>
            <a:ext cx="20542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577580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05862" y="3566160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DAP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67248" y="4297680"/>
            <a:ext cx="457200" cy="0"/>
          </a:xfrm>
          <a:prstGeom prst="line">
            <a:avLst/>
          </a:prstGeom>
          <a:noFill/>
          <a:ln w="19050">
            <a:solidFill>
              <a:srgbClr val="D66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5862" y="443484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equations, Digital AutoPilot, thruster control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51593" y="1874520"/>
            <a:ext cx="2054291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51593" y="1874520"/>
            <a:ext cx="73152" cy="35661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1593" y="1874520"/>
            <a:ext cx="2054291" cy="6400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593" y="1874520"/>
            <a:ext cx="20542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058699" y="2743200"/>
            <a:ext cx="640080" cy="64008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37" name="Text 35"/>
          <p:cNvSpPr/>
          <p:nvPr/>
        </p:nvSpPr>
        <p:spPr>
          <a:xfrm>
            <a:off x="8058699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7488753" y="3566160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Programs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50139" y="4297680"/>
            <a:ext cx="457200" cy="0"/>
          </a:xfrm>
          <a:prstGeom prst="line">
            <a:avLst/>
          </a:prstGeom>
          <a:noFill/>
          <a:ln w="19050">
            <a:solidFill>
              <a:srgbClr val="D668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88753" y="443484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P20, P52, P63, P64, P65 — rendezvous, align, descent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34484" y="1874520"/>
            <a:ext cx="2054291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634484" y="1874520"/>
            <a:ext cx="73152" cy="356616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34484" y="1874520"/>
            <a:ext cx="2054291" cy="64008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44" name="Text 42"/>
          <p:cNvSpPr/>
          <p:nvPr/>
        </p:nvSpPr>
        <p:spPr>
          <a:xfrm>
            <a:off x="9634484" y="1874520"/>
            <a:ext cx="20542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10341590" y="2743200"/>
            <a:ext cx="640080" cy="640080"/>
          </a:xfrm>
          <a:prstGeom prst="ellipse">
            <a:avLst/>
          </a:prstGeom>
          <a:solidFill>
            <a:srgbClr val="E6F2F2"/>
          </a:solidFill>
          <a:ln/>
        </p:spPr>
      </p:sp>
      <p:sp>
        <p:nvSpPr>
          <p:cNvPr id="46" name="Text 44"/>
          <p:cNvSpPr/>
          <p:nvPr/>
        </p:nvSpPr>
        <p:spPr>
          <a:xfrm>
            <a:off x="1034159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9771644" y="3566160"/>
            <a:ext cx="17799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DSKY &amp; Mission Sim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433030" y="4297680"/>
            <a:ext cx="457200" cy="0"/>
          </a:xfrm>
          <a:prstGeom prst="line">
            <a:avLst/>
          </a:prstGeom>
          <a:noFill/>
          <a:ln w="19050">
            <a:solidFill>
              <a:srgbClr val="D668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71644" y="4434840"/>
            <a:ext cx="17799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interface, mission phases, earth–moon simulation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from the AGC-in-Rust transformation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2590724" cy="14630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73152" cy="14630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25907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7964" y="1828800"/>
            <a:ext cx="2590724" cy="14630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7964" y="1828800"/>
            <a:ext cx="73152" cy="14630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1" name="Text 9"/>
          <p:cNvSpPr/>
          <p:nvPr/>
        </p:nvSpPr>
        <p:spPr>
          <a:xfrm>
            <a:off x="3367964" y="1965960"/>
            <a:ext cx="25907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67964" y="278892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Source Files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1828800"/>
            <a:ext cx="2590724" cy="14630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3008" y="1828800"/>
            <a:ext cx="73152" cy="14630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1965960"/>
            <a:ext cx="25907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233008" y="278892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 Warnings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051" y="1828800"/>
            <a:ext cx="2590724" cy="1463040"/>
          </a:xfrm>
          <a:prstGeom prst="rect">
            <a:avLst/>
          </a:prstGeom>
          <a:solidFill>
            <a:srgbClr val="F4F9F9"/>
          </a:solidFill>
          <a:ln w="9525">
            <a:solidFill>
              <a:srgbClr val="D9E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A4B4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051" y="1828800"/>
            <a:ext cx="73152" cy="1463040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051" y="1965960"/>
            <a:ext cx="25907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9098051" y="278892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Assertions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46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STATISTICS  (tokei)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57600"/>
          <a:ext cx="11185855" cy="914400"/>
        </p:xfrm>
        <a:graphic>
          <a:graphicData uri="http://schemas.openxmlformats.org/drawingml/2006/table">
            <a:tbl>
              <a:tblPr/>
              <a:tblGrid>
                <a:gridCol w="2908322"/>
                <a:gridCol w="1566020"/>
                <a:gridCol w="2237171"/>
                <a:gridCol w="2237171"/>
                <a:gridCol w="2237171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B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B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B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B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B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7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547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27,771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9448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module design mirroring the original AGC software 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02920" cy="4114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2880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8288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mission_phase.rs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4178" y="18288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4178" y="18288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earth_moon.rs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42197" y="18288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42197" y="18288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P-code dispatcher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68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DSKY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66160" y="246888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46888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dsky.rs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4178" y="246888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4178" y="246888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verb/noun handler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42197" y="246888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2197" y="246888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status word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089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Programs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310896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10896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p20_rendezvous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4178" y="310896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4178" y="310896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p52_imu_align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42197" y="310896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2197" y="310896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p63_65_descent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4904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DAP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66160" y="374904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74904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guidance.rs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4178" y="374904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4178" y="374904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dap.rs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42197" y="374904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2197" y="374904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thruster_logic.rs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38912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389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566160" y="438912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38912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imu.rs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4178" y="438912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4178" y="438912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stellar.rs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42197" y="438912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42197" y="438912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coordinate_transforms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5029200"/>
            <a:ext cx="2926080" cy="566928"/>
          </a:xfrm>
          <a:prstGeom prst="rect">
            <a:avLst/>
          </a:prstGeom>
          <a:solidFill>
            <a:srgbClr val="0D6E71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0292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66160" y="50292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50292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scheduler.rs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4178" y="50292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4178" y="50292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memory_map.rs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42197" y="5029200"/>
            <a:ext cx="2646578" cy="566928"/>
          </a:xfrm>
          <a:prstGeom prst="rect">
            <a:avLst/>
          </a:prstGeom>
          <a:solidFill>
            <a:srgbClr val="F4F9F9"/>
          </a:solidFill>
          <a:ln w="6350">
            <a:solidFill>
              <a:srgbClr val="D9E3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42197" y="5029200"/>
            <a:ext cx="2646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fixed_point.rs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02920" y="5806440"/>
            <a:ext cx="11185855" cy="384048"/>
          </a:xfrm>
          <a:prstGeom prst="rect">
            <a:avLst/>
          </a:prstGeom>
          <a:solidFill>
            <a:srgbClr val="0A4B4D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580644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modules compile with no_std</a:t>
            </a:r>
            <a:pPr algn="ctr" indent="0" marL="0">
              <a:buNone/>
            </a:pPr>
            <a:r>
              <a:rPr lang="en-US" sz="1100" dirty="0">
                <a:solidFill>
                  <a:srgbClr val="14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test: 207 passing</a:t>
            </a:r>
            <a:pPr algn="ctr" indent="0" marL="0">
              <a:buNone/>
            </a:pPr>
            <a:r>
              <a:rPr lang="en-US" sz="1100" dirty="0">
                <a:solidFill>
                  <a:srgbClr val="14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clippy: 0 warnings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EBF2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4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·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8680" y="2148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AGC lives on — in idiomatic Rust.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4023360"/>
            <a:ext cx="1097280" cy="36576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3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github.com/chrislgarry/Apollo-11</a:t>
            </a:r>
            <a:pPr indent="0" marL="0">
              <a:buNone/>
            </a:pPr>
            <a:r>
              <a:rPr lang="en-US" sz="1200" dirty="0">
                <a:solidFill>
                  <a:srgbClr val="6A9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</a:t>
            </a:r>
            <a:pPr indent="0" marL="0">
              <a:buNone/>
            </a:pPr>
            <a:r>
              <a:rPr lang="en-US" sz="1200" dirty="0">
                <a:solidFill>
                  <a:srgbClr val="D3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Comanche055</a:t>
            </a:r>
            <a:pPr indent="0" marL="0">
              <a:buNone/>
            </a:pPr>
            <a:r>
              <a:rPr lang="en-US" sz="1200" dirty="0">
                <a:solidFill>
                  <a:srgbClr val="6A9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</a:t>
            </a:r>
            <a:pPr indent="0" marL="0">
              <a:buNone/>
            </a:pPr>
            <a:r>
              <a:rPr lang="en-US" sz="1200" dirty="0">
                <a:solidFill>
                  <a:srgbClr val="D3E7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554480"/>
            <a:ext cx="3931920" cy="3931920"/>
          </a:xfrm>
          <a:prstGeom prst="rect">
            <a:avLst/>
          </a:prstGeom>
          <a:solidFill>
            <a:srgbClr val="06323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554480"/>
            <a:ext cx="73152" cy="3931920"/>
          </a:xfrm>
          <a:prstGeom prst="rect">
            <a:avLst/>
          </a:prstGeom>
          <a:solidFill>
            <a:srgbClr val="D66853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1691640"/>
            <a:ext cx="21031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104120" y="1691640"/>
            <a:ext cx="1463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2537460"/>
            <a:ext cx="3291840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674620"/>
            <a:ext cx="21031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0104120" y="2674620"/>
            <a:ext cx="1463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3520440"/>
            <a:ext cx="3291840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657600"/>
            <a:ext cx="21031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12,263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0104120" y="3657600"/>
            <a:ext cx="1463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4503420"/>
            <a:ext cx="3291840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4640580"/>
            <a:ext cx="21031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0104120" y="4640580"/>
            <a:ext cx="1463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80015" y="256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≋</a:t>
            </a:r>
            <a:pPr algn="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SENACOR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6355080"/>
            <a:ext cx="11185855" cy="0"/>
          </a:xfrm>
          <a:prstGeom prst="line">
            <a:avLst/>
          </a:prstGeom>
          <a:noFill/>
          <a:ln w="9525">
            <a:solidFill>
              <a:srgbClr val="2A66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Senacor Technologies AG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31175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 |  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Assembler to Rust</dc:title>
  <dc:subject>PptxGenJS Presentation</dc:subject>
  <dc:creator>Vitaliy Schreibmann · Senacor Technologies</dc:creator>
  <cp:lastModifiedBy>Vitaliy Schreibmann · Senacor Technologies</cp:lastModifiedBy>
  <cp:revision>1</cp:revision>
  <dcterms:created xsi:type="dcterms:W3CDTF">2026-04-17T08:39:23Z</dcterms:created>
  <dcterms:modified xsi:type="dcterms:W3CDTF">2026-04-17T08:39:23Z</dcterms:modified>
</cp:coreProperties>
</file>