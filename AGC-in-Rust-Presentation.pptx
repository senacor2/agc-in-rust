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0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spc="200" kern="0" dirty="0">
                <a:solidFill>
                  <a:srgbClr val="EE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AGC in Rust</a:t>
            </a:r>
            <a:endParaRPr lang="en-US" sz="5600" dirty="0"/>
          </a:p>
        </p:txBody>
      </p:sp>
      <p:sp>
        <p:nvSpPr>
          <p:cNvPr id="4" name="Shape 2"/>
          <p:cNvSpPr/>
          <p:nvPr/>
        </p:nvSpPr>
        <p:spPr>
          <a:xfrm>
            <a:off x="411480" y="1965960"/>
            <a:ext cx="50292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14884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Re-engineering the Apollo Guidance Computer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Agents — from Assembly to Idiomatic Rust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Comanche055  ·  Command Module  ·  Earth–Moon–Earth Navigation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0" y="640080"/>
            <a:ext cx="64008" cy="64008"/>
          </a:xfrm>
          <a:prstGeom prst="ellipse">
            <a:avLst/>
          </a:prstGeom>
          <a:solidFill>
            <a:srgbClr val="E8A020">
              <a:alpha val="60000"/>
            </a:srgbClr>
          </a:solidFill>
          <a:ln w="12700">
            <a:solidFill>
              <a:srgbClr val="E8A020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21040" y="1097280"/>
            <a:ext cx="64008" cy="64008"/>
          </a:xfrm>
          <a:prstGeom prst="ellipse">
            <a:avLst/>
          </a:prstGeom>
          <a:solidFill>
            <a:srgbClr val="E8A020">
              <a:alpha val="60000"/>
            </a:srgbClr>
          </a:solidFill>
          <a:ln w="12700">
            <a:solidFill>
              <a:srgbClr val="E8A02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0" y="1828800"/>
            <a:ext cx="64008" cy="64008"/>
          </a:xfrm>
          <a:prstGeom prst="ellipse">
            <a:avLst/>
          </a:prstGeom>
          <a:solidFill>
            <a:srgbClr val="E8A020">
              <a:alpha val="60000"/>
            </a:srgbClr>
          </a:solidFill>
          <a:ln w="12700">
            <a:solidFill>
              <a:srgbClr val="E8A020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0" y="2560320"/>
            <a:ext cx="64008" cy="64008"/>
          </a:xfrm>
          <a:prstGeom prst="ellipse">
            <a:avLst/>
          </a:prstGeom>
          <a:solidFill>
            <a:srgbClr val="E8A020">
              <a:alpha val="60000"/>
            </a:srgbClr>
          </a:solidFill>
          <a:ln w="12700">
            <a:solidFill>
              <a:srgbClr val="E8A020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0" y="3200400"/>
            <a:ext cx="64008" cy="64008"/>
          </a:xfrm>
          <a:prstGeom prst="ellipse">
            <a:avLst/>
          </a:prstGeom>
          <a:solidFill>
            <a:srgbClr val="E8A020">
              <a:alpha val="60000"/>
            </a:srgbClr>
          </a:solidFill>
          <a:ln w="12700">
            <a:solidFill>
              <a:srgbClr val="E8A020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0" y="3840480"/>
            <a:ext cx="64008" cy="64008"/>
          </a:xfrm>
          <a:prstGeom prst="ellipse">
            <a:avLst/>
          </a:prstGeom>
          <a:solidFill>
            <a:srgbClr val="E8A020">
              <a:alpha val="60000"/>
            </a:srgbClr>
          </a:solidFill>
          <a:ln w="12700">
            <a:solidFill>
              <a:srgbClr val="E8A020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0" y="365760"/>
            <a:ext cx="64008" cy="64008"/>
          </a:xfrm>
          <a:prstGeom prst="ellipse">
            <a:avLst/>
          </a:prstGeom>
          <a:solidFill>
            <a:srgbClr val="E8A020">
              <a:alpha val="60000"/>
            </a:srgbClr>
          </a:solidFill>
          <a:ln w="12700">
            <a:solidFill>
              <a:srgbClr val="E8A020">
                <a:alpha val="6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APOLLO COMPUTER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Apollo Guidance Computer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36576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1417320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3619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6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KB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94360" y="21305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(Erasable Memory)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463040"/>
            <a:ext cx="54864" cy="1417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11880" y="153619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 KB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611880" y="21305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(Fixed Core Rope)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92240" y="1463040"/>
            <a:ext cx="20116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146304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53619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MHz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629400" y="21305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Speed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(1.024 MHz)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063240"/>
            <a:ext cx="4023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Block 2 AGC flew on every crewed Apollo mission. It guided astronauts from Earth orbit to lunar orbit and back — and landed men on the Moon.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software was written in AGC assembly language: terse 15-bit words with cryptic mnemonics. Readability was never the goal — survival was.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663440" y="3063240"/>
            <a:ext cx="4023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DSKY  —  Display &amp; Keyboard interface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IMU  —  Inertial Measurement Unit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Comanche055  —  Command Module software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 —  the real-time task scheduler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Interpretive  —  high-level math interpreter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4  ·  The Apollo Guidance Computer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SPACE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Ancient Code, Modern Goals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36576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63040"/>
            <a:ext cx="39319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AGC source (Comanche055) is publicly available — 65,000+ lines of assembly digitized from punched cards.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raw assembly is nearly unreadable today. Variable names are 8 characters. Comments are sparse. The original high-level design intent has been lost.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goal: re-create that intent in idiomatic, maintainable Rust.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417320"/>
            <a:ext cx="4023360" cy="2286000"/>
          </a:xfrm>
          <a:prstGeom prst="rect">
            <a:avLst/>
          </a:prstGeom>
          <a:solidFill>
            <a:srgbClr val="111B2E"/>
          </a:solidFill>
          <a:ln w="12700">
            <a:solidFill>
              <a:srgbClr val="1E30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AGC Assembly (actual)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0" y="1801368"/>
            <a:ext cx="37490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PBODY    TC   INTPRET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VLOAD  PUSH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RATT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VXM    PUSH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REFSMMAT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UNIT   PUSH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840480"/>
            <a:ext cx="2651760" cy="47548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8404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comments on intent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37560" y="3840480"/>
            <a:ext cx="2651760" cy="475488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38404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15-bit word constraints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17920" y="3840480"/>
            <a:ext cx="2651760" cy="47548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384048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Implicit real-time logic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4  ·  Problem Space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SPACE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Abstraction Gap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36576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463040"/>
            <a:ext cx="7772400" cy="685800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17904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Mission-Level Intent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Earth → Moon → Earth safely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43000" y="2240280"/>
            <a:ext cx="685800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29514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Logic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25877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filters · attitude reference · burn calculations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00200" y="3017520"/>
            <a:ext cx="5943600" cy="6858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3072384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AGC Assembly (what we have)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33649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PBODY / REFSMMAT / VLOAD / VXM … no abstractions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43000" y="3794760"/>
            <a:ext cx="6858000" cy="6583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84962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Target: Idiomatic Rust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80160" y="414223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· readable · testable · real-time safe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86000" y="283464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lost when compiled to assembly →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365760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AI agents re-derive this  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4  ·  Problem Space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SPACE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Real-Time Constraints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36576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" cy="14173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6002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Operating System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8424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IS the scheduler. Tasks run cooperatively with exact priority and timing. The Executive must be re-created in Rust.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50876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508760"/>
            <a:ext cx="54864" cy="1417320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0020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 Memory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92040" y="198424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 RAM, 36 KB ROM. Every byte counts. The Rust implementation must respect footprint limits and avoid heap allocations.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06324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063240"/>
            <a:ext cx="54864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54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Return Safe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53872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any error or overflow, the computer must return to a known safe state. Robust recovery is not optional — it is the entire design philosophy.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063240"/>
            <a:ext cx="3840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3063240"/>
            <a:ext cx="54864" cy="14173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315468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Timing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3538728"/>
            <a:ext cx="3566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Thruster and engine outputs must fire within microseconds of schedule. No garbage collector, no unpredictable latency is acceptable.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4  ·  Problem Space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Agent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81328"/>
            <a:ext cx="1874520" cy="3108960"/>
          </a:xfrm>
          <a:prstGeom prst="rect">
            <a:avLst/>
          </a:prstGeom>
          <a:solidFill>
            <a:srgbClr val="16213E"/>
          </a:solidFill>
          <a:ln w="12700">
            <a:solidFill>
              <a:srgbClr val="1E6B9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81328"/>
            <a:ext cx="1874520" cy="182880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642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6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560320"/>
            <a:ext cx="1371600" cy="228600"/>
          </a:xfrm>
          <a:prstGeom prst="rect">
            <a:avLst/>
          </a:prstGeom>
          <a:solidFill>
            <a:srgbClr val="1E6B9B">
              <a:alpha val="30000"/>
            </a:srgbClr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6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Re-engineer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AGC assembly + reference docs. Produces functional specs per component — recovering original intent.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377440" y="2560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542032" y="1481328"/>
            <a:ext cx="1874520" cy="3108960"/>
          </a:xfrm>
          <a:prstGeom prst="rect">
            <a:avLst/>
          </a:prstGeom>
          <a:solidFill>
            <a:srgbClr val="16213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42032" y="1481328"/>
            <a:ext cx="187452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33472" y="16642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633472" y="21762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633472" y="2560320"/>
            <a:ext cx="1371600" cy="228600"/>
          </a:xfrm>
          <a:prstGeom prst="rect">
            <a:avLst/>
          </a:prstGeom>
          <a:solidFill>
            <a:srgbClr val="0D9488">
              <a:alpha val="3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33472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33472" y="28803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idiomatic Rust architecture from the functional specs. Defines modules, traits, data structures.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62272" y="2560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626864" y="1481328"/>
            <a:ext cx="1874520" cy="3108960"/>
          </a:xfrm>
          <a:prstGeom prst="rect">
            <a:avLst/>
          </a:prstGeom>
          <a:solidFill>
            <a:srgbClr val="16213E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26864" y="1481328"/>
            <a:ext cx="1874520" cy="1828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18304" y="16642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718304" y="21762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718304" y="2560320"/>
            <a:ext cx="1371600" cy="228600"/>
          </a:xfrm>
          <a:prstGeom prst="rect">
            <a:avLst/>
          </a:prstGeom>
          <a:solidFill>
            <a:srgbClr val="E8A020">
              <a:alpha val="30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18304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718304" y="28803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Rust code following the architect's blueprint and analyst's specs. Produces idiomatic, safe code.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47104" y="256032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A020"/>
                </a:solidFill>
              </a:rPr>
              <a:t>→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711696" y="1481328"/>
            <a:ext cx="1874520" cy="3108960"/>
          </a:xfrm>
          <a:prstGeom prst="rect">
            <a:avLst/>
          </a:prstGeom>
          <a:solidFill>
            <a:srgbClr val="16213E"/>
          </a:solidFill>
          <a:ln w="12700">
            <a:solidFill>
              <a:srgbClr val="C039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711696" y="1481328"/>
            <a:ext cx="1874520" cy="1828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03136" y="16642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803136" y="217627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E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Tester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03136" y="2560320"/>
            <a:ext cx="1371600" cy="228600"/>
          </a:xfrm>
          <a:prstGeom prst="rect">
            <a:avLst/>
          </a:prstGeom>
          <a:solidFill>
            <a:srgbClr val="C0392B">
              <a:alpha val="3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03136" y="2560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03136" y="2880360"/>
            <a:ext cx="1691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unit tests (public interface) and system-level tests. Validates correctness and timing behavior.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B18"/>
          </a:solidFill>
          <a:ln w="12700">
            <a:solidFill>
              <a:srgbClr val="0A0B1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4  ·  AI Transformation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Analyst → Architect: From Assembly to Blueprint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36576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3291840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36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 · Analyst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AGC symbolic listing and GitHub source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hardware spec docs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component boundaries (Executive, DSKY, IMU, etc.)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a functional spec per component: inputs, outputs, timing, invariants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design intent lost in assembly translation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63040"/>
            <a:ext cx="54864" cy="3291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36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 · Architect 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functional specs from the Analyst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idiomatic Rust module structure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traits, types, and data ownership model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real-time scheduling with no_std + no heap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the architectural decisions for Developer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4  ·  AI Transformation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Developer → Tester: From Blueprint to Verified Code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36576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63040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32918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361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 · Developer Agent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4747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architect's blueprint + analyst's spec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idiomatic Rust: safe, typed, documented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no_std bare-metal constraints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fixed-point arithmetic (no floating point in AGC)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clippy-clean, well-commented code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463040"/>
            <a:ext cx="54864" cy="3291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53619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 · Tester 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6576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against the public interface only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tests: component-level correctness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tests: end-to-end navigation scenarios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timing invariants and error recovery paths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safe-state fallback behavior on all errors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4  ·  AI Transformation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AI Is the Right Tool for This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822960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1E6B9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128016" cy="960120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6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 Recognition at Scale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3232" y="18928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65,000+ lines of cryptic assembly. AI can find recurring patterns — scheduling idioms, math subroutines, I/O patterns — that a human would take months to map.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24328"/>
            <a:ext cx="822960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624328"/>
            <a:ext cx="128016" cy="9601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688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Across Documents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" y="300837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AGC spec, assembly listing, hardware manual, and GitHub source must all be synthesised simultaneously. AI agents hold and cross-reference all of it in context.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739896"/>
            <a:ext cx="8229600" cy="960120"/>
          </a:xfrm>
          <a:prstGeom prst="rect">
            <a:avLst/>
          </a:prstGeom>
          <a:solidFill>
            <a:srgbClr val="16213E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739896"/>
            <a:ext cx="128016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0390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Generation + Consistency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412394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architecture is designed, AI can generate Rust code that consistently follows the agreed structure — no drift, no shortcuts, no forgotten constraints.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B18"/>
          </a:solidFill>
          <a:ln w="12700">
            <a:solidFill>
              <a:srgbClr val="0A0B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4  ·  AI Transformation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We've Built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229600" cy="36576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44752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44752"/>
            <a:ext cx="54864" cy="731520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087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Specifications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810512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AGC component documented with inputs, outputs, timing, and constraints - specs that never existed before.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86000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500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Rust Architecture Blueprint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651760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hierarchy, trait definitions, real-time scheduling design, and memory model for the Comanche055 port.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27248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27248"/>
            <a:ext cx="54864" cy="731520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912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Workflow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3493008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4-agent pipeline (analyst, architect, developer, tester) applicable to any legacy codebase.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968496"/>
            <a:ext cx="5029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68496"/>
            <a:ext cx="54864" cy="7315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325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Recovered Design Intent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4334256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mission-level and algorithmic intent lost when the AGC was compiled - now expressed in readable Rust.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1444752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760720" y="1444752"/>
            <a:ext cx="54864" cy="914400"/>
          </a:xfrm>
          <a:prstGeom prst="rect">
            <a:avLst/>
          </a:prstGeom>
          <a:solidFill>
            <a:srgbClr val="1E6B9B"/>
          </a:solidFill>
          <a:ln w="12700">
            <a:solidFill>
              <a:srgbClr val="1E6B9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0" y="14904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6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65K+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943600" y="20116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AGC assembly analyzed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2505456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760720" y="2505456"/>
            <a:ext cx="54864" cy="9144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25511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5943600" y="30723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AI agent roles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60720" y="3566160"/>
            <a:ext cx="29260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760720" y="3566160"/>
            <a:ext cx="54864" cy="9144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3611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943600" y="413308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allocations (no_std Rust)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E4ECF7"/>
          </a:solidFill>
          <a:ln w="12700">
            <a:solidFill>
              <a:srgbClr val="E4EC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8188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4  ·  Results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0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NEXT STEPS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11480" y="56692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E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Road Ahead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8229600" cy="36576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4475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0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Immediate Next Steps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40233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Analyst pass for all Comanche055 components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delivers full Rust module hierarchy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begins implementing the Executive scheduler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defines timing invariant test harness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review and refinement with each agent pass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3931920" cy="3200400"/>
          </a:xfrm>
          <a:prstGeom prst="rect">
            <a:avLst/>
          </a:prstGeom>
          <a:solidFill>
            <a:srgbClr val="16213E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92040" y="17373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EF0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goal is not to simulate the AGC - it is to understand it deeply enough to express it in the best language of our time."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892040" y="40965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Project Vision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Comanche055  ·  AGC-in-Rust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AGC in Rust: Re-engineering the Apollo Guidance Computer with AI</dc:title>
  <dc:subject>PptxGenJS Presentation</dc:subject>
  <dc:creator>Vitaliy Schreibmann</dc:creator>
  <cp:lastModifiedBy>Vitaliy Schreibmann</cp:lastModifiedBy>
  <cp:revision>1</cp:revision>
  <dcterms:created xsi:type="dcterms:W3CDTF">2026-04-10T11:59:05Z</dcterms:created>
  <dcterms:modified xsi:type="dcterms:W3CDTF">2026-04-10T11:59:05Z</dcterms:modified>
</cp:coreProperties>
</file>