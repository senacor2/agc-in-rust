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3418027"/>
            <a:ext cx="11091672" cy="22860"/>
          </a:xfrm>
          <a:prstGeom prst="rect">
            <a:avLst/>
          </a:prstGeom>
          <a:solidFill>
            <a:srgbClr val="00A9A3"/>
          </a:solidFill>
          <a:ln w="12700">
            <a:solidFill>
              <a:srgbClr val="00A9A3"/>
            </a:solidFill>
            <a:prstDash val="solid"/>
          </a:ln>
        </p:spPr>
      </p:sp>
      <p:sp>
        <p:nvSpPr>
          <p:cNvPr id="3" name="Text 1"/>
          <p:cNvSpPr/>
          <p:nvPr/>
        </p:nvSpPr>
        <p:spPr>
          <a:xfrm>
            <a:off x="548640" y="1737360"/>
            <a:ext cx="11091672" cy="914400"/>
          </a:xfrm>
          <a:prstGeom prst="rect">
            <a:avLst/>
          </a:prstGeom>
          <a:noFill/>
          <a:ln/>
        </p:spPr>
        <p:txBody>
          <a:bodyPr wrap="square" rtlCol="0" anchor="b"/>
          <a:lstStyle/>
          <a:p>
            <a:pPr algn="ctr" indent="0" marL="0">
              <a:buNone/>
            </a:pPr>
            <a:r>
              <a:rPr lang="en-US" sz="4200" b="1" dirty="0">
                <a:solidFill>
                  <a:srgbClr val="005C58"/>
                </a:solidFill>
                <a:latin typeface="Calibri" pitchFamily="34" charset="0"/>
                <a:ea typeface="Calibri" pitchFamily="34" charset="-122"/>
                <a:cs typeface="Calibri" pitchFamily="34" charset="-120"/>
              </a:rPr>
              <a:t>From Assembler to Rust</a:t>
            </a:r>
            <a:endParaRPr lang="en-US" sz="4200" dirty="0"/>
          </a:p>
        </p:txBody>
      </p:sp>
      <p:sp>
        <p:nvSpPr>
          <p:cNvPr id="4" name="Text 2"/>
          <p:cNvSpPr/>
          <p:nvPr/>
        </p:nvSpPr>
        <p:spPr>
          <a:xfrm>
            <a:off x="548640" y="2834640"/>
            <a:ext cx="11091672" cy="502920"/>
          </a:xfrm>
          <a:prstGeom prst="rect">
            <a:avLst/>
          </a:prstGeom>
          <a:noFill/>
          <a:ln/>
        </p:spPr>
        <p:txBody>
          <a:bodyPr wrap="square" rtlCol="0" anchor="t"/>
          <a:lstStyle/>
          <a:p>
            <a:pPr algn="ctr" indent="0" marL="0">
              <a:buNone/>
            </a:pPr>
            <a:r>
              <a:rPr lang="en-US" sz="2000" dirty="0">
                <a:solidFill>
                  <a:srgbClr val="00A9A3"/>
                </a:solidFill>
                <a:latin typeface="Calibri" pitchFamily="34" charset="0"/>
                <a:ea typeface="Calibri" pitchFamily="34" charset="-122"/>
                <a:cs typeface="Calibri" pitchFamily="34" charset="-120"/>
              </a:rPr>
              <a:t>Reimagining the Apollo Guidance Computer with AI</a:t>
            </a:r>
            <a:endParaRPr lang="en-US" sz="2000" dirty="0"/>
          </a:p>
        </p:txBody>
      </p:sp>
      <p:sp>
        <p:nvSpPr>
          <p:cNvPr id="5" name="Text 3"/>
          <p:cNvSpPr/>
          <p:nvPr/>
        </p:nvSpPr>
        <p:spPr>
          <a:xfrm>
            <a:off x="548640" y="3474720"/>
            <a:ext cx="11091672" cy="274320"/>
          </a:xfrm>
          <a:prstGeom prst="rect">
            <a:avLst/>
          </a:prstGeom>
          <a:noFill/>
          <a:ln/>
        </p:spPr>
        <p:txBody>
          <a:bodyPr wrap="square"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Vitaliy Schreibmann  ·  Senacor Technologies  ·  April 2026</a:t>
            </a:r>
            <a:endParaRPr lang="en-US" sz="1200" dirty="0"/>
          </a:p>
        </p:txBody>
      </p:sp>
      <p:sp>
        <p:nvSpPr>
          <p:cNvPr id="6" name="Text 4"/>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7" name="Shape 5"/>
          <p:cNvSpPr/>
          <p:nvPr/>
        </p:nvSpPr>
        <p:spPr>
          <a:xfrm>
            <a:off x="0" y="6656832"/>
            <a:ext cx="12188952" cy="201168"/>
          </a:xfrm>
          <a:prstGeom prst="rect">
            <a:avLst/>
          </a:prstGeom>
          <a:solidFill>
            <a:srgbClr val="005C58"/>
          </a:solidFill>
          <a:ln w="12700">
            <a:solidFill>
              <a:srgbClr val="005C58"/>
            </a:solidFill>
            <a:prstDash val="solid"/>
          </a:ln>
        </p:spPr>
      </p:sp>
      <p:sp>
        <p:nvSpPr>
          <p:cNvPr id="8" name="Text 6"/>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9" name="Text 7"/>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3657600"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Agenda</a:t>
            </a:r>
            <a:endParaRPr lang="en-US" sz="2200" dirty="0"/>
          </a:p>
        </p:txBody>
      </p:sp>
      <p:sp>
        <p:nvSpPr>
          <p:cNvPr id="4" name="Shape 2"/>
          <p:cNvSpPr/>
          <p:nvPr/>
        </p:nvSpPr>
        <p:spPr>
          <a:xfrm>
            <a:off x="502920" y="804672"/>
            <a:ext cx="11457432" cy="22860"/>
          </a:xfrm>
          <a:prstGeom prst="rect">
            <a:avLst/>
          </a:prstGeom>
          <a:solidFill>
            <a:srgbClr val="00A9A3"/>
          </a:solidFill>
          <a:ln w="12700">
            <a:solidFill>
              <a:srgbClr val="00A9A3"/>
            </a:solidFill>
            <a:prstDash val="solid"/>
          </a:ln>
        </p:spPr>
      </p:sp>
      <p:sp>
        <p:nvSpPr>
          <p:cNvPr id="5" name="Shape 3"/>
          <p:cNvSpPr/>
          <p:nvPr/>
        </p:nvSpPr>
        <p:spPr>
          <a:xfrm>
            <a:off x="502920" y="1051560"/>
            <a:ext cx="640080" cy="640080"/>
          </a:xfrm>
          <a:prstGeom prst="ellipse">
            <a:avLst/>
          </a:prstGeom>
          <a:solidFill>
            <a:srgbClr val="1E6B9B"/>
          </a:solidFill>
          <a:ln w="12700">
            <a:solidFill>
              <a:srgbClr val="1E6B9B"/>
            </a:solidFill>
            <a:prstDash val="solid"/>
          </a:ln>
        </p:spPr>
      </p:sp>
      <p:sp>
        <p:nvSpPr>
          <p:cNvPr id="6" name="Text 4"/>
          <p:cNvSpPr/>
          <p:nvPr/>
        </p:nvSpPr>
        <p:spPr>
          <a:xfrm>
            <a:off x="502920" y="1051560"/>
            <a:ext cx="64008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298448" y="1005840"/>
            <a:ext cx="10543032" cy="365760"/>
          </a:xfrm>
          <a:prstGeom prst="rect">
            <a:avLst/>
          </a:prstGeom>
          <a:noFill/>
          <a:ln/>
        </p:spPr>
        <p:txBody>
          <a:bodyPr wrap="square" rtlCol="0" anchor="ctr"/>
          <a:lstStyle/>
          <a:p>
            <a:pPr indent="0" marL="0">
              <a:buNone/>
            </a:pPr>
            <a:r>
              <a:rPr lang="en-US" sz="1400" b="1" dirty="0">
                <a:solidFill>
                  <a:srgbClr val="1C1C1C"/>
                </a:solidFill>
                <a:latin typeface="Calibri" pitchFamily="34" charset="0"/>
                <a:ea typeface="Calibri" pitchFamily="34" charset="-122"/>
                <a:cs typeface="Calibri" pitchFamily="34" charset="-120"/>
              </a:rPr>
              <a:t>The Apollo Guidance Computer</a:t>
            </a:r>
            <a:endParaRPr lang="en-US" sz="1400" dirty="0"/>
          </a:p>
        </p:txBody>
      </p:sp>
      <p:sp>
        <p:nvSpPr>
          <p:cNvPr id="8" name="Text 6"/>
          <p:cNvSpPr/>
          <p:nvPr/>
        </p:nvSpPr>
        <p:spPr>
          <a:xfrm>
            <a:off x="1298448" y="1399032"/>
            <a:ext cx="10543032"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Hardware constraints, real-time architecture, and the original Comanche055 software</a:t>
            </a:r>
            <a:endParaRPr lang="en-US" sz="1000" dirty="0"/>
          </a:p>
        </p:txBody>
      </p:sp>
      <p:sp>
        <p:nvSpPr>
          <p:cNvPr id="9" name="Shape 7"/>
          <p:cNvSpPr/>
          <p:nvPr/>
        </p:nvSpPr>
        <p:spPr>
          <a:xfrm>
            <a:off x="1298448" y="2313432"/>
            <a:ext cx="10543032" cy="10973"/>
          </a:xfrm>
          <a:prstGeom prst="rect">
            <a:avLst/>
          </a:prstGeom>
          <a:solidFill>
            <a:srgbClr val="D1D5DB"/>
          </a:solidFill>
          <a:ln w="12700">
            <a:solidFill>
              <a:srgbClr val="D1D5DB"/>
            </a:solidFill>
            <a:prstDash val="solid"/>
          </a:ln>
        </p:spPr>
      </p:sp>
      <p:sp>
        <p:nvSpPr>
          <p:cNvPr id="10" name="Shape 8"/>
          <p:cNvSpPr/>
          <p:nvPr/>
        </p:nvSpPr>
        <p:spPr>
          <a:xfrm>
            <a:off x="502920" y="2441448"/>
            <a:ext cx="640080" cy="640080"/>
          </a:xfrm>
          <a:prstGeom prst="ellipse">
            <a:avLst/>
          </a:prstGeom>
          <a:solidFill>
            <a:srgbClr val="0D9488"/>
          </a:solidFill>
          <a:ln w="12700">
            <a:solidFill>
              <a:srgbClr val="0D9488"/>
            </a:solidFill>
            <a:prstDash val="solid"/>
          </a:ln>
        </p:spPr>
      </p:sp>
      <p:sp>
        <p:nvSpPr>
          <p:cNvPr id="11" name="Text 9"/>
          <p:cNvSpPr/>
          <p:nvPr/>
        </p:nvSpPr>
        <p:spPr>
          <a:xfrm>
            <a:off x="502920" y="2441448"/>
            <a:ext cx="64008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1298448" y="2395728"/>
            <a:ext cx="10543032" cy="365760"/>
          </a:xfrm>
          <a:prstGeom prst="rect">
            <a:avLst/>
          </a:prstGeom>
          <a:noFill/>
          <a:ln/>
        </p:spPr>
        <p:txBody>
          <a:bodyPr wrap="square" rtlCol="0" anchor="ctr"/>
          <a:lstStyle/>
          <a:p>
            <a:pPr indent="0" marL="0">
              <a:buNone/>
            </a:pPr>
            <a:r>
              <a:rPr lang="en-US" sz="1400" b="1" dirty="0">
                <a:solidFill>
                  <a:srgbClr val="1C1C1C"/>
                </a:solidFill>
                <a:latin typeface="Calibri" pitchFamily="34" charset="0"/>
                <a:ea typeface="Calibri" pitchFamily="34" charset="-122"/>
                <a:cs typeface="Calibri" pitchFamily="34" charset="-120"/>
              </a:rPr>
              <a:t>The Problem Space</a:t>
            </a:r>
            <a:endParaRPr lang="en-US" sz="1400" dirty="0"/>
          </a:p>
        </p:txBody>
      </p:sp>
      <p:sp>
        <p:nvSpPr>
          <p:cNvPr id="13" name="Text 11"/>
          <p:cNvSpPr/>
          <p:nvPr/>
        </p:nvSpPr>
        <p:spPr>
          <a:xfrm>
            <a:off x="1298448" y="2788920"/>
            <a:ext cx="10543032"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Lost abstractions, 1960s assembly code, and why Rust is the right choice</a:t>
            </a:r>
            <a:endParaRPr lang="en-US" sz="1000" dirty="0"/>
          </a:p>
        </p:txBody>
      </p:sp>
      <p:sp>
        <p:nvSpPr>
          <p:cNvPr id="14" name="Shape 12"/>
          <p:cNvSpPr/>
          <p:nvPr/>
        </p:nvSpPr>
        <p:spPr>
          <a:xfrm>
            <a:off x="1298448" y="3703320"/>
            <a:ext cx="10543032" cy="10973"/>
          </a:xfrm>
          <a:prstGeom prst="rect">
            <a:avLst/>
          </a:prstGeom>
          <a:solidFill>
            <a:srgbClr val="D1D5DB"/>
          </a:solidFill>
          <a:ln w="12700">
            <a:solidFill>
              <a:srgbClr val="D1D5DB"/>
            </a:solidFill>
            <a:prstDash val="solid"/>
          </a:ln>
        </p:spPr>
      </p:sp>
      <p:sp>
        <p:nvSpPr>
          <p:cNvPr id="15" name="Shape 13"/>
          <p:cNvSpPr/>
          <p:nvPr/>
        </p:nvSpPr>
        <p:spPr>
          <a:xfrm>
            <a:off x="502920" y="3831336"/>
            <a:ext cx="640080" cy="640080"/>
          </a:xfrm>
          <a:prstGeom prst="ellipse">
            <a:avLst/>
          </a:prstGeom>
          <a:solidFill>
            <a:srgbClr val="7B2FBE"/>
          </a:solidFill>
          <a:ln w="12700">
            <a:solidFill>
              <a:srgbClr val="7B2FBE"/>
            </a:solidFill>
            <a:prstDash val="solid"/>
          </a:ln>
        </p:spPr>
      </p:sp>
      <p:sp>
        <p:nvSpPr>
          <p:cNvPr id="16" name="Text 14"/>
          <p:cNvSpPr/>
          <p:nvPr/>
        </p:nvSpPr>
        <p:spPr>
          <a:xfrm>
            <a:off x="502920" y="3831336"/>
            <a:ext cx="64008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1298448" y="3785616"/>
            <a:ext cx="10543032" cy="365760"/>
          </a:xfrm>
          <a:prstGeom prst="rect">
            <a:avLst/>
          </a:prstGeom>
          <a:noFill/>
          <a:ln/>
        </p:spPr>
        <p:txBody>
          <a:bodyPr wrap="square" rtlCol="0" anchor="ctr"/>
          <a:lstStyle/>
          <a:p>
            <a:pPr indent="0" marL="0">
              <a:buNone/>
            </a:pPr>
            <a:r>
              <a:rPr lang="en-US" sz="1400" b="1" dirty="0">
                <a:solidFill>
                  <a:srgbClr val="1C1C1C"/>
                </a:solidFill>
                <a:latin typeface="Calibri" pitchFamily="34" charset="0"/>
                <a:ea typeface="Calibri" pitchFamily="34" charset="-122"/>
                <a:cs typeface="Calibri" pitchFamily="34" charset="-120"/>
              </a:rPr>
              <a:t>AI-Powered Transformation</a:t>
            </a:r>
            <a:endParaRPr lang="en-US" sz="1400" dirty="0"/>
          </a:p>
        </p:txBody>
      </p:sp>
      <p:sp>
        <p:nvSpPr>
          <p:cNvPr id="18" name="Text 16"/>
          <p:cNvSpPr/>
          <p:nvPr/>
        </p:nvSpPr>
        <p:spPr>
          <a:xfrm>
            <a:off x="1298448" y="4178808"/>
            <a:ext cx="10543032"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Multi-agent pipeline: analyst → architect → developer → code-review → tester → debugger</a:t>
            </a:r>
            <a:endParaRPr lang="en-US" sz="1000" dirty="0"/>
          </a:p>
        </p:txBody>
      </p:sp>
      <p:sp>
        <p:nvSpPr>
          <p:cNvPr id="19" name="Shape 17"/>
          <p:cNvSpPr/>
          <p:nvPr/>
        </p:nvSpPr>
        <p:spPr>
          <a:xfrm>
            <a:off x="1298448" y="5093208"/>
            <a:ext cx="10543032" cy="10973"/>
          </a:xfrm>
          <a:prstGeom prst="rect">
            <a:avLst/>
          </a:prstGeom>
          <a:solidFill>
            <a:srgbClr val="D1D5DB"/>
          </a:solidFill>
          <a:ln w="12700">
            <a:solidFill>
              <a:srgbClr val="D1D5DB"/>
            </a:solidFill>
            <a:prstDash val="solid"/>
          </a:ln>
        </p:spPr>
      </p:sp>
      <p:sp>
        <p:nvSpPr>
          <p:cNvPr id="20" name="Shape 18"/>
          <p:cNvSpPr/>
          <p:nvPr/>
        </p:nvSpPr>
        <p:spPr>
          <a:xfrm>
            <a:off x="502920" y="5221224"/>
            <a:ext cx="640080" cy="640080"/>
          </a:xfrm>
          <a:prstGeom prst="ellipse">
            <a:avLst/>
          </a:prstGeom>
          <a:solidFill>
            <a:srgbClr val="D4920A"/>
          </a:solidFill>
          <a:ln w="12700">
            <a:solidFill>
              <a:srgbClr val="D4920A"/>
            </a:solidFill>
            <a:prstDash val="solid"/>
          </a:ln>
        </p:spPr>
      </p:sp>
      <p:sp>
        <p:nvSpPr>
          <p:cNvPr id="21" name="Text 19"/>
          <p:cNvSpPr/>
          <p:nvPr/>
        </p:nvSpPr>
        <p:spPr>
          <a:xfrm>
            <a:off x="502920" y="5221224"/>
            <a:ext cx="64008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2" name="Text 20"/>
          <p:cNvSpPr/>
          <p:nvPr/>
        </p:nvSpPr>
        <p:spPr>
          <a:xfrm>
            <a:off x="1298448" y="5175504"/>
            <a:ext cx="10543032" cy="365760"/>
          </a:xfrm>
          <a:prstGeom prst="rect">
            <a:avLst/>
          </a:prstGeom>
          <a:noFill/>
          <a:ln/>
        </p:spPr>
        <p:txBody>
          <a:bodyPr wrap="square" rtlCol="0" anchor="ctr"/>
          <a:lstStyle/>
          <a:p>
            <a:pPr indent="0" marL="0">
              <a:buNone/>
            </a:pPr>
            <a:r>
              <a:rPr lang="en-US" sz="1400" b="1" dirty="0">
                <a:solidFill>
                  <a:srgbClr val="1C1C1C"/>
                </a:solidFill>
                <a:latin typeface="Calibri" pitchFamily="34" charset="0"/>
                <a:ea typeface="Calibri" pitchFamily="34" charset="-122"/>
                <a:cs typeface="Calibri" pitchFamily="34" charset="-120"/>
              </a:rPr>
              <a:t>Results</a:t>
            </a:r>
            <a:endParaRPr lang="en-US" sz="1400" dirty="0"/>
          </a:p>
        </p:txBody>
      </p:sp>
      <p:sp>
        <p:nvSpPr>
          <p:cNvPr id="23" name="Text 21"/>
          <p:cNvSpPr/>
          <p:nvPr/>
        </p:nvSpPr>
        <p:spPr>
          <a:xfrm>
            <a:off x="1298448" y="5568696"/>
            <a:ext cx="10543032"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5 milestones complete — 207 tests passing — 12,000+ lines of idiomatic Rust</a:t>
            </a:r>
            <a:endParaRPr lang="en-US" sz="1000" dirty="0"/>
          </a:p>
        </p:txBody>
      </p:sp>
      <p:sp>
        <p:nvSpPr>
          <p:cNvPr id="24" name="Shape 22"/>
          <p:cNvSpPr/>
          <p:nvPr/>
        </p:nvSpPr>
        <p:spPr>
          <a:xfrm>
            <a:off x="0" y="6656832"/>
            <a:ext cx="12188952" cy="201168"/>
          </a:xfrm>
          <a:prstGeom prst="rect">
            <a:avLst/>
          </a:prstGeom>
          <a:solidFill>
            <a:srgbClr val="005C58"/>
          </a:solidFill>
          <a:ln w="12700">
            <a:solidFill>
              <a:srgbClr val="005C58"/>
            </a:solidFill>
            <a:prstDash val="solid"/>
          </a:ln>
        </p:spPr>
      </p:sp>
      <p:sp>
        <p:nvSpPr>
          <p:cNvPr id="25" name="Text 23"/>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26" name="Text 24"/>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sp>
      <p:sp>
        <p:nvSpPr>
          <p:cNvPr id="4" name="Text 2"/>
          <p:cNvSpPr/>
          <p:nvPr/>
        </p:nvSpPr>
        <p:spPr>
          <a:xfrm>
            <a:off x="8044708" y="0"/>
            <a:ext cx="4144244" cy="6858000"/>
          </a:xfrm>
          <a:prstGeom prst="rect">
            <a:avLst/>
          </a:prstGeom>
          <a:noFill/>
          <a:ln/>
        </p:spPr>
        <p:txBody>
          <a:bodyPr wrap="square" rtlCol="0" anchor="ctr"/>
          <a:lstStyle/>
          <a:p>
            <a:pPr algn="ctr" indent="0" marL="0">
              <a:buNone/>
            </a:pPr>
            <a:r>
              <a:rPr lang="en-US" sz="16000" b="1" dirty="0">
                <a:solidFill>
                  <a:srgbClr val="005C58"/>
                </a:solidFill>
                <a:latin typeface="Calibri" pitchFamily="34" charset="0"/>
                <a:ea typeface="Calibri" pitchFamily="34" charset="-122"/>
                <a:cs typeface="Calibri" pitchFamily="34" charset="-120"/>
              </a:rPr>
              <a:t>01</a:t>
            </a:r>
            <a:endParaRPr lang="en-US" sz="16000" dirty="0"/>
          </a:p>
        </p:txBody>
      </p:sp>
      <p:sp>
        <p:nvSpPr>
          <p:cNvPr id="5" name="Shape 3"/>
          <p:cNvSpPr/>
          <p:nvPr/>
        </p:nvSpPr>
        <p:spPr>
          <a:xfrm>
            <a:off x="777240" y="2926080"/>
            <a:ext cx="868680" cy="868680"/>
          </a:xfrm>
          <a:prstGeom prst="ellipse">
            <a:avLst/>
          </a:prstGeom>
          <a:solidFill>
            <a:srgbClr val="00A9A3"/>
          </a:solidFill>
          <a:ln w="12700">
            <a:solidFill>
              <a:srgbClr val="00A9A3"/>
            </a:solidFill>
            <a:prstDash val="solid"/>
          </a:ln>
        </p:spPr>
      </p:sp>
      <p:sp>
        <p:nvSpPr>
          <p:cNvPr id="6" name="Text 4"/>
          <p:cNvSpPr/>
          <p:nvPr/>
        </p:nvSpPr>
        <p:spPr>
          <a:xfrm>
            <a:off x="777240" y="2926080"/>
            <a:ext cx="868680" cy="8686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1920240" y="2743200"/>
            <a:ext cx="7313371" cy="749808"/>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The Apollo Guidance Computer</a:t>
            </a:r>
            <a:endParaRPr lang="en-US" sz="3400" dirty="0"/>
          </a:p>
        </p:txBody>
      </p:sp>
      <p:sp>
        <p:nvSpPr>
          <p:cNvPr id="8" name="Text 6"/>
          <p:cNvSpPr/>
          <p:nvPr/>
        </p:nvSpPr>
        <p:spPr>
          <a:xfrm>
            <a:off x="1920240" y="3566160"/>
            <a:ext cx="7313371" cy="411480"/>
          </a:xfrm>
          <a:prstGeom prst="rect">
            <a:avLst/>
          </a:prstGeom>
          <a:noFill/>
          <a:ln/>
        </p:spPr>
        <p:txBody>
          <a:bodyPr wrap="square" rtlCol="0" anchor="ctr"/>
          <a:lstStyle/>
          <a:p>
            <a:pPr indent="0" marL="0">
              <a:buNone/>
            </a:pPr>
            <a:r>
              <a:rPr lang="en-US" sz="1350" dirty="0">
                <a:solidFill>
                  <a:srgbClr val="00A9A3"/>
                </a:solidFill>
                <a:latin typeface="Calibri" pitchFamily="34" charset="0"/>
                <a:ea typeface="Calibri" pitchFamily="34" charset="-122"/>
                <a:cs typeface="Calibri" pitchFamily="34" charset="-120"/>
              </a:rPr>
              <a:t>Block II AGC — Comanche 055 — the original real-time computer</a:t>
            </a:r>
            <a:endParaRPr lang="en-US" sz="1350" dirty="0"/>
          </a:p>
        </p:txBody>
      </p:sp>
      <p:sp>
        <p:nvSpPr>
          <p:cNvPr id="9" name="Text 7"/>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0" name="Shape 8"/>
          <p:cNvSpPr/>
          <p:nvPr/>
        </p:nvSpPr>
        <p:spPr>
          <a:xfrm>
            <a:off x="0" y="6656832"/>
            <a:ext cx="12188952" cy="201168"/>
          </a:xfrm>
          <a:prstGeom prst="rect">
            <a:avLst/>
          </a:prstGeom>
          <a:solidFill>
            <a:srgbClr val="005C58"/>
          </a:solidFill>
          <a:ln w="12700">
            <a:solidFill>
              <a:srgbClr val="005C58"/>
            </a:solidFill>
            <a:prstDash val="solid"/>
          </a:ln>
        </p:spPr>
      </p:sp>
      <p:sp>
        <p:nvSpPr>
          <p:cNvPr id="11" name="Text 9"/>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2" name="Text 10"/>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The Apollo Guidance Computer</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Block II AGC — Comanche 055 — Command Module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502920" y="1170432"/>
            <a:ext cx="2286000" cy="1417320"/>
          </a:xfrm>
          <a:prstGeom prst="roundRect">
            <a:avLst>
              <a:gd name="adj" fmla="val 5161"/>
            </a:avLst>
          </a:prstGeom>
          <a:solidFill>
            <a:srgbClr val="1E6B9B"/>
          </a:solidFill>
          <a:ln w="12700">
            <a:solidFill>
              <a:srgbClr val="1E6B9B"/>
            </a:solidFill>
            <a:prstDash val="solid"/>
          </a:ln>
        </p:spPr>
      </p:sp>
      <p:sp>
        <p:nvSpPr>
          <p:cNvPr id="7" name="Text 5"/>
          <p:cNvSpPr/>
          <p:nvPr/>
        </p:nvSpPr>
        <p:spPr>
          <a:xfrm>
            <a:off x="502920" y="1216152"/>
            <a:ext cx="228600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PROCESSOR</a:t>
            </a:r>
            <a:endParaRPr lang="en-US" sz="1100" dirty="0"/>
          </a:p>
        </p:txBody>
      </p:sp>
      <p:sp>
        <p:nvSpPr>
          <p:cNvPr id="8" name="Shape 6"/>
          <p:cNvSpPr/>
          <p:nvPr/>
        </p:nvSpPr>
        <p:spPr>
          <a:xfrm>
            <a:off x="685800" y="1609344"/>
            <a:ext cx="1920240" cy="13716"/>
          </a:xfrm>
          <a:prstGeom prst="rect">
            <a:avLst/>
          </a:prstGeom>
          <a:solidFill>
            <a:srgbClr val="FFFFFF"/>
          </a:solidFill>
          <a:ln w="12700">
            <a:solidFill>
              <a:srgbClr val="FFFFFF"/>
            </a:solidFill>
            <a:prstDash val="solid"/>
          </a:ln>
        </p:spPr>
      </p:sp>
      <p:sp>
        <p:nvSpPr>
          <p:cNvPr id="9" name="Text 7"/>
          <p:cNvSpPr/>
          <p:nvPr/>
        </p:nvSpPr>
        <p:spPr>
          <a:xfrm>
            <a:off x="502920" y="1627632"/>
            <a:ext cx="2286000" cy="9144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2.048 MHz, 15-bit words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~40,000 operations / second</a:t>
            </a:r>
            <a:endParaRPr lang="en-US" sz="1100" dirty="0"/>
          </a:p>
        </p:txBody>
      </p:sp>
      <p:sp>
        <p:nvSpPr>
          <p:cNvPr id="10" name="Shape 8"/>
          <p:cNvSpPr/>
          <p:nvPr/>
        </p:nvSpPr>
        <p:spPr>
          <a:xfrm>
            <a:off x="502920" y="3044952"/>
            <a:ext cx="2286000" cy="1417320"/>
          </a:xfrm>
          <a:prstGeom prst="roundRect">
            <a:avLst>
              <a:gd name="adj" fmla="val 5161"/>
            </a:avLst>
          </a:prstGeom>
          <a:solidFill>
            <a:srgbClr val="0D9488"/>
          </a:solidFill>
          <a:ln w="12700">
            <a:solidFill>
              <a:srgbClr val="0D9488"/>
            </a:solidFill>
            <a:prstDash val="solid"/>
          </a:ln>
        </p:spPr>
      </p:sp>
      <p:sp>
        <p:nvSpPr>
          <p:cNvPr id="11" name="Text 9"/>
          <p:cNvSpPr/>
          <p:nvPr/>
        </p:nvSpPr>
        <p:spPr>
          <a:xfrm>
            <a:off x="502920" y="3090672"/>
            <a:ext cx="228600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MEMORY</a:t>
            </a:r>
            <a:endParaRPr lang="en-US" sz="1100" dirty="0"/>
          </a:p>
        </p:txBody>
      </p:sp>
      <p:sp>
        <p:nvSpPr>
          <p:cNvPr id="12" name="Shape 10"/>
          <p:cNvSpPr/>
          <p:nvPr/>
        </p:nvSpPr>
        <p:spPr>
          <a:xfrm>
            <a:off x="685800" y="3483864"/>
            <a:ext cx="1920240" cy="13716"/>
          </a:xfrm>
          <a:prstGeom prst="rect">
            <a:avLst/>
          </a:prstGeom>
          <a:solidFill>
            <a:srgbClr val="FFFFFF"/>
          </a:solidFill>
          <a:ln w="12700">
            <a:solidFill>
              <a:srgbClr val="FFFFFF"/>
            </a:solidFill>
            <a:prstDash val="solid"/>
          </a:ln>
        </p:spPr>
      </p:sp>
      <p:sp>
        <p:nvSpPr>
          <p:cNvPr id="13" name="Text 11"/>
          <p:cNvSpPr/>
          <p:nvPr/>
        </p:nvSpPr>
        <p:spPr>
          <a:xfrm>
            <a:off x="502920" y="3502152"/>
            <a:ext cx="2286000" cy="9144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4 KB RAM  ·  72 KB ROM</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Magnetically woven core rope</a:t>
            </a:r>
            <a:endParaRPr lang="en-US" sz="1100" dirty="0"/>
          </a:p>
        </p:txBody>
      </p:sp>
      <p:sp>
        <p:nvSpPr>
          <p:cNvPr id="14" name="Shape 12"/>
          <p:cNvSpPr/>
          <p:nvPr/>
        </p:nvSpPr>
        <p:spPr>
          <a:xfrm>
            <a:off x="502920" y="4919472"/>
            <a:ext cx="2286000" cy="1417320"/>
          </a:xfrm>
          <a:prstGeom prst="roundRect">
            <a:avLst>
              <a:gd name="adj" fmla="val 5161"/>
            </a:avLst>
          </a:prstGeom>
          <a:solidFill>
            <a:srgbClr val="7B2FBE"/>
          </a:solidFill>
          <a:ln w="12700">
            <a:solidFill>
              <a:srgbClr val="7B2FBE"/>
            </a:solidFill>
            <a:prstDash val="solid"/>
          </a:ln>
        </p:spPr>
      </p:sp>
      <p:sp>
        <p:nvSpPr>
          <p:cNvPr id="15" name="Text 13"/>
          <p:cNvSpPr/>
          <p:nvPr/>
        </p:nvSpPr>
        <p:spPr>
          <a:xfrm>
            <a:off x="502920" y="4965192"/>
            <a:ext cx="228600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SCHEDULER</a:t>
            </a:r>
            <a:endParaRPr lang="en-US" sz="1100" dirty="0"/>
          </a:p>
        </p:txBody>
      </p:sp>
      <p:sp>
        <p:nvSpPr>
          <p:cNvPr id="16" name="Shape 14"/>
          <p:cNvSpPr/>
          <p:nvPr/>
        </p:nvSpPr>
        <p:spPr>
          <a:xfrm>
            <a:off x="685800" y="5358384"/>
            <a:ext cx="1920240" cy="13716"/>
          </a:xfrm>
          <a:prstGeom prst="rect">
            <a:avLst/>
          </a:prstGeom>
          <a:solidFill>
            <a:srgbClr val="FFFFFF"/>
          </a:solidFill>
          <a:ln w="12700">
            <a:solidFill>
              <a:srgbClr val="FFFFFF"/>
            </a:solidFill>
            <a:prstDash val="solid"/>
          </a:ln>
        </p:spPr>
      </p:sp>
      <p:sp>
        <p:nvSpPr>
          <p:cNvPr id="17" name="Text 15"/>
          <p:cNvSpPr/>
          <p:nvPr/>
        </p:nvSpPr>
        <p:spPr>
          <a:xfrm>
            <a:off x="502920" y="5376672"/>
            <a:ext cx="2286000" cy="9144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No operating system</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Software owns 10ms task cycle</a:t>
            </a:r>
            <a:endParaRPr lang="en-US" sz="1100" dirty="0"/>
          </a:p>
        </p:txBody>
      </p:sp>
      <p:sp>
        <p:nvSpPr>
          <p:cNvPr id="18" name="Shape 16"/>
          <p:cNvSpPr/>
          <p:nvPr/>
        </p:nvSpPr>
        <p:spPr>
          <a:xfrm>
            <a:off x="3246120" y="1078992"/>
            <a:ext cx="8549640" cy="5440680"/>
          </a:xfrm>
          <a:prstGeom prst="roundRect">
            <a:avLst>
              <a:gd name="adj" fmla="val 2521"/>
            </a:avLst>
          </a:prstGeom>
          <a:solidFill>
            <a:srgbClr val="005C58"/>
          </a:solidFill>
          <a:ln w="12700">
            <a:solidFill>
              <a:srgbClr val="005C58"/>
            </a:solidFill>
            <a:prstDash val="solid"/>
          </a:ln>
          <a:effectLst>
            <a:outerShdw sx="100000" sy="100000" kx="0" ky="0" algn="bl" rotWithShape="0" blurRad="76200" dist="38100" dir="2700000">
              <a:srgbClr val="000000">
                <a:alpha val="10000"/>
              </a:srgbClr>
            </a:outerShdw>
          </a:effectLst>
        </p:spPr>
      </p:sp>
      <p:sp>
        <p:nvSpPr>
          <p:cNvPr id="19" name="Text 17"/>
          <p:cNvSpPr/>
          <p:nvPr/>
        </p:nvSpPr>
        <p:spPr>
          <a:xfrm>
            <a:off x="3383280" y="1170432"/>
            <a:ext cx="8275320" cy="457200"/>
          </a:xfrm>
          <a:prstGeom prst="rect">
            <a:avLst/>
          </a:prstGeom>
          <a:noFill/>
          <a:ln/>
        </p:spPr>
        <p:txBody>
          <a:bodyPr wrap="square" rtlCol="0" anchor="ctr"/>
          <a:lstStyle/>
          <a:p>
            <a:pPr algn="ctr" indent="0" marL="0">
              <a:buNone/>
            </a:pPr>
            <a:r>
              <a:rPr lang="en-US" sz="1600" b="1" dirty="0">
                <a:solidFill>
                  <a:srgbClr val="00A9A3"/>
                </a:solidFill>
                <a:latin typeface="Calibri" pitchFamily="34" charset="0"/>
                <a:ea typeface="Calibri" pitchFamily="34" charset="-122"/>
                <a:cs typeface="Calibri" pitchFamily="34" charset="-120"/>
              </a:rPr>
              <a:t>Comanche 055 — Key Facts</a:t>
            </a:r>
            <a:endParaRPr lang="en-US" sz="1600" dirty="0"/>
          </a:p>
        </p:txBody>
      </p:sp>
      <p:sp>
        <p:nvSpPr>
          <p:cNvPr id="20" name="Shape 18"/>
          <p:cNvSpPr/>
          <p:nvPr/>
        </p:nvSpPr>
        <p:spPr>
          <a:xfrm>
            <a:off x="3657600" y="1691640"/>
            <a:ext cx="7772400" cy="16459"/>
          </a:xfrm>
          <a:prstGeom prst="rect">
            <a:avLst/>
          </a:prstGeom>
          <a:solidFill>
            <a:srgbClr val="007B76"/>
          </a:solidFill>
          <a:ln w="12700">
            <a:solidFill>
              <a:srgbClr val="007B76"/>
            </a:solidFill>
            <a:prstDash val="solid"/>
          </a:ln>
        </p:spPr>
      </p:sp>
      <p:sp>
        <p:nvSpPr>
          <p:cNvPr id="21" name="Text 19"/>
          <p:cNvSpPr/>
          <p:nvPr/>
        </p:nvSpPr>
        <p:spPr>
          <a:xfrm>
            <a:off x="3383280" y="1828800"/>
            <a:ext cx="4206240" cy="868680"/>
          </a:xfrm>
          <a:prstGeom prst="rect">
            <a:avLst/>
          </a:prstGeom>
          <a:noFill/>
          <a:ln/>
        </p:spPr>
        <p:txBody>
          <a:bodyPr wrap="square" rtlCol="0" anchor="ctr"/>
          <a:lstStyle/>
          <a:p>
            <a:pPr indent="0" marL="0">
              <a:buNone/>
            </a:pPr>
            <a:r>
              <a:rPr lang="en-US" sz="1100" dirty="0">
                <a:solidFill>
                  <a:srgbClr val="CCDDDD"/>
                </a:solidFill>
                <a:latin typeface="Calibri" pitchFamily="34" charset="0"/>
                <a:ea typeface="Calibri" pitchFamily="34" charset="-122"/>
                <a:cs typeface="Calibri" pitchFamily="34" charset="-120"/>
              </a:rPr>
              <a:t>◆  Apollo 11 Command Module flight software</a:t>
            </a:r>
            <a:endParaRPr lang="en-US" sz="1100" dirty="0"/>
          </a:p>
        </p:txBody>
      </p:sp>
      <p:sp>
        <p:nvSpPr>
          <p:cNvPr id="22" name="Text 20"/>
          <p:cNvSpPr/>
          <p:nvPr/>
        </p:nvSpPr>
        <p:spPr>
          <a:xfrm>
            <a:off x="3383280" y="2834640"/>
            <a:ext cx="4206240" cy="868680"/>
          </a:xfrm>
          <a:prstGeom prst="rect">
            <a:avLst/>
          </a:prstGeom>
          <a:noFill/>
          <a:ln/>
        </p:spPr>
        <p:txBody>
          <a:bodyPr wrap="square" rtlCol="0" anchor="ctr"/>
          <a:lstStyle/>
          <a:p>
            <a:pPr indent="0" marL="0">
              <a:buNone/>
            </a:pPr>
            <a:r>
              <a:rPr lang="en-US" sz="1100" dirty="0">
                <a:solidFill>
                  <a:srgbClr val="CCDDDD"/>
                </a:solidFill>
                <a:latin typeface="Calibri" pitchFamily="34" charset="0"/>
                <a:ea typeface="Calibri" pitchFamily="34" charset="-122"/>
                <a:cs typeface="Calibri" pitchFamily="34" charset="-120"/>
              </a:rPr>
              <a:t>◆  ~100,000 lines of AGC assembly</a:t>
            </a:r>
            <a:endParaRPr lang="en-US" sz="1100" dirty="0"/>
          </a:p>
        </p:txBody>
      </p:sp>
      <p:sp>
        <p:nvSpPr>
          <p:cNvPr id="23" name="Text 21"/>
          <p:cNvSpPr/>
          <p:nvPr/>
        </p:nvSpPr>
        <p:spPr>
          <a:xfrm>
            <a:off x="3383280" y="3840480"/>
            <a:ext cx="4206240" cy="868680"/>
          </a:xfrm>
          <a:prstGeom prst="rect">
            <a:avLst/>
          </a:prstGeom>
          <a:noFill/>
          <a:ln/>
        </p:spPr>
        <p:txBody>
          <a:bodyPr wrap="square" rtlCol="0" anchor="ctr"/>
          <a:lstStyle/>
          <a:p>
            <a:pPr indent="0" marL="0">
              <a:buNone/>
            </a:pPr>
            <a:r>
              <a:rPr lang="en-US" sz="1100" dirty="0">
                <a:solidFill>
                  <a:srgbClr val="CCDDDD"/>
                </a:solidFill>
                <a:latin typeface="Calibri" pitchFamily="34" charset="0"/>
                <a:ea typeface="Calibri" pitchFamily="34" charset="-122"/>
                <a:cs typeface="Calibri" pitchFamily="34" charset="-120"/>
              </a:rPr>
              <a:t>◆  Magnetically woven core rope memory</a:t>
            </a:r>
            <a:endParaRPr lang="en-US" sz="1100" dirty="0"/>
          </a:p>
        </p:txBody>
      </p:sp>
      <p:sp>
        <p:nvSpPr>
          <p:cNvPr id="24" name="Text 22"/>
          <p:cNvSpPr/>
          <p:nvPr/>
        </p:nvSpPr>
        <p:spPr>
          <a:xfrm>
            <a:off x="3383280" y="4846320"/>
            <a:ext cx="4206240" cy="868680"/>
          </a:xfrm>
          <a:prstGeom prst="rect">
            <a:avLst/>
          </a:prstGeom>
          <a:noFill/>
          <a:ln/>
        </p:spPr>
        <p:txBody>
          <a:bodyPr wrap="square" rtlCol="0" anchor="ctr"/>
          <a:lstStyle/>
          <a:p>
            <a:pPr indent="0" marL="0">
              <a:buNone/>
            </a:pPr>
            <a:r>
              <a:rPr lang="en-US" sz="1100" dirty="0">
                <a:solidFill>
                  <a:srgbClr val="CCDDDD"/>
                </a:solidFill>
                <a:latin typeface="Calibri" pitchFamily="34" charset="0"/>
                <a:ea typeface="Calibri" pitchFamily="34" charset="-122"/>
                <a:cs typeface="Calibri" pitchFamily="34" charset="-120"/>
              </a:rPr>
              <a:t>◆  Navigation: star sightings + IMU data</a:t>
            </a:r>
            <a:endParaRPr lang="en-US" sz="1100" dirty="0"/>
          </a:p>
        </p:txBody>
      </p:sp>
      <p:sp>
        <p:nvSpPr>
          <p:cNvPr id="25" name="Text 23"/>
          <p:cNvSpPr/>
          <p:nvPr/>
        </p:nvSpPr>
        <p:spPr>
          <a:xfrm>
            <a:off x="7772400" y="1828800"/>
            <a:ext cx="3840480" cy="868680"/>
          </a:xfrm>
          <a:prstGeom prst="rect">
            <a:avLst/>
          </a:prstGeom>
          <a:noFill/>
          <a:ln/>
        </p:spPr>
        <p:txBody>
          <a:bodyPr wrap="square" rtlCol="0" anchor="ctr"/>
          <a:lstStyle/>
          <a:p>
            <a:pPr indent="0" marL="0">
              <a:buNone/>
            </a:pPr>
            <a:r>
              <a:rPr lang="en-US" sz="1100" dirty="0">
                <a:solidFill>
                  <a:srgbClr val="CCDDDD"/>
                </a:solidFill>
                <a:latin typeface="Calibri" pitchFamily="34" charset="0"/>
                <a:ea typeface="Calibri" pitchFamily="34" charset="-122"/>
                <a:cs typeface="Calibri" pitchFamily="34" charset="-120"/>
              </a:rPr>
              <a:t>◆  Outputs: thruster + main engine commands</a:t>
            </a:r>
            <a:endParaRPr lang="en-US" sz="1100" dirty="0"/>
          </a:p>
        </p:txBody>
      </p:sp>
      <p:sp>
        <p:nvSpPr>
          <p:cNvPr id="26" name="Text 24"/>
          <p:cNvSpPr/>
          <p:nvPr/>
        </p:nvSpPr>
        <p:spPr>
          <a:xfrm>
            <a:off x="7772400" y="2834640"/>
            <a:ext cx="3840480" cy="868680"/>
          </a:xfrm>
          <a:prstGeom prst="rect">
            <a:avLst/>
          </a:prstGeom>
          <a:noFill/>
          <a:ln/>
        </p:spPr>
        <p:txBody>
          <a:bodyPr wrap="square" rtlCol="0" anchor="ctr"/>
          <a:lstStyle/>
          <a:p>
            <a:pPr indent="0" marL="0">
              <a:buNone/>
            </a:pPr>
            <a:r>
              <a:rPr lang="en-US" sz="1100" dirty="0">
                <a:solidFill>
                  <a:srgbClr val="CCDDDD"/>
                </a:solidFill>
                <a:latin typeface="Calibri" pitchFamily="34" charset="0"/>
                <a:ea typeface="Calibri" pitchFamily="34" charset="-122"/>
                <a:cs typeface="Calibri" pitchFamily="34" charset="-120"/>
              </a:rPr>
              <a:t>◆  DSKY console — verb/noun crew interface</a:t>
            </a:r>
            <a:endParaRPr lang="en-US" sz="1100" dirty="0"/>
          </a:p>
        </p:txBody>
      </p:sp>
      <p:sp>
        <p:nvSpPr>
          <p:cNvPr id="27" name="Text 25"/>
          <p:cNvSpPr/>
          <p:nvPr/>
        </p:nvSpPr>
        <p:spPr>
          <a:xfrm>
            <a:off x="7772400" y="3840480"/>
            <a:ext cx="3840480" cy="868680"/>
          </a:xfrm>
          <a:prstGeom prst="rect">
            <a:avLst/>
          </a:prstGeom>
          <a:noFill/>
          <a:ln/>
        </p:spPr>
        <p:txBody>
          <a:bodyPr wrap="square" rtlCol="0" anchor="ctr"/>
          <a:lstStyle/>
          <a:p>
            <a:pPr indent="0" marL="0">
              <a:buNone/>
            </a:pPr>
            <a:r>
              <a:rPr lang="en-US" sz="1100" dirty="0">
                <a:solidFill>
                  <a:srgbClr val="CCDDDD"/>
                </a:solidFill>
                <a:latin typeface="Calibri" pitchFamily="34" charset="0"/>
                <a:ea typeface="Calibri" pitchFamily="34" charset="-122"/>
                <a:cs typeface="Calibri" pitchFamily="34" charset="-120"/>
              </a:rPr>
              <a:t>◆  Hard real-time — 10ms fixed scheduler cycle</a:t>
            </a:r>
            <a:endParaRPr lang="en-US" sz="1100" dirty="0"/>
          </a:p>
        </p:txBody>
      </p:sp>
      <p:sp>
        <p:nvSpPr>
          <p:cNvPr id="28" name="Text 26"/>
          <p:cNvSpPr/>
          <p:nvPr/>
        </p:nvSpPr>
        <p:spPr>
          <a:xfrm>
            <a:off x="7772400" y="4846320"/>
            <a:ext cx="3840480" cy="868680"/>
          </a:xfrm>
          <a:prstGeom prst="rect">
            <a:avLst/>
          </a:prstGeom>
          <a:noFill/>
          <a:ln/>
        </p:spPr>
        <p:txBody>
          <a:bodyPr wrap="square" rtlCol="0" anchor="ctr"/>
          <a:lstStyle/>
          <a:p>
            <a:pPr indent="0" marL="0">
              <a:buNone/>
            </a:pPr>
            <a:r>
              <a:rPr lang="en-US" sz="1100" dirty="0">
                <a:solidFill>
                  <a:srgbClr val="CCDDDD"/>
                </a:solidFill>
                <a:latin typeface="Calibri" pitchFamily="34" charset="0"/>
                <a:ea typeface="Calibri" pitchFamily="34" charset="-122"/>
                <a:cs typeface="Calibri" pitchFamily="34" charset="-120"/>
              </a:rPr>
              <a:t>◆  Fail-safe: always returns to a safe state</a:t>
            </a:r>
            <a:endParaRPr lang="en-US" sz="1100" dirty="0"/>
          </a:p>
        </p:txBody>
      </p:sp>
      <p:sp>
        <p:nvSpPr>
          <p:cNvPr id="29" name="Shape 27"/>
          <p:cNvSpPr/>
          <p:nvPr/>
        </p:nvSpPr>
        <p:spPr>
          <a:xfrm>
            <a:off x="0" y="6656832"/>
            <a:ext cx="12188952" cy="201168"/>
          </a:xfrm>
          <a:prstGeom prst="rect">
            <a:avLst/>
          </a:prstGeom>
          <a:solidFill>
            <a:srgbClr val="005C58"/>
          </a:solidFill>
          <a:ln w="12700">
            <a:solidFill>
              <a:srgbClr val="005C58"/>
            </a:solidFill>
            <a:prstDash val="solid"/>
          </a:ln>
        </p:spPr>
      </p:sp>
      <p:sp>
        <p:nvSpPr>
          <p:cNvPr id="30" name="Text 28"/>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31" name="Text 29"/>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sp>
      <p:sp>
        <p:nvSpPr>
          <p:cNvPr id="4" name="Text 2"/>
          <p:cNvSpPr/>
          <p:nvPr/>
        </p:nvSpPr>
        <p:spPr>
          <a:xfrm>
            <a:off x="8044708" y="0"/>
            <a:ext cx="4144244" cy="6858000"/>
          </a:xfrm>
          <a:prstGeom prst="rect">
            <a:avLst/>
          </a:prstGeom>
          <a:noFill/>
          <a:ln/>
        </p:spPr>
        <p:txBody>
          <a:bodyPr wrap="square" rtlCol="0" anchor="ctr"/>
          <a:lstStyle/>
          <a:p>
            <a:pPr algn="ctr" indent="0" marL="0">
              <a:buNone/>
            </a:pPr>
            <a:r>
              <a:rPr lang="en-US" sz="16000" b="1" dirty="0">
                <a:solidFill>
                  <a:srgbClr val="005C58"/>
                </a:solidFill>
                <a:latin typeface="Calibri" pitchFamily="34" charset="0"/>
                <a:ea typeface="Calibri" pitchFamily="34" charset="-122"/>
                <a:cs typeface="Calibri" pitchFamily="34" charset="-120"/>
              </a:rPr>
              <a:t>02</a:t>
            </a:r>
            <a:endParaRPr lang="en-US" sz="16000" dirty="0"/>
          </a:p>
        </p:txBody>
      </p:sp>
      <p:sp>
        <p:nvSpPr>
          <p:cNvPr id="5" name="Shape 3"/>
          <p:cNvSpPr/>
          <p:nvPr/>
        </p:nvSpPr>
        <p:spPr>
          <a:xfrm>
            <a:off x="777240" y="2926080"/>
            <a:ext cx="868680" cy="868680"/>
          </a:xfrm>
          <a:prstGeom prst="ellipse">
            <a:avLst/>
          </a:prstGeom>
          <a:solidFill>
            <a:srgbClr val="00A9A3"/>
          </a:solidFill>
          <a:ln w="12700">
            <a:solidFill>
              <a:srgbClr val="00A9A3"/>
            </a:solidFill>
            <a:prstDash val="solid"/>
          </a:ln>
        </p:spPr>
      </p:sp>
      <p:sp>
        <p:nvSpPr>
          <p:cNvPr id="6" name="Text 4"/>
          <p:cNvSpPr/>
          <p:nvPr/>
        </p:nvSpPr>
        <p:spPr>
          <a:xfrm>
            <a:off x="777240" y="2926080"/>
            <a:ext cx="868680" cy="8686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7" name="Text 5"/>
          <p:cNvSpPr/>
          <p:nvPr/>
        </p:nvSpPr>
        <p:spPr>
          <a:xfrm>
            <a:off x="1920240" y="2743200"/>
            <a:ext cx="7313371" cy="749808"/>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The Problem Space</a:t>
            </a:r>
            <a:endParaRPr lang="en-US" sz="3400" dirty="0"/>
          </a:p>
        </p:txBody>
      </p:sp>
      <p:sp>
        <p:nvSpPr>
          <p:cNvPr id="8" name="Text 6"/>
          <p:cNvSpPr/>
          <p:nvPr/>
        </p:nvSpPr>
        <p:spPr>
          <a:xfrm>
            <a:off x="1920240" y="3566160"/>
            <a:ext cx="7313371" cy="411480"/>
          </a:xfrm>
          <a:prstGeom prst="rect">
            <a:avLst/>
          </a:prstGeom>
          <a:noFill/>
          <a:ln/>
        </p:spPr>
        <p:txBody>
          <a:bodyPr wrap="square" rtlCol="0" anchor="ctr"/>
          <a:lstStyle/>
          <a:p>
            <a:pPr indent="0" marL="0">
              <a:buNone/>
            </a:pPr>
            <a:r>
              <a:rPr lang="en-US" sz="1350" dirty="0">
                <a:solidFill>
                  <a:srgbClr val="00A9A3"/>
                </a:solidFill>
                <a:latin typeface="Calibri" pitchFamily="34" charset="0"/>
                <a:ea typeface="Calibri" pitchFamily="34" charset="-122"/>
                <a:cs typeface="Calibri" pitchFamily="34" charset="-120"/>
              </a:rPr>
              <a:t>Why re-engineer 1960s assembly — and why Rust?</a:t>
            </a:r>
            <a:endParaRPr lang="en-US" sz="1350" dirty="0"/>
          </a:p>
        </p:txBody>
      </p:sp>
      <p:sp>
        <p:nvSpPr>
          <p:cNvPr id="9" name="Text 7"/>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0" name="Shape 8"/>
          <p:cNvSpPr/>
          <p:nvPr/>
        </p:nvSpPr>
        <p:spPr>
          <a:xfrm>
            <a:off x="0" y="6656832"/>
            <a:ext cx="12188952" cy="201168"/>
          </a:xfrm>
          <a:prstGeom prst="rect">
            <a:avLst/>
          </a:prstGeom>
          <a:solidFill>
            <a:srgbClr val="005C58"/>
          </a:solidFill>
          <a:ln w="12700">
            <a:solidFill>
              <a:srgbClr val="005C58"/>
            </a:solidFill>
            <a:prstDash val="solid"/>
          </a:ln>
        </p:spPr>
      </p:sp>
      <p:sp>
        <p:nvSpPr>
          <p:cNvPr id="11" name="Text 9"/>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2" name="Text 10"/>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Three Core Challenges</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The obstacles between AGC assembler and modern Rust</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502920" y="1170432"/>
            <a:ext cx="3566160" cy="5257800"/>
          </a:xfrm>
          <a:prstGeom prst="roundRect">
            <a:avLst>
              <a:gd name="adj" fmla="val 3077"/>
            </a:avLst>
          </a:prstGeom>
          <a:solidFill>
            <a:srgbClr val="B83232">
              <a:alpha val="6000"/>
            </a:srgbClr>
          </a:solidFill>
          <a:ln w="12700">
            <a:solidFill>
              <a:srgbClr val="B83232"/>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502920" y="1170432"/>
            <a:ext cx="3566160" cy="54864"/>
          </a:xfrm>
          <a:prstGeom prst="roundRect">
            <a:avLst>
              <a:gd name="adj" fmla="val 83333"/>
            </a:avLst>
          </a:prstGeom>
          <a:solidFill>
            <a:srgbClr val="B83232"/>
          </a:solidFill>
          <a:ln w="12700">
            <a:solidFill>
              <a:srgbClr val="B83232"/>
            </a:solidFill>
            <a:prstDash val="solid"/>
          </a:ln>
        </p:spPr>
      </p:sp>
      <p:sp>
        <p:nvSpPr>
          <p:cNvPr id="8" name="Shape 6"/>
          <p:cNvSpPr/>
          <p:nvPr/>
        </p:nvSpPr>
        <p:spPr>
          <a:xfrm>
            <a:off x="1874520" y="1371600"/>
            <a:ext cx="822960" cy="822960"/>
          </a:xfrm>
          <a:prstGeom prst="ellipse">
            <a:avLst/>
          </a:prstGeom>
          <a:solidFill>
            <a:srgbClr val="B83232"/>
          </a:solidFill>
          <a:ln w="12700">
            <a:solidFill>
              <a:srgbClr val="B83232"/>
            </a:solidFill>
            <a:prstDash val="solid"/>
          </a:ln>
        </p:spPr>
      </p:sp>
      <p:sp>
        <p:nvSpPr>
          <p:cNvPr id="9" name="Text 7"/>
          <p:cNvSpPr/>
          <p:nvPr/>
        </p:nvSpPr>
        <p:spPr>
          <a:xfrm>
            <a:off x="1874520" y="1371600"/>
            <a:ext cx="822960" cy="82296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0" name="Text 8"/>
          <p:cNvSpPr/>
          <p:nvPr/>
        </p:nvSpPr>
        <p:spPr>
          <a:xfrm>
            <a:off x="667512" y="2340864"/>
            <a:ext cx="3236976" cy="502920"/>
          </a:xfrm>
          <a:prstGeom prst="rect">
            <a:avLst/>
          </a:prstGeom>
          <a:noFill/>
          <a:ln/>
        </p:spPr>
        <p:txBody>
          <a:bodyPr wrap="square" rtlCol="0" anchor="ctr"/>
          <a:lstStyle/>
          <a:p>
            <a:pPr algn="ctr" indent="0" marL="0">
              <a:buNone/>
            </a:pPr>
            <a:r>
              <a:rPr lang="en-US" sz="1400" b="1" dirty="0">
                <a:solidFill>
                  <a:srgbClr val="B83232"/>
                </a:solidFill>
                <a:latin typeface="Calibri" pitchFamily="34" charset="0"/>
                <a:ea typeface="Calibri" pitchFamily="34" charset="-122"/>
                <a:cs typeface="Calibri" pitchFamily="34" charset="-120"/>
              </a:rPr>
              <a:t>Lost Abstractions</a:t>
            </a:r>
            <a:endParaRPr lang="en-US" sz="1400" dirty="0"/>
          </a:p>
        </p:txBody>
      </p:sp>
      <p:sp>
        <p:nvSpPr>
          <p:cNvPr id="11" name="Shape 9"/>
          <p:cNvSpPr/>
          <p:nvPr/>
        </p:nvSpPr>
        <p:spPr>
          <a:xfrm>
            <a:off x="960120" y="2889504"/>
            <a:ext cx="2651760" cy="16459"/>
          </a:xfrm>
          <a:prstGeom prst="rect">
            <a:avLst/>
          </a:prstGeom>
          <a:solidFill>
            <a:srgbClr val="B83232">
              <a:alpha val="20000"/>
            </a:srgbClr>
          </a:solidFill>
          <a:ln w="12700">
            <a:solidFill>
              <a:srgbClr val="B83232">
                <a:alpha val="20000"/>
              </a:srgbClr>
            </a:solidFill>
            <a:prstDash val="solid"/>
          </a:ln>
        </p:spPr>
      </p:sp>
      <p:sp>
        <p:nvSpPr>
          <p:cNvPr id="12" name="Text 10"/>
          <p:cNvSpPr/>
          <p:nvPr/>
        </p:nvSpPr>
        <p:spPr>
          <a:xfrm>
            <a:off x="704088" y="2999232"/>
            <a:ext cx="3163824" cy="3200400"/>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AGC assembly has no functions, structs, or types. Variables are raw memory addresses. Comments are the only documentation. The original developer intent must be reconstructed entirely from runtime behavior and cross-references to design documents.</a:t>
            </a:r>
            <a:endParaRPr lang="en-US" sz="1100" dirty="0"/>
          </a:p>
        </p:txBody>
      </p:sp>
      <p:sp>
        <p:nvSpPr>
          <p:cNvPr id="13" name="Shape 11"/>
          <p:cNvSpPr/>
          <p:nvPr/>
        </p:nvSpPr>
        <p:spPr>
          <a:xfrm>
            <a:off x="4517136" y="1170432"/>
            <a:ext cx="3566160" cy="5257800"/>
          </a:xfrm>
          <a:prstGeom prst="roundRect">
            <a:avLst>
              <a:gd name="adj" fmla="val 3077"/>
            </a:avLst>
          </a:prstGeom>
          <a:solidFill>
            <a:srgbClr val="C45200">
              <a:alpha val="6000"/>
            </a:srgbClr>
          </a:solidFill>
          <a:ln w="12700">
            <a:solidFill>
              <a:srgbClr val="C45200"/>
            </a:solidFill>
            <a:prstDash val="solid"/>
          </a:ln>
          <a:effectLst>
            <a:outerShdw sx="100000" sy="100000" kx="0" ky="0" algn="bl" rotWithShape="0" blurRad="76200" dist="38100" dir="2700000">
              <a:srgbClr val="000000">
                <a:alpha val="10000"/>
              </a:srgbClr>
            </a:outerShdw>
          </a:effectLst>
        </p:spPr>
      </p:sp>
      <p:sp>
        <p:nvSpPr>
          <p:cNvPr id="14" name="Shape 12"/>
          <p:cNvSpPr/>
          <p:nvPr/>
        </p:nvSpPr>
        <p:spPr>
          <a:xfrm>
            <a:off x="4517136" y="1170432"/>
            <a:ext cx="3566160" cy="54864"/>
          </a:xfrm>
          <a:prstGeom prst="roundRect">
            <a:avLst>
              <a:gd name="adj" fmla="val 83333"/>
            </a:avLst>
          </a:prstGeom>
          <a:solidFill>
            <a:srgbClr val="C45200"/>
          </a:solidFill>
          <a:ln w="12700">
            <a:solidFill>
              <a:srgbClr val="C45200"/>
            </a:solidFill>
            <a:prstDash val="solid"/>
          </a:ln>
        </p:spPr>
      </p:sp>
      <p:sp>
        <p:nvSpPr>
          <p:cNvPr id="15" name="Shape 13"/>
          <p:cNvSpPr/>
          <p:nvPr/>
        </p:nvSpPr>
        <p:spPr>
          <a:xfrm>
            <a:off x="5888736" y="1371600"/>
            <a:ext cx="822960" cy="822960"/>
          </a:xfrm>
          <a:prstGeom prst="ellipse">
            <a:avLst/>
          </a:prstGeom>
          <a:solidFill>
            <a:srgbClr val="C45200"/>
          </a:solidFill>
          <a:ln w="12700">
            <a:solidFill>
              <a:srgbClr val="C45200"/>
            </a:solidFill>
            <a:prstDash val="solid"/>
          </a:ln>
        </p:spPr>
      </p:sp>
      <p:sp>
        <p:nvSpPr>
          <p:cNvPr id="16" name="Text 14"/>
          <p:cNvSpPr/>
          <p:nvPr/>
        </p:nvSpPr>
        <p:spPr>
          <a:xfrm>
            <a:off x="5888736" y="1371600"/>
            <a:ext cx="822960" cy="82296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7" name="Text 15"/>
          <p:cNvSpPr/>
          <p:nvPr/>
        </p:nvSpPr>
        <p:spPr>
          <a:xfrm>
            <a:off x="4681728" y="2340864"/>
            <a:ext cx="3236976" cy="502920"/>
          </a:xfrm>
          <a:prstGeom prst="rect">
            <a:avLst/>
          </a:prstGeom>
          <a:noFill/>
          <a:ln/>
        </p:spPr>
        <p:txBody>
          <a:bodyPr wrap="square" rtlCol="0" anchor="ctr"/>
          <a:lstStyle/>
          <a:p>
            <a:pPr algn="ctr" indent="0" marL="0">
              <a:buNone/>
            </a:pPr>
            <a:r>
              <a:rPr lang="en-US" sz="1400" b="1" dirty="0">
                <a:solidFill>
                  <a:srgbClr val="C45200"/>
                </a:solidFill>
                <a:latin typeface="Calibri" pitchFamily="34" charset="0"/>
                <a:ea typeface="Calibri" pitchFamily="34" charset="-122"/>
                <a:cs typeface="Calibri" pitchFamily="34" charset="-120"/>
              </a:rPr>
              <a:t>Hard Real-Time Constraints</a:t>
            </a:r>
            <a:endParaRPr lang="en-US" sz="1400" dirty="0"/>
          </a:p>
        </p:txBody>
      </p:sp>
      <p:sp>
        <p:nvSpPr>
          <p:cNvPr id="18" name="Shape 16"/>
          <p:cNvSpPr/>
          <p:nvPr/>
        </p:nvSpPr>
        <p:spPr>
          <a:xfrm>
            <a:off x="4974336" y="2889504"/>
            <a:ext cx="2651760" cy="16459"/>
          </a:xfrm>
          <a:prstGeom prst="rect">
            <a:avLst/>
          </a:prstGeom>
          <a:solidFill>
            <a:srgbClr val="C45200">
              <a:alpha val="20000"/>
            </a:srgbClr>
          </a:solidFill>
          <a:ln w="12700">
            <a:solidFill>
              <a:srgbClr val="C45200">
                <a:alpha val="20000"/>
              </a:srgbClr>
            </a:solidFill>
            <a:prstDash val="solid"/>
          </a:ln>
        </p:spPr>
      </p:sp>
      <p:sp>
        <p:nvSpPr>
          <p:cNvPr id="19" name="Text 17"/>
          <p:cNvSpPr/>
          <p:nvPr/>
        </p:nvSpPr>
        <p:spPr>
          <a:xfrm>
            <a:off x="4718304" y="2999232"/>
            <a:ext cx="3163824" cy="3200400"/>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There is no OS. There is no heap allocator. The AGC scheduler ticks every 10ms in silicon. Our Rust implementation must honour the same timing guarantees using no_std and fixed-size, pre-allocated data structures throughout.</a:t>
            </a:r>
            <a:endParaRPr lang="en-US" sz="1100" dirty="0"/>
          </a:p>
        </p:txBody>
      </p:sp>
      <p:sp>
        <p:nvSpPr>
          <p:cNvPr id="20" name="Shape 18"/>
          <p:cNvSpPr/>
          <p:nvPr/>
        </p:nvSpPr>
        <p:spPr>
          <a:xfrm>
            <a:off x="8531352" y="1170432"/>
            <a:ext cx="3566160" cy="5257800"/>
          </a:xfrm>
          <a:prstGeom prst="roundRect">
            <a:avLst>
              <a:gd name="adj" fmla="val 3077"/>
            </a:avLst>
          </a:prstGeom>
          <a:solidFill>
            <a:srgbClr val="7B2FBE">
              <a:alpha val="6000"/>
            </a:srgbClr>
          </a:solidFill>
          <a:ln w="12700">
            <a:solidFill>
              <a:srgbClr val="7B2FBE"/>
            </a:solidFill>
            <a:prstDash val="solid"/>
          </a:ln>
          <a:effectLst>
            <a:outerShdw sx="100000" sy="100000" kx="0" ky="0" algn="bl" rotWithShape="0" blurRad="76200" dist="38100" dir="2700000">
              <a:srgbClr val="000000">
                <a:alpha val="10000"/>
              </a:srgbClr>
            </a:outerShdw>
          </a:effectLst>
        </p:spPr>
      </p:sp>
      <p:sp>
        <p:nvSpPr>
          <p:cNvPr id="21" name="Shape 19"/>
          <p:cNvSpPr/>
          <p:nvPr/>
        </p:nvSpPr>
        <p:spPr>
          <a:xfrm>
            <a:off x="8531352" y="1170432"/>
            <a:ext cx="3566160" cy="54864"/>
          </a:xfrm>
          <a:prstGeom prst="roundRect">
            <a:avLst>
              <a:gd name="adj" fmla="val 83333"/>
            </a:avLst>
          </a:prstGeom>
          <a:solidFill>
            <a:srgbClr val="7B2FBE"/>
          </a:solidFill>
          <a:ln w="12700">
            <a:solidFill>
              <a:srgbClr val="7B2FBE"/>
            </a:solidFill>
            <a:prstDash val="solid"/>
          </a:ln>
        </p:spPr>
      </p:sp>
      <p:sp>
        <p:nvSpPr>
          <p:cNvPr id="22" name="Shape 20"/>
          <p:cNvSpPr/>
          <p:nvPr/>
        </p:nvSpPr>
        <p:spPr>
          <a:xfrm>
            <a:off x="9902952" y="1371600"/>
            <a:ext cx="822960" cy="822960"/>
          </a:xfrm>
          <a:prstGeom prst="ellipse">
            <a:avLst/>
          </a:prstGeom>
          <a:solidFill>
            <a:srgbClr val="7B2FBE"/>
          </a:solidFill>
          <a:ln w="12700">
            <a:solidFill>
              <a:srgbClr val="7B2FBE"/>
            </a:solidFill>
            <a:prstDash val="solid"/>
          </a:ln>
        </p:spPr>
      </p:sp>
      <p:sp>
        <p:nvSpPr>
          <p:cNvPr id="23" name="Text 21"/>
          <p:cNvSpPr/>
          <p:nvPr/>
        </p:nvSpPr>
        <p:spPr>
          <a:xfrm>
            <a:off x="9902952" y="1371600"/>
            <a:ext cx="822960" cy="82296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4" name="Text 22"/>
          <p:cNvSpPr/>
          <p:nvPr/>
        </p:nvSpPr>
        <p:spPr>
          <a:xfrm>
            <a:off x="8695944" y="2340864"/>
            <a:ext cx="3236976" cy="502920"/>
          </a:xfrm>
          <a:prstGeom prst="rect">
            <a:avLst/>
          </a:prstGeom>
          <a:noFill/>
          <a:ln/>
        </p:spPr>
        <p:txBody>
          <a:bodyPr wrap="square" rtlCol="0" anchor="ctr"/>
          <a:lstStyle/>
          <a:p>
            <a:pPr algn="ctr" indent="0" marL="0">
              <a:buNone/>
            </a:pPr>
            <a:r>
              <a:rPr lang="en-US" sz="1400" b="1" dirty="0">
                <a:solidFill>
                  <a:srgbClr val="7B2FBE"/>
                </a:solidFill>
                <a:latin typeface="Calibri" pitchFamily="34" charset="0"/>
                <a:ea typeface="Calibri" pitchFamily="34" charset="-122"/>
                <a:cs typeface="Calibri" pitchFamily="34" charset="-120"/>
              </a:rPr>
              <a:t>Fidelity vs. Readability</a:t>
            </a:r>
            <a:endParaRPr lang="en-US" sz="1400" dirty="0"/>
          </a:p>
        </p:txBody>
      </p:sp>
      <p:sp>
        <p:nvSpPr>
          <p:cNvPr id="25" name="Shape 23"/>
          <p:cNvSpPr/>
          <p:nvPr/>
        </p:nvSpPr>
        <p:spPr>
          <a:xfrm>
            <a:off x="8988552" y="2889504"/>
            <a:ext cx="2651760" cy="16459"/>
          </a:xfrm>
          <a:prstGeom prst="rect">
            <a:avLst/>
          </a:prstGeom>
          <a:solidFill>
            <a:srgbClr val="7B2FBE">
              <a:alpha val="20000"/>
            </a:srgbClr>
          </a:solidFill>
          <a:ln w="12700">
            <a:solidFill>
              <a:srgbClr val="7B2FBE">
                <a:alpha val="20000"/>
              </a:srgbClr>
            </a:solidFill>
            <a:prstDash val="solid"/>
          </a:ln>
        </p:spPr>
      </p:sp>
      <p:sp>
        <p:nvSpPr>
          <p:cNvPr id="26" name="Text 24"/>
          <p:cNvSpPr/>
          <p:nvPr/>
        </p:nvSpPr>
        <p:spPr>
          <a:xfrm>
            <a:off x="8732520" y="2999232"/>
            <a:ext cx="3163824" cy="3200400"/>
          </a:xfrm>
          <a:prstGeom prst="rect">
            <a:avLst/>
          </a:prstGeom>
          <a:noFill/>
          <a:ln/>
        </p:spPr>
        <p:txBody>
          <a:bodyPr wrap="square" rtlCol="0" anchor="t"/>
          <a:lstStyle/>
          <a:p>
            <a:pPr indent="0" marL="0">
              <a:buNone/>
            </a:pPr>
            <a:r>
              <a:rPr lang="en-US" sz="1100" dirty="0">
                <a:solidFill>
                  <a:srgbClr val="1C1C1C"/>
                </a:solidFill>
                <a:latin typeface="Calibri" pitchFamily="34" charset="0"/>
                <a:ea typeface="Calibri" pitchFamily="34" charset="-122"/>
                <a:cs typeface="Calibri" pitchFamily="34" charset="-120"/>
              </a:rPr>
              <a:t>Every constant and computation must match Comanche 055 — bit for bit. Yet the overarching goal is readable, idiomatic Rust that any modern engineer can understand and maintain, not a line-for-line transliteration of 1960s opcodes.</a:t>
            </a:r>
            <a:endParaRPr lang="en-US" sz="1100" dirty="0"/>
          </a:p>
        </p:txBody>
      </p:sp>
      <p:sp>
        <p:nvSpPr>
          <p:cNvPr id="27" name="Shape 25"/>
          <p:cNvSpPr/>
          <p:nvPr/>
        </p:nvSpPr>
        <p:spPr>
          <a:xfrm>
            <a:off x="0" y="6656832"/>
            <a:ext cx="12188952" cy="201168"/>
          </a:xfrm>
          <a:prstGeom prst="rect">
            <a:avLst/>
          </a:prstGeom>
          <a:solidFill>
            <a:srgbClr val="005C58"/>
          </a:solidFill>
          <a:ln w="12700">
            <a:solidFill>
              <a:srgbClr val="005C58"/>
            </a:solidFill>
            <a:prstDash val="solid"/>
          </a:ln>
        </p:spPr>
      </p:sp>
      <p:sp>
        <p:nvSpPr>
          <p:cNvPr id="28" name="Text 26"/>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29" name="Text 27"/>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Why Rust?</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The only modern language that matches AGC constraints without a runtime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502920" y="1170432"/>
            <a:ext cx="3566160" cy="2514600"/>
          </a:xfrm>
          <a:prstGeom prst="roundRect">
            <a:avLst>
              <a:gd name="adj" fmla="val 3636"/>
            </a:avLst>
          </a:prstGeom>
          <a:solidFill>
            <a:srgbClr val="FFFFFF"/>
          </a:solidFill>
          <a:ln w="12700">
            <a:solidFill>
              <a:srgbClr val="1E6B9B"/>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502920" y="1170432"/>
            <a:ext cx="59436" cy="2514600"/>
          </a:xfrm>
          <a:prstGeom prst="roundRect">
            <a:avLst>
              <a:gd name="adj" fmla="val 61538"/>
            </a:avLst>
          </a:prstGeom>
          <a:solidFill>
            <a:srgbClr val="1E6B9B"/>
          </a:solidFill>
          <a:ln w="12700">
            <a:solidFill>
              <a:srgbClr val="1E6B9B"/>
            </a:solidFill>
            <a:prstDash val="solid"/>
          </a:ln>
        </p:spPr>
      </p:sp>
      <p:sp>
        <p:nvSpPr>
          <p:cNvPr id="8" name="Text 6"/>
          <p:cNvSpPr/>
          <p:nvPr/>
        </p:nvSpPr>
        <p:spPr>
          <a:xfrm>
            <a:off x="704088" y="1261872"/>
            <a:ext cx="3218688" cy="365760"/>
          </a:xfrm>
          <a:prstGeom prst="rect">
            <a:avLst/>
          </a:prstGeom>
          <a:noFill/>
          <a:ln/>
        </p:spPr>
        <p:txBody>
          <a:bodyPr wrap="square" rtlCol="0" anchor="ctr"/>
          <a:lstStyle/>
          <a:p>
            <a:pPr indent="0" marL="0">
              <a:buNone/>
            </a:pPr>
            <a:r>
              <a:rPr lang="en-US" sz="1300" b="1" dirty="0">
                <a:solidFill>
                  <a:srgbClr val="1E6B9B"/>
                </a:solidFill>
                <a:latin typeface="Calibri" pitchFamily="34" charset="0"/>
                <a:ea typeface="Calibri" pitchFamily="34" charset="-122"/>
                <a:cs typeface="Calibri" pitchFamily="34" charset="-120"/>
              </a:rPr>
              <a:t>no_std</a:t>
            </a:r>
            <a:endParaRPr lang="en-US" sz="1300" dirty="0"/>
          </a:p>
        </p:txBody>
      </p:sp>
      <p:sp>
        <p:nvSpPr>
          <p:cNvPr id="9" name="Text 7"/>
          <p:cNvSpPr/>
          <p:nvPr/>
        </p:nvSpPr>
        <p:spPr>
          <a:xfrm>
            <a:off x="704088" y="1645920"/>
            <a:ext cx="3218688" cy="1920240"/>
          </a:xfrm>
          <a:prstGeom prst="rect">
            <a:avLst/>
          </a:prstGeom>
          <a:noFill/>
          <a:ln/>
        </p:spPr>
        <p:txBody>
          <a:bodyPr wrap="square" rtlCol="0" anchor="t"/>
          <a:lstStyle/>
          <a:p>
            <a:pPr indent="0" marL="0">
              <a:buNone/>
            </a:pPr>
            <a:r>
              <a:rPr lang="en-US" sz="1050" dirty="0">
                <a:solidFill>
                  <a:srgbClr val="1C1C1C"/>
                </a:solidFill>
                <a:latin typeface="Calibri" pitchFamily="34" charset="0"/>
                <a:ea typeface="Calibri" pitchFamily="34" charset="-122"/>
                <a:cs typeface="Calibri" pitchFamily="34" charset="-120"/>
              </a:rPr>
              <a:t>Compiles to bare metal with no OS, no heap. Matches the AGC environment exactly — the right foundation for a real-time embedded port.</a:t>
            </a:r>
            <a:endParaRPr lang="en-US" sz="1050" dirty="0"/>
          </a:p>
        </p:txBody>
      </p:sp>
      <p:sp>
        <p:nvSpPr>
          <p:cNvPr id="10" name="Shape 8"/>
          <p:cNvSpPr/>
          <p:nvPr/>
        </p:nvSpPr>
        <p:spPr>
          <a:xfrm>
            <a:off x="4480560" y="1170432"/>
            <a:ext cx="3566160" cy="2514600"/>
          </a:xfrm>
          <a:prstGeom prst="roundRect">
            <a:avLst>
              <a:gd name="adj" fmla="val 3636"/>
            </a:avLst>
          </a:prstGeom>
          <a:solidFill>
            <a:srgbClr val="FFFFFF"/>
          </a:solidFill>
          <a:ln w="12700">
            <a:solidFill>
              <a:srgbClr val="0D9488"/>
            </a:solidFill>
            <a:prstDash val="solid"/>
          </a:ln>
          <a:effectLst>
            <a:outerShdw sx="100000" sy="100000" kx="0" ky="0" algn="bl" rotWithShape="0" blurRad="76200" dist="38100" dir="2700000">
              <a:srgbClr val="000000">
                <a:alpha val="10000"/>
              </a:srgbClr>
            </a:outerShdw>
          </a:effectLst>
        </p:spPr>
      </p:sp>
      <p:sp>
        <p:nvSpPr>
          <p:cNvPr id="11" name="Shape 9"/>
          <p:cNvSpPr/>
          <p:nvPr/>
        </p:nvSpPr>
        <p:spPr>
          <a:xfrm>
            <a:off x="4480560" y="1170432"/>
            <a:ext cx="59436" cy="2514600"/>
          </a:xfrm>
          <a:prstGeom prst="roundRect">
            <a:avLst>
              <a:gd name="adj" fmla="val 61538"/>
            </a:avLst>
          </a:prstGeom>
          <a:solidFill>
            <a:srgbClr val="0D9488"/>
          </a:solidFill>
          <a:ln w="12700">
            <a:solidFill>
              <a:srgbClr val="0D9488"/>
            </a:solidFill>
            <a:prstDash val="solid"/>
          </a:ln>
        </p:spPr>
      </p:sp>
      <p:sp>
        <p:nvSpPr>
          <p:cNvPr id="12" name="Text 10"/>
          <p:cNvSpPr/>
          <p:nvPr/>
        </p:nvSpPr>
        <p:spPr>
          <a:xfrm>
            <a:off x="4681728" y="1261872"/>
            <a:ext cx="3218688" cy="365760"/>
          </a:xfrm>
          <a:prstGeom prst="rect">
            <a:avLst/>
          </a:prstGeom>
          <a:noFill/>
          <a:ln/>
        </p:spPr>
        <p:txBody>
          <a:bodyPr wrap="square"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Memory Safety</a:t>
            </a:r>
            <a:endParaRPr lang="en-US" sz="1300" dirty="0"/>
          </a:p>
        </p:txBody>
      </p:sp>
      <p:sp>
        <p:nvSpPr>
          <p:cNvPr id="13" name="Text 11"/>
          <p:cNvSpPr/>
          <p:nvPr/>
        </p:nvSpPr>
        <p:spPr>
          <a:xfrm>
            <a:off x="4681728" y="1645920"/>
            <a:ext cx="3218688" cy="1920240"/>
          </a:xfrm>
          <a:prstGeom prst="rect">
            <a:avLst/>
          </a:prstGeom>
          <a:noFill/>
          <a:ln/>
        </p:spPr>
        <p:txBody>
          <a:bodyPr wrap="square" rtlCol="0" anchor="t"/>
          <a:lstStyle/>
          <a:p>
            <a:pPr indent="0" marL="0">
              <a:buNone/>
            </a:pPr>
            <a:r>
              <a:rPr lang="en-US" sz="1050" dirty="0">
                <a:solidFill>
                  <a:srgbClr val="1C1C1C"/>
                </a:solidFill>
                <a:latin typeface="Calibri" pitchFamily="34" charset="0"/>
                <a:ea typeface="Calibri" pitchFamily="34" charset="-122"/>
                <a:cs typeface="Calibri" pitchFamily="34" charset="-120"/>
              </a:rPr>
              <a:t>Ownership and borrow checker eliminate whole classes of bugs without garbage collection overhead or runtime costs.</a:t>
            </a:r>
            <a:endParaRPr lang="en-US" sz="1050" dirty="0"/>
          </a:p>
        </p:txBody>
      </p:sp>
      <p:sp>
        <p:nvSpPr>
          <p:cNvPr id="14" name="Shape 12"/>
          <p:cNvSpPr/>
          <p:nvPr/>
        </p:nvSpPr>
        <p:spPr>
          <a:xfrm>
            <a:off x="8458200" y="1170432"/>
            <a:ext cx="3566160" cy="2514600"/>
          </a:xfrm>
          <a:prstGeom prst="roundRect">
            <a:avLst>
              <a:gd name="adj" fmla="val 3636"/>
            </a:avLst>
          </a:prstGeom>
          <a:solidFill>
            <a:srgbClr val="FFFFFF"/>
          </a:solidFill>
          <a:ln w="12700">
            <a:solidFill>
              <a:srgbClr val="D4920A"/>
            </a:solidFill>
            <a:prstDash val="solid"/>
          </a:ln>
          <a:effectLst>
            <a:outerShdw sx="100000" sy="100000" kx="0" ky="0" algn="bl" rotWithShape="0" blurRad="76200" dist="38100" dir="2700000">
              <a:srgbClr val="000000">
                <a:alpha val="10000"/>
              </a:srgbClr>
            </a:outerShdw>
          </a:effectLst>
        </p:spPr>
      </p:sp>
      <p:sp>
        <p:nvSpPr>
          <p:cNvPr id="15" name="Shape 13"/>
          <p:cNvSpPr/>
          <p:nvPr/>
        </p:nvSpPr>
        <p:spPr>
          <a:xfrm>
            <a:off x="8458200" y="1170432"/>
            <a:ext cx="59436" cy="2514600"/>
          </a:xfrm>
          <a:prstGeom prst="roundRect">
            <a:avLst>
              <a:gd name="adj" fmla="val 61538"/>
            </a:avLst>
          </a:prstGeom>
          <a:solidFill>
            <a:srgbClr val="D4920A"/>
          </a:solidFill>
          <a:ln w="12700">
            <a:solidFill>
              <a:srgbClr val="D4920A"/>
            </a:solidFill>
            <a:prstDash val="solid"/>
          </a:ln>
        </p:spPr>
      </p:sp>
      <p:sp>
        <p:nvSpPr>
          <p:cNvPr id="16" name="Text 14"/>
          <p:cNvSpPr/>
          <p:nvPr/>
        </p:nvSpPr>
        <p:spPr>
          <a:xfrm>
            <a:off x="8659368" y="1261872"/>
            <a:ext cx="3218688" cy="365760"/>
          </a:xfrm>
          <a:prstGeom prst="rect">
            <a:avLst/>
          </a:prstGeom>
          <a:noFill/>
          <a:ln/>
        </p:spPr>
        <p:txBody>
          <a:bodyPr wrap="square" rtlCol="0" anchor="ctr"/>
          <a:lstStyle/>
          <a:p>
            <a:pPr indent="0" marL="0">
              <a:buNone/>
            </a:pPr>
            <a:r>
              <a:rPr lang="en-US" sz="1300" b="1" dirty="0">
                <a:solidFill>
                  <a:srgbClr val="D4920A"/>
                </a:solidFill>
                <a:latin typeface="Calibri" pitchFamily="34" charset="0"/>
                <a:ea typeface="Calibri" pitchFamily="34" charset="-122"/>
                <a:cs typeface="Calibri" pitchFamily="34" charset="-120"/>
              </a:rPr>
              <a:t>Zero-Cost</a:t>
            </a:r>
            <a:endParaRPr lang="en-US" sz="1300" dirty="0"/>
          </a:p>
        </p:txBody>
      </p:sp>
      <p:sp>
        <p:nvSpPr>
          <p:cNvPr id="17" name="Text 15"/>
          <p:cNvSpPr/>
          <p:nvPr/>
        </p:nvSpPr>
        <p:spPr>
          <a:xfrm>
            <a:off x="8659368" y="1645920"/>
            <a:ext cx="3218688" cy="1920240"/>
          </a:xfrm>
          <a:prstGeom prst="rect">
            <a:avLst/>
          </a:prstGeom>
          <a:noFill/>
          <a:ln/>
        </p:spPr>
        <p:txBody>
          <a:bodyPr wrap="square" rtlCol="0" anchor="t"/>
          <a:lstStyle/>
          <a:p>
            <a:pPr indent="0" marL="0">
              <a:buNone/>
            </a:pPr>
            <a:r>
              <a:rPr lang="en-US" sz="1050" dirty="0">
                <a:solidFill>
                  <a:srgbClr val="1C1C1C"/>
                </a:solidFill>
                <a:latin typeface="Calibri" pitchFamily="34" charset="0"/>
                <a:ea typeface="Calibri" pitchFamily="34" charset="-122"/>
                <a:cs typeface="Calibri" pitchFamily="34" charset="-120"/>
              </a:rPr>
              <a:t>Enums, traits, and iterators are abstractions that compile away entirely. There is no hidden runtime — what you see is what runs.</a:t>
            </a:r>
            <a:endParaRPr lang="en-US" sz="1050" dirty="0"/>
          </a:p>
        </p:txBody>
      </p:sp>
      <p:sp>
        <p:nvSpPr>
          <p:cNvPr id="18" name="Shape 16"/>
          <p:cNvSpPr/>
          <p:nvPr/>
        </p:nvSpPr>
        <p:spPr>
          <a:xfrm>
            <a:off x="502920" y="3941064"/>
            <a:ext cx="3566160" cy="2514600"/>
          </a:xfrm>
          <a:prstGeom prst="roundRect">
            <a:avLst>
              <a:gd name="adj" fmla="val 3636"/>
            </a:avLst>
          </a:prstGeom>
          <a:solidFill>
            <a:srgbClr val="FFFFFF"/>
          </a:solidFill>
          <a:ln w="12700">
            <a:solidFill>
              <a:srgbClr val="7B2FBE"/>
            </a:solidFill>
            <a:prstDash val="solid"/>
          </a:ln>
          <a:effectLst>
            <a:outerShdw sx="100000" sy="100000" kx="0" ky="0" algn="bl" rotWithShape="0" blurRad="76200" dist="38100" dir="2700000">
              <a:srgbClr val="000000">
                <a:alpha val="10000"/>
              </a:srgbClr>
            </a:outerShdw>
          </a:effectLst>
        </p:spPr>
      </p:sp>
      <p:sp>
        <p:nvSpPr>
          <p:cNvPr id="19" name="Shape 17"/>
          <p:cNvSpPr/>
          <p:nvPr/>
        </p:nvSpPr>
        <p:spPr>
          <a:xfrm>
            <a:off x="502920" y="3941064"/>
            <a:ext cx="59436" cy="2514600"/>
          </a:xfrm>
          <a:prstGeom prst="roundRect">
            <a:avLst>
              <a:gd name="adj" fmla="val 61538"/>
            </a:avLst>
          </a:prstGeom>
          <a:solidFill>
            <a:srgbClr val="7B2FBE"/>
          </a:solidFill>
          <a:ln w="12700">
            <a:solidFill>
              <a:srgbClr val="7B2FBE"/>
            </a:solidFill>
            <a:prstDash val="solid"/>
          </a:ln>
        </p:spPr>
      </p:sp>
      <p:sp>
        <p:nvSpPr>
          <p:cNvPr id="20" name="Text 18"/>
          <p:cNvSpPr/>
          <p:nvPr/>
        </p:nvSpPr>
        <p:spPr>
          <a:xfrm>
            <a:off x="704088" y="4032504"/>
            <a:ext cx="3218688" cy="365760"/>
          </a:xfrm>
          <a:prstGeom prst="rect">
            <a:avLst/>
          </a:prstGeom>
          <a:noFill/>
          <a:ln/>
        </p:spPr>
        <p:txBody>
          <a:bodyPr wrap="square" rtlCol="0" anchor="ctr"/>
          <a:lstStyle/>
          <a:p>
            <a:pPr indent="0" marL="0">
              <a:buNone/>
            </a:pPr>
            <a:r>
              <a:rPr lang="en-US" sz="1300" b="1" dirty="0">
                <a:solidFill>
                  <a:srgbClr val="7B2FBE"/>
                </a:solidFill>
                <a:latin typeface="Calibri" pitchFamily="34" charset="0"/>
                <a:ea typeface="Calibri" pitchFamily="34" charset="-122"/>
                <a:cs typeface="Calibri" pitchFamily="34" charset="-120"/>
              </a:rPr>
              <a:t>Type System</a:t>
            </a:r>
            <a:endParaRPr lang="en-US" sz="1300" dirty="0"/>
          </a:p>
        </p:txBody>
      </p:sp>
      <p:sp>
        <p:nvSpPr>
          <p:cNvPr id="21" name="Text 19"/>
          <p:cNvSpPr/>
          <p:nvPr/>
        </p:nvSpPr>
        <p:spPr>
          <a:xfrm>
            <a:off x="704088" y="4416552"/>
            <a:ext cx="3218688" cy="1920240"/>
          </a:xfrm>
          <a:prstGeom prst="rect">
            <a:avLst/>
          </a:prstGeom>
          <a:noFill/>
          <a:ln/>
        </p:spPr>
        <p:txBody>
          <a:bodyPr wrap="square" rtlCol="0" anchor="t"/>
          <a:lstStyle/>
          <a:p>
            <a:pPr indent="0" marL="0">
              <a:buNone/>
            </a:pPr>
            <a:r>
              <a:rPr lang="en-US" sz="1050" dirty="0">
                <a:solidFill>
                  <a:srgbClr val="1C1C1C"/>
                </a:solidFill>
                <a:latin typeface="Calibri" pitchFamily="34" charset="0"/>
                <a:ea typeface="Calibri" pitchFamily="34" charset="-122"/>
                <a:cs typeface="Calibri" pitchFamily="34" charset="-120"/>
              </a:rPr>
              <a:t>Fixed-width integers and custom newtypes (i15, u15) express AGC word semantics explicitly, catching numerical errors at compile time.</a:t>
            </a:r>
            <a:endParaRPr lang="en-US" sz="1050" dirty="0"/>
          </a:p>
        </p:txBody>
      </p:sp>
      <p:sp>
        <p:nvSpPr>
          <p:cNvPr id="22" name="Shape 20"/>
          <p:cNvSpPr/>
          <p:nvPr/>
        </p:nvSpPr>
        <p:spPr>
          <a:xfrm>
            <a:off x="4480560" y="3941064"/>
            <a:ext cx="3566160" cy="2514600"/>
          </a:xfrm>
          <a:prstGeom prst="roundRect">
            <a:avLst>
              <a:gd name="adj" fmla="val 3636"/>
            </a:avLst>
          </a:prstGeom>
          <a:solidFill>
            <a:srgbClr val="FFFFFF"/>
          </a:solidFill>
          <a:ln w="12700">
            <a:solidFill>
              <a:srgbClr val="B83232"/>
            </a:solidFill>
            <a:prstDash val="solid"/>
          </a:ln>
          <a:effectLst>
            <a:outerShdw sx="100000" sy="100000" kx="0" ky="0" algn="bl" rotWithShape="0" blurRad="76200" dist="38100" dir="2700000">
              <a:srgbClr val="000000">
                <a:alpha val="10000"/>
              </a:srgbClr>
            </a:outerShdw>
          </a:effectLst>
        </p:spPr>
      </p:sp>
      <p:sp>
        <p:nvSpPr>
          <p:cNvPr id="23" name="Shape 21"/>
          <p:cNvSpPr/>
          <p:nvPr/>
        </p:nvSpPr>
        <p:spPr>
          <a:xfrm>
            <a:off x="4480560" y="3941064"/>
            <a:ext cx="59436" cy="2514600"/>
          </a:xfrm>
          <a:prstGeom prst="roundRect">
            <a:avLst>
              <a:gd name="adj" fmla="val 61538"/>
            </a:avLst>
          </a:prstGeom>
          <a:solidFill>
            <a:srgbClr val="B83232"/>
          </a:solidFill>
          <a:ln w="12700">
            <a:solidFill>
              <a:srgbClr val="B83232"/>
            </a:solidFill>
            <a:prstDash val="solid"/>
          </a:ln>
        </p:spPr>
      </p:sp>
      <p:sp>
        <p:nvSpPr>
          <p:cNvPr id="24" name="Text 22"/>
          <p:cNvSpPr/>
          <p:nvPr/>
        </p:nvSpPr>
        <p:spPr>
          <a:xfrm>
            <a:off x="4681728" y="4032504"/>
            <a:ext cx="3218688" cy="365760"/>
          </a:xfrm>
          <a:prstGeom prst="rect">
            <a:avLst/>
          </a:prstGeom>
          <a:noFill/>
          <a:ln/>
        </p:spPr>
        <p:txBody>
          <a:bodyPr wrap="square" rtlCol="0" anchor="ctr"/>
          <a:lstStyle/>
          <a:p>
            <a:pPr indent="0" marL="0">
              <a:buNone/>
            </a:pPr>
            <a:r>
              <a:rPr lang="en-US" sz="1300" b="1" dirty="0">
                <a:solidFill>
                  <a:srgbClr val="B83232"/>
                </a:solidFill>
                <a:latin typeface="Calibri" pitchFamily="34" charset="0"/>
                <a:ea typeface="Calibri" pitchFamily="34" charset="-122"/>
                <a:cs typeface="Calibri" pitchFamily="34" charset="-120"/>
              </a:rPr>
              <a:t>Testability</a:t>
            </a:r>
            <a:endParaRPr lang="en-US" sz="1300" dirty="0"/>
          </a:p>
        </p:txBody>
      </p:sp>
      <p:sp>
        <p:nvSpPr>
          <p:cNvPr id="25" name="Text 23"/>
          <p:cNvSpPr/>
          <p:nvPr/>
        </p:nvSpPr>
        <p:spPr>
          <a:xfrm>
            <a:off x="4681728" y="4416552"/>
            <a:ext cx="3218688" cy="1920240"/>
          </a:xfrm>
          <a:prstGeom prst="rect">
            <a:avLst/>
          </a:prstGeom>
          <a:noFill/>
          <a:ln/>
        </p:spPr>
        <p:txBody>
          <a:bodyPr wrap="square" rtlCol="0" anchor="t"/>
          <a:lstStyle/>
          <a:p>
            <a:pPr indent="0" marL="0">
              <a:buNone/>
            </a:pPr>
            <a:r>
              <a:rPr lang="en-US" sz="1050" dirty="0">
                <a:solidFill>
                  <a:srgbClr val="1C1C1C"/>
                </a:solidFill>
                <a:latin typeface="Calibri" pitchFamily="34" charset="0"/>
                <a:ea typeface="Calibri" pitchFamily="34" charset="-122"/>
                <a:cs typeface="Calibri" pitchFamily="34" charset="-120"/>
              </a:rPr>
              <a:t>#[test] and cargo test give instant feedback. The original AGC had no unit tests. Our port has 207 — all green.</a:t>
            </a:r>
            <a:endParaRPr lang="en-US" sz="1050" dirty="0"/>
          </a:p>
        </p:txBody>
      </p:sp>
      <p:sp>
        <p:nvSpPr>
          <p:cNvPr id="26" name="Shape 24"/>
          <p:cNvSpPr/>
          <p:nvPr/>
        </p:nvSpPr>
        <p:spPr>
          <a:xfrm>
            <a:off x="8458200" y="3941064"/>
            <a:ext cx="3566160" cy="2514600"/>
          </a:xfrm>
          <a:prstGeom prst="roundRect">
            <a:avLst>
              <a:gd name="adj" fmla="val 3636"/>
            </a:avLst>
          </a:prstGeom>
          <a:solidFill>
            <a:srgbClr val="FFFFFF"/>
          </a:solidFill>
          <a:ln w="12700">
            <a:solidFill>
              <a:srgbClr val="C45200"/>
            </a:solidFill>
            <a:prstDash val="solid"/>
          </a:ln>
          <a:effectLst>
            <a:outerShdw sx="100000" sy="100000" kx="0" ky="0" algn="bl" rotWithShape="0" blurRad="76200" dist="38100" dir="2700000">
              <a:srgbClr val="000000">
                <a:alpha val="10000"/>
              </a:srgbClr>
            </a:outerShdw>
          </a:effectLst>
        </p:spPr>
      </p:sp>
      <p:sp>
        <p:nvSpPr>
          <p:cNvPr id="27" name="Shape 25"/>
          <p:cNvSpPr/>
          <p:nvPr/>
        </p:nvSpPr>
        <p:spPr>
          <a:xfrm>
            <a:off x="8458200" y="3941064"/>
            <a:ext cx="59436" cy="2514600"/>
          </a:xfrm>
          <a:prstGeom prst="roundRect">
            <a:avLst>
              <a:gd name="adj" fmla="val 61538"/>
            </a:avLst>
          </a:prstGeom>
          <a:solidFill>
            <a:srgbClr val="C45200"/>
          </a:solidFill>
          <a:ln w="12700">
            <a:solidFill>
              <a:srgbClr val="C45200"/>
            </a:solidFill>
            <a:prstDash val="solid"/>
          </a:ln>
        </p:spPr>
      </p:sp>
      <p:sp>
        <p:nvSpPr>
          <p:cNvPr id="28" name="Text 26"/>
          <p:cNvSpPr/>
          <p:nvPr/>
        </p:nvSpPr>
        <p:spPr>
          <a:xfrm>
            <a:off x="8659368" y="4032504"/>
            <a:ext cx="3218688" cy="365760"/>
          </a:xfrm>
          <a:prstGeom prst="rect">
            <a:avLst/>
          </a:prstGeom>
          <a:noFill/>
          <a:ln/>
        </p:spPr>
        <p:txBody>
          <a:bodyPr wrap="square" rtlCol="0" anchor="ctr"/>
          <a:lstStyle/>
          <a:p>
            <a:pPr indent="0" marL="0">
              <a:buNone/>
            </a:pPr>
            <a:r>
              <a:rPr lang="en-US" sz="1300" b="1" dirty="0">
                <a:solidFill>
                  <a:srgbClr val="C45200"/>
                </a:solidFill>
                <a:latin typeface="Calibri" pitchFamily="34" charset="0"/>
                <a:ea typeface="Calibri" pitchFamily="34" charset="-122"/>
                <a:cs typeface="Calibri" pitchFamily="34" charset="-120"/>
              </a:rPr>
              <a:t>Readability</a:t>
            </a:r>
            <a:endParaRPr lang="en-US" sz="1300" dirty="0"/>
          </a:p>
        </p:txBody>
      </p:sp>
      <p:sp>
        <p:nvSpPr>
          <p:cNvPr id="29" name="Text 27"/>
          <p:cNvSpPr/>
          <p:nvPr/>
        </p:nvSpPr>
        <p:spPr>
          <a:xfrm>
            <a:off x="8659368" y="4416552"/>
            <a:ext cx="3218688" cy="1920240"/>
          </a:xfrm>
          <a:prstGeom prst="rect">
            <a:avLst/>
          </a:prstGeom>
          <a:noFill/>
          <a:ln/>
        </p:spPr>
        <p:txBody>
          <a:bodyPr wrap="square" rtlCol="0" anchor="t"/>
          <a:lstStyle/>
          <a:p>
            <a:pPr indent="0" marL="0">
              <a:buNone/>
            </a:pPr>
            <a:r>
              <a:rPr lang="en-US" sz="1050" dirty="0">
                <a:solidFill>
                  <a:srgbClr val="1C1C1C"/>
                </a:solidFill>
                <a:latin typeface="Calibri" pitchFamily="34" charset="0"/>
                <a:ea typeface="Calibri" pitchFamily="34" charset="-122"/>
                <a:cs typeface="Calibri" pitchFamily="34" charset="-120"/>
              </a:rPr>
              <a:t>Modules, doc-comments, and meaningful names restore the abstraction layer that was lost when assembly was the only option.</a:t>
            </a:r>
            <a:endParaRPr lang="en-US" sz="1050" dirty="0"/>
          </a:p>
        </p:txBody>
      </p:sp>
      <p:sp>
        <p:nvSpPr>
          <p:cNvPr id="30" name="Shape 28"/>
          <p:cNvSpPr/>
          <p:nvPr/>
        </p:nvSpPr>
        <p:spPr>
          <a:xfrm>
            <a:off x="0" y="6656832"/>
            <a:ext cx="12188952" cy="201168"/>
          </a:xfrm>
          <a:prstGeom prst="rect">
            <a:avLst/>
          </a:prstGeom>
          <a:solidFill>
            <a:srgbClr val="005C58"/>
          </a:solidFill>
          <a:ln w="12700">
            <a:solidFill>
              <a:srgbClr val="005C58"/>
            </a:solidFill>
            <a:prstDash val="solid"/>
          </a:ln>
        </p:spPr>
      </p:sp>
      <p:sp>
        <p:nvSpPr>
          <p:cNvPr id="31" name="Text 29"/>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32" name="Text 30"/>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sp>
      <p:sp>
        <p:nvSpPr>
          <p:cNvPr id="4" name="Text 2"/>
          <p:cNvSpPr/>
          <p:nvPr/>
        </p:nvSpPr>
        <p:spPr>
          <a:xfrm>
            <a:off x="8044708" y="0"/>
            <a:ext cx="4144244" cy="6858000"/>
          </a:xfrm>
          <a:prstGeom prst="rect">
            <a:avLst/>
          </a:prstGeom>
          <a:noFill/>
          <a:ln/>
        </p:spPr>
        <p:txBody>
          <a:bodyPr wrap="square" rtlCol="0" anchor="ctr"/>
          <a:lstStyle/>
          <a:p>
            <a:pPr algn="ctr" indent="0" marL="0">
              <a:buNone/>
            </a:pPr>
            <a:r>
              <a:rPr lang="en-US" sz="16000" b="1" dirty="0">
                <a:solidFill>
                  <a:srgbClr val="005C58"/>
                </a:solidFill>
                <a:latin typeface="Calibri" pitchFamily="34" charset="0"/>
                <a:ea typeface="Calibri" pitchFamily="34" charset="-122"/>
                <a:cs typeface="Calibri" pitchFamily="34" charset="-120"/>
              </a:rPr>
              <a:t>03</a:t>
            </a:r>
            <a:endParaRPr lang="en-US" sz="16000" dirty="0"/>
          </a:p>
        </p:txBody>
      </p:sp>
      <p:sp>
        <p:nvSpPr>
          <p:cNvPr id="5" name="Shape 3"/>
          <p:cNvSpPr/>
          <p:nvPr/>
        </p:nvSpPr>
        <p:spPr>
          <a:xfrm>
            <a:off x="777240" y="2926080"/>
            <a:ext cx="868680" cy="868680"/>
          </a:xfrm>
          <a:prstGeom prst="ellipse">
            <a:avLst/>
          </a:prstGeom>
          <a:solidFill>
            <a:srgbClr val="00A9A3"/>
          </a:solidFill>
          <a:ln w="12700">
            <a:solidFill>
              <a:srgbClr val="00A9A3"/>
            </a:solidFill>
            <a:prstDash val="solid"/>
          </a:ln>
        </p:spPr>
      </p:sp>
      <p:sp>
        <p:nvSpPr>
          <p:cNvPr id="6" name="Text 4"/>
          <p:cNvSpPr/>
          <p:nvPr/>
        </p:nvSpPr>
        <p:spPr>
          <a:xfrm>
            <a:off x="777240" y="2926080"/>
            <a:ext cx="868680" cy="8686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7" name="Text 5"/>
          <p:cNvSpPr/>
          <p:nvPr/>
        </p:nvSpPr>
        <p:spPr>
          <a:xfrm>
            <a:off x="1920240" y="2743200"/>
            <a:ext cx="7313371" cy="749808"/>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AI-Powered Transformation</a:t>
            </a:r>
            <a:endParaRPr lang="en-US" sz="3400" dirty="0"/>
          </a:p>
        </p:txBody>
      </p:sp>
      <p:sp>
        <p:nvSpPr>
          <p:cNvPr id="8" name="Text 6"/>
          <p:cNvSpPr/>
          <p:nvPr/>
        </p:nvSpPr>
        <p:spPr>
          <a:xfrm>
            <a:off x="1920240" y="3566160"/>
            <a:ext cx="7313371" cy="411480"/>
          </a:xfrm>
          <a:prstGeom prst="rect">
            <a:avLst/>
          </a:prstGeom>
          <a:noFill/>
          <a:ln/>
        </p:spPr>
        <p:txBody>
          <a:bodyPr wrap="square" rtlCol="0" anchor="ctr"/>
          <a:lstStyle/>
          <a:p>
            <a:pPr indent="0" marL="0">
              <a:buNone/>
            </a:pPr>
            <a:r>
              <a:rPr lang="en-US" sz="1350" dirty="0">
                <a:solidFill>
                  <a:srgbClr val="00A9A3"/>
                </a:solidFill>
                <a:latin typeface="Calibri" pitchFamily="34" charset="0"/>
                <a:ea typeface="Calibri" pitchFamily="34" charset="-122"/>
                <a:cs typeface="Calibri" pitchFamily="34" charset="-120"/>
              </a:rPr>
              <a:t>A multi-agent pipeline driven by Claude Code</a:t>
            </a:r>
            <a:endParaRPr lang="en-US" sz="1350" dirty="0"/>
          </a:p>
        </p:txBody>
      </p:sp>
      <p:sp>
        <p:nvSpPr>
          <p:cNvPr id="9" name="Text 7"/>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0" name="Shape 8"/>
          <p:cNvSpPr/>
          <p:nvPr/>
        </p:nvSpPr>
        <p:spPr>
          <a:xfrm>
            <a:off x="0" y="6656832"/>
            <a:ext cx="12188952" cy="201168"/>
          </a:xfrm>
          <a:prstGeom prst="rect">
            <a:avLst/>
          </a:prstGeom>
          <a:solidFill>
            <a:srgbClr val="005C58"/>
          </a:solidFill>
          <a:ln w="12700">
            <a:solidFill>
              <a:srgbClr val="005C58"/>
            </a:solidFill>
            <a:prstDash val="solid"/>
          </a:ln>
        </p:spPr>
      </p:sp>
      <p:sp>
        <p:nvSpPr>
          <p:cNvPr id="11" name="Text 9"/>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2" name="Text 10"/>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The Multi-Agent Pipeline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Specialized AI agents with focused tools, coordinated by Claude Code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502920" y="1170432"/>
            <a:ext cx="3520440" cy="2487168"/>
          </a:xfrm>
          <a:prstGeom prst="roundRect">
            <a:avLst>
              <a:gd name="adj" fmla="val 3676"/>
            </a:avLst>
          </a:prstGeom>
          <a:solidFill>
            <a:srgbClr val="FFFFFF"/>
          </a:solidFill>
          <a:ln w="12700">
            <a:solidFill>
              <a:srgbClr val="1E6B9B"/>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502920" y="1170432"/>
            <a:ext cx="3520440" cy="50292"/>
          </a:xfrm>
          <a:prstGeom prst="roundRect">
            <a:avLst>
              <a:gd name="adj" fmla="val 90909"/>
            </a:avLst>
          </a:prstGeom>
          <a:solidFill>
            <a:srgbClr val="1E6B9B"/>
          </a:solidFill>
          <a:ln w="12700">
            <a:solidFill>
              <a:srgbClr val="1E6B9B"/>
            </a:solidFill>
            <a:prstDash val="solid"/>
          </a:ln>
        </p:spPr>
      </p:sp>
      <p:sp>
        <p:nvSpPr>
          <p:cNvPr id="8" name="Shape 6"/>
          <p:cNvSpPr/>
          <p:nvPr/>
        </p:nvSpPr>
        <p:spPr>
          <a:xfrm>
            <a:off x="3035808" y="1261872"/>
            <a:ext cx="850392" cy="256032"/>
          </a:xfrm>
          <a:prstGeom prst="roundRect">
            <a:avLst>
              <a:gd name="adj" fmla="val 21429"/>
            </a:avLst>
          </a:prstGeom>
          <a:solidFill>
            <a:srgbClr val="1E6B9B">
              <a:alpha val="12000"/>
            </a:srgbClr>
          </a:solidFill>
          <a:ln w="12700">
            <a:solidFill>
              <a:srgbClr val="1E6B9B"/>
            </a:solidFill>
            <a:prstDash val="solid"/>
          </a:ln>
        </p:spPr>
      </p:sp>
      <p:sp>
        <p:nvSpPr>
          <p:cNvPr id="9" name="Text 7"/>
          <p:cNvSpPr/>
          <p:nvPr/>
        </p:nvSpPr>
        <p:spPr>
          <a:xfrm>
            <a:off x="3035808" y="1261872"/>
            <a:ext cx="850392" cy="256032"/>
          </a:xfrm>
          <a:prstGeom prst="rect">
            <a:avLst/>
          </a:prstGeom>
          <a:noFill/>
          <a:ln/>
        </p:spPr>
        <p:txBody>
          <a:bodyPr wrap="square" rtlCol="0" anchor="ctr"/>
          <a:lstStyle/>
          <a:p>
            <a:pPr algn="ctr" indent="0" marL="0">
              <a:buNone/>
            </a:pPr>
            <a:r>
              <a:rPr lang="en-US" sz="800" dirty="0">
                <a:solidFill>
                  <a:srgbClr val="1E6B9B"/>
                </a:solidFill>
                <a:latin typeface="Calibri" pitchFamily="34" charset="0"/>
                <a:ea typeface="Calibri" pitchFamily="34" charset="-122"/>
                <a:cs typeface="Calibri" pitchFamily="34" charset="-120"/>
              </a:rPr>
              <a:t>sonnet</a:t>
            </a:r>
            <a:endParaRPr lang="en-US" sz="800" dirty="0"/>
          </a:p>
        </p:txBody>
      </p:sp>
      <p:sp>
        <p:nvSpPr>
          <p:cNvPr id="10" name="Text 8"/>
          <p:cNvSpPr/>
          <p:nvPr/>
        </p:nvSpPr>
        <p:spPr>
          <a:xfrm>
            <a:off x="630936" y="1261872"/>
            <a:ext cx="2350008" cy="274320"/>
          </a:xfrm>
          <a:prstGeom prst="rect">
            <a:avLst/>
          </a:prstGeom>
          <a:noFill/>
          <a:ln/>
        </p:spPr>
        <p:txBody>
          <a:bodyPr wrap="square" rtlCol="0" anchor="ctr"/>
          <a:lstStyle/>
          <a:p>
            <a:pPr indent="0" marL="0">
              <a:buNone/>
            </a:pPr>
            <a:r>
              <a:rPr lang="en-US" sz="1100" b="1" dirty="0">
                <a:solidFill>
                  <a:srgbClr val="1E6B9B"/>
                </a:solidFill>
                <a:latin typeface="Calibri" pitchFamily="34" charset="0"/>
                <a:ea typeface="Calibri" pitchFamily="34" charset="-122"/>
                <a:cs typeface="Calibri" pitchFamily="34" charset="-120"/>
              </a:rPr>
              <a:t>analyst-reengineer</a:t>
            </a:r>
            <a:endParaRPr lang="en-US" sz="1100" dirty="0"/>
          </a:p>
        </p:txBody>
      </p:sp>
      <p:sp>
        <p:nvSpPr>
          <p:cNvPr id="11" name="Text 9"/>
          <p:cNvSpPr/>
          <p:nvPr/>
        </p:nvSpPr>
        <p:spPr>
          <a:xfrm>
            <a:off x="630936" y="1572768"/>
            <a:ext cx="3264408" cy="960120"/>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Reads AGC assembly + reference docs. Produces functional specs per component.</a:t>
            </a:r>
            <a:endParaRPr lang="en-US" sz="950" dirty="0"/>
          </a:p>
        </p:txBody>
      </p:sp>
      <p:sp>
        <p:nvSpPr>
          <p:cNvPr id="12" name="Text 10"/>
          <p:cNvSpPr/>
          <p:nvPr/>
        </p:nvSpPr>
        <p:spPr>
          <a:xfrm>
            <a:off x="630936" y="3310128"/>
            <a:ext cx="3264408" cy="27432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Read · Glob · Grep · Write</a:t>
            </a:r>
            <a:endParaRPr lang="en-US" sz="850" dirty="0"/>
          </a:p>
        </p:txBody>
      </p:sp>
      <p:sp>
        <p:nvSpPr>
          <p:cNvPr id="13" name="Shape 11"/>
          <p:cNvSpPr/>
          <p:nvPr/>
        </p:nvSpPr>
        <p:spPr>
          <a:xfrm>
            <a:off x="4389120" y="1170432"/>
            <a:ext cx="3520440" cy="2487168"/>
          </a:xfrm>
          <a:prstGeom prst="roundRect">
            <a:avLst>
              <a:gd name="adj" fmla="val 3676"/>
            </a:avLst>
          </a:prstGeom>
          <a:solidFill>
            <a:srgbClr val="FFFFFF"/>
          </a:solidFill>
          <a:ln w="12700">
            <a:solidFill>
              <a:srgbClr val="7B2FBE"/>
            </a:solidFill>
            <a:prstDash val="solid"/>
          </a:ln>
          <a:effectLst>
            <a:outerShdw sx="100000" sy="100000" kx="0" ky="0" algn="bl" rotWithShape="0" blurRad="76200" dist="38100" dir="2700000">
              <a:srgbClr val="000000">
                <a:alpha val="10000"/>
              </a:srgbClr>
            </a:outerShdw>
          </a:effectLst>
        </p:spPr>
      </p:sp>
      <p:sp>
        <p:nvSpPr>
          <p:cNvPr id="14" name="Shape 12"/>
          <p:cNvSpPr/>
          <p:nvPr/>
        </p:nvSpPr>
        <p:spPr>
          <a:xfrm>
            <a:off x="4389120" y="1170432"/>
            <a:ext cx="3520440" cy="50292"/>
          </a:xfrm>
          <a:prstGeom prst="roundRect">
            <a:avLst>
              <a:gd name="adj" fmla="val 90909"/>
            </a:avLst>
          </a:prstGeom>
          <a:solidFill>
            <a:srgbClr val="7B2FBE"/>
          </a:solidFill>
          <a:ln w="12700">
            <a:solidFill>
              <a:srgbClr val="7B2FBE"/>
            </a:solidFill>
            <a:prstDash val="solid"/>
          </a:ln>
        </p:spPr>
      </p:sp>
      <p:sp>
        <p:nvSpPr>
          <p:cNvPr id="15" name="Shape 13"/>
          <p:cNvSpPr/>
          <p:nvPr/>
        </p:nvSpPr>
        <p:spPr>
          <a:xfrm>
            <a:off x="6922008" y="1261872"/>
            <a:ext cx="850392" cy="256032"/>
          </a:xfrm>
          <a:prstGeom prst="roundRect">
            <a:avLst>
              <a:gd name="adj" fmla="val 21429"/>
            </a:avLst>
          </a:prstGeom>
          <a:solidFill>
            <a:srgbClr val="7B2FBE">
              <a:alpha val="12000"/>
            </a:srgbClr>
          </a:solidFill>
          <a:ln w="12700">
            <a:solidFill>
              <a:srgbClr val="7B2FBE"/>
            </a:solidFill>
            <a:prstDash val="solid"/>
          </a:ln>
        </p:spPr>
      </p:sp>
      <p:sp>
        <p:nvSpPr>
          <p:cNvPr id="16" name="Text 14"/>
          <p:cNvSpPr/>
          <p:nvPr/>
        </p:nvSpPr>
        <p:spPr>
          <a:xfrm>
            <a:off x="6922008" y="1261872"/>
            <a:ext cx="850392" cy="256032"/>
          </a:xfrm>
          <a:prstGeom prst="rect">
            <a:avLst/>
          </a:prstGeom>
          <a:noFill/>
          <a:ln/>
        </p:spPr>
        <p:txBody>
          <a:bodyPr wrap="square" rtlCol="0" anchor="ctr"/>
          <a:lstStyle/>
          <a:p>
            <a:pPr algn="ctr" indent="0" marL="0">
              <a:buNone/>
            </a:pPr>
            <a:r>
              <a:rPr lang="en-US" sz="800" dirty="0">
                <a:solidFill>
                  <a:srgbClr val="7B2FBE"/>
                </a:solidFill>
                <a:latin typeface="Calibri" pitchFamily="34" charset="0"/>
                <a:ea typeface="Calibri" pitchFamily="34" charset="-122"/>
                <a:cs typeface="Calibri" pitchFamily="34" charset="-120"/>
              </a:rPr>
              <a:t>opus</a:t>
            </a:r>
            <a:endParaRPr lang="en-US" sz="800" dirty="0"/>
          </a:p>
        </p:txBody>
      </p:sp>
      <p:sp>
        <p:nvSpPr>
          <p:cNvPr id="17" name="Text 15"/>
          <p:cNvSpPr/>
          <p:nvPr/>
        </p:nvSpPr>
        <p:spPr>
          <a:xfrm>
            <a:off x="4517136" y="1261872"/>
            <a:ext cx="2350008" cy="274320"/>
          </a:xfrm>
          <a:prstGeom prst="rect">
            <a:avLst/>
          </a:prstGeom>
          <a:noFill/>
          <a:ln/>
        </p:spPr>
        <p:txBody>
          <a:bodyPr wrap="square" rtlCol="0" anchor="ctr"/>
          <a:lstStyle/>
          <a:p>
            <a:pPr indent="0" marL="0">
              <a:buNone/>
            </a:pPr>
            <a:r>
              <a:rPr lang="en-US" sz="1100" b="1" dirty="0">
                <a:solidFill>
                  <a:srgbClr val="7B2FBE"/>
                </a:solidFill>
                <a:latin typeface="Calibri" pitchFamily="34" charset="0"/>
                <a:ea typeface="Calibri" pitchFamily="34" charset="-122"/>
                <a:cs typeface="Calibri" pitchFamily="34" charset="-120"/>
              </a:rPr>
              <a:t>architect</a:t>
            </a:r>
            <a:endParaRPr lang="en-US" sz="1100" dirty="0"/>
          </a:p>
        </p:txBody>
      </p:sp>
      <p:sp>
        <p:nvSpPr>
          <p:cNvPr id="18" name="Text 16"/>
          <p:cNvSpPr/>
          <p:nvPr/>
        </p:nvSpPr>
        <p:spPr>
          <a:xfrm>
            <a:off x="4517136" y="1572768"/>
            <a:ext cx="3264408" cy="960120"/>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Designs Rust module structure, traits, and data types. Validates via Plan Mode.</a:t>
            </a:r>
            <a:endParaRPr lang="en-US" sz="950" dirty="0"/>
          </a:p>
        </p:txBody>
      </p:sp>
      <p:sp>
        <p:nvSpPr>
          <p:cNvPr id="19" name="Text 17"/>
          <p:cNvSpPr/>
          <p:nvPr/>
        </p:nvSpPr>
        <p:spPr>
          <a:xfrm>
            <a:off x="4517136" y="3310128"/>
            <a:ext cx="3264408" cy="27432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Read · Write · EnterPlanMode</a:t>
            </a:r>
            <a:endParaRPr lang="en-US" sz="850" dirty="0"/>
          </a:p>
        </p:txBody>
      </p:sp>
      <p:sp>
        <p:nvSpPr>
          <p:cNvPr id="20" name="Shape 18"/>
          <p:cNvSpPr/>
          <p:nvPr/>
        </p:nvSpPr>
        <p:spPr>
          <a:xfrm>
            <a:off x="8275320" y="1170432"/>
            <a:ext cx="3520440" cy="2487168"/>
          </a:xfrm>
          <a:prstGeom prst="roundRect">
            <a:avLst>
              <a:gd name="adj" fmla="val 3676"/>
            </a:avLst>
          </a:prstGeom>
          <a:solidFill>
            <a:srgbClr val="FFFFFF"/>
          </a:solidFill>
          <a:ln w="12700">
            <a:solidFill>
              <a:srgbClr val="D4920A"/>
            </a:solidFill>
            <a:prstDash val="solid"/>
          </a:ln>
          <a:effectLst>
            <a:outerShdw sx="100000" sy="100000" kx="0" ky="0" algn="bl" rotWithShape="0" blurRad="76200" dist="38100" dir="2700000">
              <a:srgbClr val="000000">
                <a:alpha val="10000"/>
              </a:srgbClr>
            </a:outerShdw>
          </a:effectLst>
        </p:spPr>
      </p:sp>
      <p:sp>
        <p:nvSpPr>
          <p:cNvPr id="21" name="Shape 19"/>
          <p:cNvSpPr/>
          <p:nvPr/>
        </p:nvSpPr>
        <p:spPr>
          <a:xfrm>
            <a:off x="8275320" y="1170432"/>
            <a:ext cx="3520440" cy="50292"/>
          </a:xfrm>
          <a:prstGeom prst="roundRect">
            <a:avLst>
              <a:gd name="adj" fmla="val 90909"/>
            </a:avLst>
          </a:prstGeom>
          <a:solidFill>
            <a:srgbClr val="D4920A"/>
          </a:solidFill>
          <a:ln w="12700">
            <a:solidFill>
              <a:srgbClr val="D4920A"/>
            </a:solidFill>
            <a:prstDash val="solid"/>
          </a:ln>
        </p:spPr>
      </p:sp>
      <p:sp>
        <p:nvSpPr>
          <p:cNvPr id="22" name="Shape 20"/>
          <p:cNvSpPr/>
          <p:nvPr/>
        </p:nvSpPr>
        <p:spPr>
          <a:xfrm>
            <a:off x="10808208" y="1261872"/>
            <a:ext cx="850392" cy="256032"/>
          </a:xfrm>
          <a:prstGeom prst="roundRect">
            <a:avLst>
              <a:gd name="adj" fmla="val 21429"/>
            </a:avLst>
          </a:prstGeom>
          <a:solidFill>
            <a:srgbClr val="D4920A">
              <a:alpha val="12000"/>
            </a:srgbClr>
          </a:solidFill>
          <a:ln w="12700">
            <a:solidFill>
              <a:srgbClr val="D4920A"/>
            </a:solidFill>
            <a:prstDash val="solid"/>
          </a:ln>
        </p:spPr>
      </p:sp>
      <p:sp>
        <p:nvSpPr>
          <p:cNvPr id="23" name="Text 21"/>
          <p:cNvSpPr/>
          <p:nvPr/>
        </p:nvSpPr>
        <p:spPr>
          <a:xfrm>
            <a:off x="10808208" y="1261872"/>
            <a:ext cx="850392" cy="256032"/>
          </a:xfrm>
          <a:prstGeom prst="rect">
            <a:avLst/>
          </a:prstGeom>
          <a:noFill/>
          <a:ln/>
        </p:spPr>
        <p:txBody>
          <a:bodyPr wrap="square" rtlCol="0" anchor="ctr"/>
          <a:lstStyle/>
          <a:p>
            <a:pPr algn="ctr" indent="0" marL="0">
              <a:buNone/>
            </a:pPr>
            <a:r>
              <a:rPr lang="en-US" sz="800" dirty="0">
                <a:solidFill>
                  <a:srgbClr val="D4920A"/>
                </a:solidFill>
                <a:latin typeface="Calibri" pitchFamily="34" charset="0"/>
                <a:ea typeface="Calibri" pitchFamily="34" charset="-122"/>
                <a:cs typeface="Calibri" pitchFamily="34" charset="-120"/>
              </a:rPr>
              <a:t>sonnet</a:t>
            </a:r>
            <a:endParaRPr lang="en-US" sz="800" dirty="0"/>
          </a:p>
        </p:txBody>
      </p:sp>
      <p:sp>
        <p:nvSpPr>
          <p:cNvPr id="24" name="Text 22"/>
          <p:cNvSpPr/>
          <p:nvPr/>
        </p:nvSpPr>
        <p:spPr>
          <a:xfrm>
            <a:off x="8403336" y="1261872"/>
            <a:ext cx="2350008" cy="274320"/>
          </a:xfrm>
          <a:prstGeom prst="rect">
            <a:avLst/>
          </a:prstGeom>
          <a:noFill/>
          <a:ln/>
        </p:spPr>
        <p:txBody>
          <a:bodyPr wrap="square" rtlCol="0" anchor="ctr"/>
          <a:lstStyle/>
          <a:p>
            <a:pPr indent="0" marL="0">
              <a:buNone/>
            </a:pPr>
            <a:r>
              <a:rPr lang="en-US" sz="1100" b="1" dirty="0">
                <a:solidFill>
                  <a:srgbClr val="D4920A"/>
                </a:solidFill>
                <a:latin typeface="Calibri" pitchFamily="34" charset="0"/>
                <a:ea typeface="Calibri" pitchFamily="34" charset="-122"/>
                <a:cs typeface="Calibri" pitchFamily="34" charset="-120"/>
              </a:rPr>
              <a:t>developer</a:t>
            </a:r>
            <a:endParaRPr lang="en-US" sz="1100" dirty="0"/>
          </a:p>
        </p:txBody>
      </p:sp>
      <p:sp>
        <p:nvSpPr>
          <p:cNvPr id="25" name="Text 23"/>
          <p:cNvSpPr/>
          <p:nvPr/>
        </p:nvSpPr>
        <p:spPr>
          <a:xfrm>
            <a:off x="8403336" y="1572768"/>
            <a:ext cx="3264408" cy="960120"/>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Implements idiomatic no_std Rust following specs and architecture decisions.</a:t>
            </a:r>
            <a:endParaRPr lang="en-US" sz="950" dirty="0"/>
          </a:p>
        </p:txBody>
      </p:sp>
      <p:sp>
        <p:nvSpPr>
          <p:cNvPr id="26" name="Text 24"/>
          <p:cNvSpPr/>
          <p:nvPr/>
        </p:nvSpPr>
        <p:spPr>
          <a:xfrm>
            <a:off x="8403336" y="3310128"/>
            <a:ext cx="3264408" cy="27432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Read · Edit · Write · Bash</a:t>
            </a:r>
            <a:endParaRPr lang="en-US" sz="850" dirty="0"/>
          </a:p>
        </p:txBody>
      </p:sp>
      <p:sp>
        <p:nvSpPr>
          <p:cNvPr id="27" name="Shape 25"/>
          <p:cNvSpPr/>
          <p:nvPr/>
        </p:nvSpPr>
        <p:spPr>
          <a:xfrm>
            <a:off x="502920" y="3913632"/>
            <a:ext cx="3520440" cy="2487168"/>
          </a:xfrm>
          <a:prstGeom prst="roundRect">
            <a:avLst>
              <a:gd name="adj" fmla="val 3676"/>
            </a:avLst>
          </a:prstGeom>
          <a:solidFill>
            <a:srgbClr val="FFFFFF"/>
          </a:solidFill>
          <a:ln w="12700">
            <a:solidFill>
              <a:srgbClr val="0D9488"/>
            </a:solidFill>
            <a:prstDash val="solid"/>
          </a:ln>
          <a:effectLst>
            <a:outerShdw sx="100000" sy="100000" kx="0" ky="0" algn="bl" rotWithShape="0" blurRad="76200" dist="38100" dir="2700000">
              <a:srgbClr val="000000">
                <a:alpha val="10000"/>
              </a:srgbClr>
            </a:outerShdw>
          </a:effectLst>
        </p:spPr>
      </p:sp>
      <p:sp>
        <p:nvSpPr>
          <p:cNvPr id="28" name="Shape 26"/>
          <p:cNvSpPr/>
          <p:nvPr/>
        </p:nvSpPr>
        <p:spPr>
          <a:xfrm>
            <a:off x="502920" y="3913632"/>
            <a:ext cx="3520440" cy="50292"/>
          </a:xfrm>
          <a:prstGeom prst="roundRect">
            <a:avLst>
              <a:gd name="adj" fmla="val 90909"/>
            </a:avLst>
          </a:prstGeom>
          <a:solidFill>
            <a:srgbClr val="0D9488"/>
          </a:solidFill>
          <a:ln w="12700">
            <a:solidFill>
              <a:srgbClr val="0D9488"/>
            </a:solidFill>
            <a:prstDash val="solid"/>
          </a:ln>
        </p:spPr>
      </p:sp>
      <p:sp>
        <p:nvSpPr>
          <p:cNvPr id="29" name="Shape 27"/>
          <p:cNvSpPr/>
          <p:nvPr/>
        </p:nvSpPr>
        <p:spPr>
          <a:xfrm>
            <a:off x="3035808" y="4005072"/>
            <a:ext cx="850392" cy="256032"/>
          </a:xfrm>
          <a:prstGeom prst="roundRect">
            <a:avLst>
              <a:gd name="adj" fmla="val 21429"/>
            </a:avLst>
          </a:prstGeom>
          <a:solidFill>
            <a:srgbClr val="0D9488">
              <a:alpha val="12000"/>
            </a:srgbClr>
          </a:solidFill>
          <a:ln w="12700">
            <a:solidFill>
              <a:srgbClr val="0D9488"/>
            </a:solidFill>
            <a:prstDash val="solid"/>
          </a:ln>
        </p:spPr>
      </p:sp>
      <p:sp>
        <p:nvSpPr>
          <p:cNvPr id="30" name="Text 28"/>
          <p:cNvSpPr/>
          <p:nvPr/>
        </p:nvSpPr>
        <p:spPr>
          <a:xfrm>
            <a:off x="3035808" y="4005072"/>
            <a:ext cx="850392" cy="256032"/>
          </a:xfrm>
          <a:prstGeom prst="rect">
            <a:avLst/>
          </a:prstGeom>
          <a:noFill/>
          <a:ln/>
        </p:spPr>
        <p:txBody>
          <a:bodyPr wrap="square" rtlCol="0" anchor="ctr"/>
          <a:lstStyle/>
          <a:p>
            <a:pPr algn="ctr" indent="0" marL="0">
              <a:buNone/>
            </a:pPr>
            <a:r>
              <a:rPr lang="en-US" sz="800" dirty="0">
                <a:solidFill>
                  <a:srgbClr val="0D9488"/>
                </a:solidFill>
                <a:latin typeface="Calibri" pitchFamily="34" charset="0"/>
                <a:ea typeface="Calibri" pitchFamily="34" charset="-122"/>
                <a:cs typeface="Calibri" pitchFamily="34" charset="-120"/>
              </a:rPr>
              <a:t>sonnet</a:t>
            </a:r>
            <a:endParaRPr lang="en-US" sz="800" dirty="0"/>
          </a:p>
        </p:txBody>
      </p:sp>
      <p:sp>
        <p:nvSpPr>
          <p:cNvPr id="31" name="Text 29"/>
          <p:cNvSpPr/>
          <p:nvPr/>
        </p:nvSpPr>
        <p:spPr>
          <a:xfrm>
            <a:off x="630936" y="4005072"/>
            <a:ext cx="2350008" cy="274320"/>
          </a:xfrm>
          <a:prstGeom prst="rect">
            <a:avLst/>
          </a:prstGeom>
          <a:noFill/>
          <a:ln/>
        </p:spPr>
        <p:txBody>
          <a:bodyPr wrap="square"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code-review</a:t>
            </a:r>
            <a:endParaRPr lang="en-US" sz="1100" dirty="0"/>
          </a:p>
        </p:txBody>
      </p:sp>
      <p:sp>
        <p:nvSpPr>
          <p:cNvPr id="32" name="Text 30"/>
          <p:cNvSpPr/>
          <p:nvPr/>
        </p:nvSpPr>
        <p:spPr>
          <a:xfrm>
            <a:off x="630936" y="4315968"/>
            <a:ext cx="3264408" cy="960120"/>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Validates every line against Comanche055. Files ADRs for all deviations.</a:t>
            </a:r>
            <a:endParaRPr lang="en-US" sz="950" dirty="0"/>
          </a:p>
        </p:txBody>
      </p:sp>
      <p:sp>
        <p:nvSpPr>
          <p:cNvPr id="33" name="Text 31"/>
          <p:cNvSpPr/>
          <p:nvPr/>
        </p:nvSpPr>
        <p:spPr>
          <a:xfrm>
            <a:off x="630936" y="6053328"/>
            <a:ext cx="3264408" cy="27432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Read · Grep · Write</a:t>
            </a:r>
            <a:endParaRPr lang="en-US" sz="850" dirty="0"/>
          </a:p>
        </p:txBody>
      </p:sp>
      <p:sp>
        <p:nvSpPr>
          <p:cNvPr id="34" name="Shape 32"/>
          <p:cNvSpPr/>
          <p:nvPr/>
        </p:nvSpPr>
        <p:spPr>
          <a:xfrm>
            <a:off x="4389120" y="3913632"/>
            <a:ext cx="3520440" cy="2487168"/>
          </a:xfrm>
          <a:prstGeom prst="roundRect">
            <a:avLst>
              <a:gd name="adj" fmla="val 3676"/>
            </a:avLst>
          </a:prstGeom>
          <a:solidFill>
            <a:srgbClr val="FFFFFF"/>
          </a:solidFill>
          <a:ln w="12700">
            <a:solidFill>
              <a:srgbClr val="2E7D32"/>
            </a:solidFill>
            <a:prstDash val="solid"/>
          </a:ln>
          <a:effectLst>
            <a:outerShdw sx="100000" sy="100000" kx="0" ky="0" algn="bl" rotWithShape="0" blurRad="76200" dist="38100" dir="2700000">
              <a:srgbClr val="000000">
                <a:alpha val="10000"/>
              </a:srgbClr>
            </a:outerShdw>
          </a:effectLst>
        </p:spPr>
      </p:sp>
      <p:sp>
        <p:nvSpPr>
          <p:cNvPr id="35" name="Shape 33"/>
          <p:cNvSpPr/>
          <p:nvPr/>
        </p:nvSpPr>
        <p:spPr>
          <a:xfrm>
            <a:off x="4389120" y="3913632"/>
            <a:ext cx="3520440" cy="50292"/>
          </a:xfrm>
          <a:prstGeom prst="roundRect">
            <a:avLst>
              <a:gd name="adj" fmla="val 90909"/>
            </a:avLst>
          </a:prstGeom>
          <a:solidFill>
            <a:srgbClr val="2E7D32"/>
          </a:solidFill>
          <a:ln w="12700">
            <a:solidFill>
              <a:srgbClr val="2E7D32"/>
            </a:solidFill>
            <a:prstDash val="solid"/>
          </a:ln>
        </p:spPr>
      </p:sp>
      <p:sp>
        <p:nvSpPr>
          <p:cNvPr id="36" name="Shape 34"/>
          <p:cNvSpPr/>
          <p:nvPr/>
        </p:nvSpPr>
        <p:spPr>
          <a:xfrm>
            <a:off x="6922008" y="4005072"/>
            <a:ext cx="850392" cy="256032"/>
          </a:xfrm>
          <a:prstGeom prst="roundRect">
            <a:avLst>
              <a:gd name="adj" fmla="val 21429"/>
            </a:avLst>
          </a:prstGeom>
          <a:solidFill>
            <a:srgbClr val="2E7D32">
              <a:alpha val="12000"/>
            </a:srgbClr>
          </a:solidFill>
          <a:ln w="12700">
            <a:solidFill>
              <a:srgbClr val="2E7D32"/>
            </a:solidFill>
            <a:prstDash val="solid"/>
          </a:ln>
        </p:spPr>
      </p:sp>
      <p:sp>
        <p:nvSpPr>
          <p:cNvPr id="37" name="Text 35"/>
          <p:cNvSpPr/>
          <p:nvPr/>
        </p:nvSpPr>
        <p:spPr>
          <a:xfrm>
            <a:off x="6922008" y="4005072"/>
            <a:ext cx="850392" cy="256032"/>
          </a:xfrm>
          <a:prstGeom prst="rect">
            <a:avLst/>
          </a:prstGeom>
          <a:noFill/>
          <a:ln/>
        </p:spPr>
        <p:txBody>
          <a:bodyPr wrap="square" rtlCol="0" anchor="ctr"/>
          <a:lstStyle/>
          <a:p>
            <a:pPr algn="ctr" indent="0" marL="0">
              <a:buNone/>
            </a:pPr>
            <a:r>
              <a:rPr lang="en-US" sz="800" dirty="0">
                <a:solidFill>
                  <a:srgbClr val="2E7D32"/>
                </a:solidFill>
                <a:latin typeface="Calibri" pitchFamily="34" charset="0"/>
                <a:ea typeface="Calibri" pitchFamily="34" charset="-122"/>
                <a:cs typeface="Calibri" pitchFamily="34" charset="-120"/>
              </a:rPr>
              <a:t>sonnet</a:t>
            </a:r>
            <a:endParaRPr lang="en-US" sz="800" dirty="0"/>
          </a:p>
        </p:txBody>
      </p:sp>
      <p:sp>
        <p:nvSpPr>
          <p:cNvPr id="38" name="Text 36"/>
          <p:cNvSpPr/>
          <p:nvPr/>
        </p:nvSpPr>
        <p:spPr>
          <a:xfrm>
            <a:off x="4517136" y="4005072"/>
            <a:ext cx="2350008"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tester</a:t>
            </a:r>
            <a:endParaRPr lang="en-US" sz="1100" dirty="0"/>
          </a:p>
        </p:txBody>
      </p:sp>
      <p:sp>
        <p:nvSpPr>
          <p:cNvPr id="39" name="Text 37"/>
          <p:cNvSpPr/>
          <p:nvPr/>
        </p:nvSpPr>
        <p:spPr>
          <a:xfrm>
            <a:off x="4517136" y="4315968"/>
            <a:ext cx="3264408" cy="960120"/>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Writes unit tests per public interface and scenario tests for mission phases.</a:t>
            </a:r>
            <a:endParaRPr lang="en-US" sz="950" dirty="0"/>
          </a:p>
        </p:txBody>
      </p:sp>
      <p:sp>
        <p:nvSpPr>
          <p:cNvPr id="40" name="Text 38"/>
          <p:cNvSpPr/>
          <p:nvPr/>
        </p:nvSpPr>
        <p:spPr>
          <a:xfrm>
            <a:off x="4517136" y="6053328"/>
            <a:ext cx="3264408" cy="27432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Read · Write · Edit</a:t>
            </a:r>
            <a:endParaRPr lang="en-US" sz="850" dirty="0"/>
          </a:p>
        </p:txBody>
      </p:sp>
      <p:sp>
        <p:nvSpPr>
          <p:cNvPr id="41" name="Shape 39"/>
          <p:cNvSpPr/>
          <p:nvPr/>
        </p:nvSpPr>
        <p:spPr>
          <a:xfrm>
            <a:off x="8275320" y="3913632"/>
            <a:ext cx="3520440" cy="2487168"/>
          </a:xfrm>
          <a:prstGeom prst="roundRect">
            <a:avLst>
              <a:gd name="adj" fmla="val 3676"/>
            </a:avLst>
          </a:prstGeom>
          <a:solidFill>
            <a:srgbClr val="FFFFFF"/>
          </a:solidFill>
          <a:ln w="12700">
            <a:solidFill>
              <a:srgbClr val="B83232"/>
            </a:solidFill>
            <a:prstDash val="solid"/>
          </a:ln>
          <a:effectLst>
            <a:outerShdw sx="100000" sy="100000" kx="0" ky="0" algn="bl" rotWithShape="0" blurRad="76200" dist="38100" dir="2700000">
              <a:srgbClr val="000000">
                <a:alpha val="10000"/>
              </a:srgbClr>
            </a:outerShdw>
          </a:effectLst>
        </p:spPr>
      </p:sp>
      <p:sp>
        <p:nvSpPr>
          <p:cNvPr id="42" name="Shape 40"/>
          <p:cNvSpPr/>
          <p:nvPr/>
        </p:nvSpPr>
        <p:spPr>
          <a:xfrm>
            <a:off x="8275320" y="3913632"/>
            <a:ext cx="3520440" cy="50292"/>
          </a:xfrm>
          <a:prstGeom prst="roundRect">
            <a:avLst>
              <a:gd name="adj" fmla="val 90909"/>
            </a:avLst>
          </a:prstGeom>
          <a:solidFill>
            <a:srgbClr val="B83232"/>
          </a:solidFill>
          <a:ln w="12700">
            <a:solidFill>
              <a:srgbClr val="B83232"/>
            </a:solidFill>
            <a:prstDash val="solid"/>
          </a:ln>
        </p:spPr>
      </p:sp>
      <p:sp>
        <p:nvSpPr>
          <p:cNvPr id="43" name="Shape 41"/>
          <p:cNvSpPr/>
          <p:nvPr/>
        </p:nvSpPr>
        <p:spPr>
          <a:xfrm>
            <a:off x="10808208" y="4005072"/>
            <a:ext cx="850392" cy="256032"/>
          </a:xfrm>
          <a:prstGeom prst="roundRect">
            <a:avLst>
              <a:gd name="adj" fmla="val 21429"/>
            </a:avLst>
          </a:prstGeom>
          <a:solidFill>
            <a:srgbClr val="B83232">
              <a:alpha val="12000"/>
            </a:srgbClr>
          </a:solidFill>
          <a:ln w="12700">
            <a:solidFill>
              <a:srgbClr val="B83232"/>
            </a:solidFill>
            <a:prstDash val="solid"/>
          </a:ln>
        </p:spPr>
      </p:sp>
      <p:sp>
        <p:nvSpPr>
          <p:cNvPr id="44" name="Text 42"/>
          <p:cNvSpPr/>
          <p:nvPr/>
        </p:nvSpPr>
        <p:spPr>
          <a:xfrm>
            <a:off x="10808208" y="4005072"/>
            <a:ext cx="850392" cy="256032"/>
          </a:xfrm>
          <a:prstGeom prst="rect">
            <a:avLst/>
          </a:prstGeom>
          <a:noFill/>
          <a:ln/>
        </p:spPr>
        <p:txBody>
          <a:bodyPr wrap="square" rtlCol="0" anchor="ctr"/>
          <a:lstStyle/>
          <a:p>
            <a:pPr algn="ctr" indent="0" marL="0">
              <a:buNone/>
            </a:pPr>
            <a:r>
              <a:rPr lang="en-US" sz="800" dirty="0">
                <a:solidFill>
                  <a:srgbClr val="B83232"/>
                </a:solidFill>
                <a:latin typeface="Calibri" pitchFamily="34" charset="0"/>
                <a:ea typeface="Calibri" pitchFamily="34" charset="-122"/>
                <a:cs typeface="Calibri" pitchFamily="34" charset="-120"/>
              </a:rPr>
              <a:t>sonnet</a:t>
            </a:r>
            <a:endParaRPr lang="en-US" sz="800" dirty="0"/>
          </a:p>
        </p:txBody>
      </p:sp>
      <p:sp>
        <p:nvSpPr>
          <p:cNvPr id="45" name="Text 43"/>
          <p:cNvSpPr/>
          <p:nvPr/>
        </p:nvSpPr>
        <p:spPr>
          <a:xfrm>
            <a:off x="8403336" y="4005072"/>
            <a:ext cx="2350008" cy="274320"/>
          </a:xfrm>
          <a:prstGeom prst="rect">
            <a:avLst/>
          </a:prstGeom>
          <a:noFill/>
          <a:ln/>
        </p:spPr>
        <p:txBody>
          <a:bodyPr wrap="square" rtlCol="0" anchor="ctr"/>
          <a:lstStyle/>
          <a:p>
            <a:pPr indent="0" marL="0">
              <a:buNone/>
            </a:pPr>
            <a:r>
              <a:rPr lang="en-US" sz="1100" b="1" dirty="0">
                <a:solidFill>
                  <a:srgbClr val="B83232"/>
                </a:solidFill>
                <a:latin typeface="Calibri" pitchFamily="34" charset="0"/>
                <a:ea typeface="Calibri" pitchFamily="34" charset="-122"/>
                <a:cs typeface="Calibri" pitchFamily="34" charset="-120"/>
              </a:rPr>
              <a:t>debugger</a:t>
            </a:r>
            <a:endParaRPr lang="en-US" sz="1100" dirty="0"/>
          </a:p>
        </p:txBody>
      </p:sp>
      <p:sp>
        <p:nvSpPr>
          <p:cNvPr id="46" name="Text 44"/>
          <p:cNvSpPr/>
          <p:nvPr/>
        </p:nvSpPr>
        <p:spPr>
          <a:xfrm>
            <a:off x="8403336" y="4315968"/>
            <a:ext cx="3264408" cy="960120"/>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Diagnoses test failures and regressions. Fixes without breaking passing tests.</a:t>
            </a:r>
            <a:endParaRPr lang="en-US" sz="950" dirty="0"/>
          </a:p>
        </p:txBody>
      </p:sp>
      <p:sp>
        <p:nvSpPr>
          <p:cNvPr id="47" name="Text 45"/>
          <p:cNvSpPr/>
          <p:nvPr/>
        </p:nvSpPr>
        <p:spPr>
          <a:xfrm>
            <a:off x="8403336" y="6053328"/>
            <a:ext cx="3264408" cy="27432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Read · Edit · Bash</a:t>
            </a:r>
            <a:endParaRPr lang="en-US" sz="850" dirty="0"/>
          </a:p>
        </p:txBody>
      </p:sp>
      <p:sp>
        <p:nvSpPr>
          <p:cNvPr id="48" name="Shape 46"/>
          <p:cNvSpPr/>
          <p:nvPr/>
        </p:nvSpPr>
        <p:spPr>
          <a:xfrm>
            <a:off x="0" y="6656832"/>
            <a:ext cx="12188952" cy="201168"/>
          </a:xfrm>
          <a:prstGeom prst="rect">
            <a:avLst/>
          </a:prstGeom>
          <a:solidFill>
            <a:srgbClr val="005C58"/>
          </a:solidFill>
          <a:ln w="12700">
            <a:solidFill>
              <a:srgbClr val="005C58"/>
            </a:solidFill>
            <a:prstDash val="solid"/>
          </a:ln>
        </p:spPr>
      </p:sp>
      <p:sp>
        <p:nvSpPr>
          <p:cNvPr id="49" name="Text 47"/>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50" name="Text 48"/>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Agent &amp; Skill Architecture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The .claude/ directory — transformation infrastructure as code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pic>
        <p:nvPicPr>
          <p:cNvPr id="6" name="Image 0" descr="/sessions/busy-quirky-faraday/pptx_work/diagram.png">    </p:cNvPr>
          <p:cNvPicPr>
            <a:picLocks noChangeAspect="1"/>
          </p:cNvPicPr>
          <p:nvPr/>
        </p:nvPicPr>
        <p:blipFill>
          <a:blip r:embed="rId1"/>
          <a:stretch>
            <a:fillRect/>
          </a:stretch>
        </p:blipFill>
        <p:spPr>
          <a:xfrm>
            <a:off x="274320" y="1033272"/>
            <a:ext cx="11640312" cy="5440680"/>
          </a:xfrm>
          <a:prstGeom prst="rect">
            <a:avLst/>
          </a:prstGeom>
        </p:spPr>
      </p:pic>
      <p:sp>
        <p:nvSpPr>
          <p:cNvPr id="7" name="Shape 4"/>
          <p:cNvSpPr/>
          <p:nvPr/>
        </p:nvSpPr>
        <p:spPr>
          <a:xfrm>
            <a:off x="0" y="6656832"/>
            <a:ext cx="12188952" cy="201168"/>
          </a:xfrm>
          <a:prstGeom prst="rect">
            <a:avLst/>
          </a:prstGeom>
          <a:solidFill>
            <a:srgbClr val="005C58"/>
          </a:solidFill>
          <a:ln w="12700">
            <a:solidFill>
              <a:srgbClr val="005C58"/>
            </a:solidFill>
            <a:prstDash val="solid"/>
          </a:ln>
        </p:spPr>
      </p:sp>
      <p:sp>
        <p:nvSpPr>
          <p:cNvPr id="8" name="Text 5"/>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9" name="Text 6"/>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What We Learned About Claude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Key observations from two days of hands-on experimentation</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457200" y="1115568"/>
            <a:ext cx="11274552" cy="1389888"/>
          </a:xfrm>
          <a:prstGeom prst="roundRect">
            <a:avLst>
              <a:gd name="adj" fmla="val 6579"/>
            </a:avLst>
          </a:prstGeom>
          <a:solidFill>
            <a:srgbClr val="B83232">
              <a:alpha val="6000"/>
            </a:srgbClr>
          </a:solidFill>
          <a:ln w="12700">
            <a:solidFill>
              <a:srgbClr val="B83232"/>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457200" y="1115568"/>
            <a:ext cx="64008" cy="1389888"/>
          </a:xfrm>
          <a:prstGeom prst="roundRect">
            <a:avLst>
              <a:gd name="adj" fmla="val 57143"/>
            </a:avLst>
          </a:prstGeom>
          <a:solidFill>
            <a:srgbClr val="B83232"/>
          </a:solidFill>
          <a:ln w="12700">
            <a:solidFill>
              <a:srgbClr val="B83232"/>
            </a:solidFill>
            <a:prstDash val="solid"/>
          </a:ln>
        </p:spPr>
      </p:sp>
      <p:sp>
        <p:nvSpPr>
          <p:cNvPr id="8" name="Shape 6"/>
          <p:cNvSpPr/>
          <p:nvPr/>
        </p:nvSpPr>
        <p:spPr>
          <a:xfrm>
            <a:off x="658368" y="1554480"/>
            <a:ext cx="512064" cy="512064"/>
          </a:xfrm>
          <a:prstGeom prst="ellipse">
            <a:avLst/>
          </a:prstGeom>
          <a:solidFill>
            <a:srgbClr val="B83232"/>
          </a:solidFill>
          <a:ln w="12700">
            <a:solidFill>
              <a:srgbClr val="B83232"/>
            </a:solidFill>
            <a:prstDash val="solid"/>
          </a:ln>
        </p:spPr>
      </p:sp>
      <p:sp>
        <p:nvSpPr>
          <p:cNvPr id="9" name="Text 7"/>
          <p:cNvSpPr/>
          <p:nvPr/>
        </p:nvSpPr>
        <p:spPr>
          <a:xfrm>
            <a:off x="658368" y="1554480"/>
            <a:ext cx="512064" cy="512064"/>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1325880" y="1188720"/>
            <a:ext cx="10268712" cy="347472"/>
          </a:xfrm>
          <a:prstGeom prst="rect">
            <a:avLst/>
          </a:prstGeom>
          <a:noFill/>
          <a:ln/>
        </p:spPr>
        <p:txBody>
          <a:bodyPr wrap="square" rtlCol="0" anchor="ctr"/>
          <a:lstStyle/>
          <a:p>
            <a:pPr indent="0" marL="0">
              <a:buNone/>
            </a:pPr>
            <a:r>
              <a:rPr lang="en-US" sz="1150" b="1" dirty="0">
                <a:solidFill>
                  <a:srgbClr val="B83232"/>
                </a:solidFill>
                <a:latin typeface="Calibri" pitchFamily="34" charset="0"/>
                <a:ea typeface="Calibri" pitchFamily="34" charset="-122"/>
                <a:cs typeface="Calibri" pitchFamily="34" charset="-120"/>
              </a:rPr>
              <a:t>First Drafts Too Close to Assembler</a:t>
            </a:r>
            <a:endParaRPr lang="en-US" sz="1150" dirty="0"/>
          </a:p>
        </p:txBody>
      </p:sp>
      <p:sp>
        <p:nvSpPr>
          <p:cNvPr id="11" name="Text 9"/>
          <p:cNvSpPr/>
          <p:nvPr/>
        </p:nvSpPr>
        <p:spPr>
          <a:xfrm>
            <a:off x="1325880" y="1554480"/>
            <a:ext cx="10268712" cy="329184"/>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Without sufficient context, Claude produces assembly-style Rust — not idiomatic. It needs the Rust Book, Apollo PDFs, and VirtualAGC docs loaded before any code generation.</a:t>
            </a:r>
            <a:endParaRPr lang="en-US" sz="950" dirty="0"/>
          </a:p>
        </p:txBody>
      </p:sp>
      <p:sp>
        <p:nvSpPr>
          <p:cNvPr id="12" name="Shape 10"/>
          <p:cNvSpPr/>
          <p:nvPr/>
        </p:nvSpPr>
        <p:spPr>
          <a:xfrm>
            <a:off x="457200" y="2688336"/>
            <a:ext cx="11274552" cy="1389888"/>
          </a:xfrm>
          <a:prstGeom prst="roundRect">
            <a:avLst>
              <a:gd name="adj" fmla="val 6579"/>
            </a:avLst>
          </a:prstGeom>
          <a:solidFill>
            <a:srgbClr val="D4920A">
              <a:alpha val="6000"/>
            </a:srgbClr>
          </a:solidFill>
          <a:ln w="12700">
            <a:solidFill>
              <a:srgbClr val="D4920A"/>
            </a:solidFill>
            <a:prstDash val="solid"/>
          </a:ln>
          <a:effectLst>
            <a:outerShdw sx="100000" sy="100000" kx="0" ky="0" algn="bl" rotWithShape="0" blurRad="76200" dist="38100" dir="2700000">
              <a:srgbClr val="000000">
                <a:alpha val="10000"/>
              </a:srgbClr>
            </a:outerShdw>
          </a:effectLst>
        </p:spPr>
      </p:sp>
      <p:sp>
        <p:nvSpPr>
          <p:cNvPr id="13" name="Shape 11"/>
          <p:cNvSpPr/>
          <p:nvPr/>
        </p:nvSpPr>
        <p:spPr>
          <a:xfrm>
            <a:off x="457200" y="2688336"/>
            <a:ext cx="64008" cy="1389888"/>
          </a:xfrm>
          <a:prstGeom prst="roundRect">
            <a:avLst>
              <a:gd name="adj" fmla="val 57143"/>
            </a:avLst>
          </a:prstGeom>
          <a:solidFill>
            <a:srgbClr val="D4920A"/>
          </a:solidFill>
          <a:ln w="12700">
            <a:solidFill>
              <a:srgbClr val="D4920A"/>
            </a:solidFill>
            <a:prstDash val="solid"/>
          </a:ln>
        </p:spPr>
      </p:sp>
      <p:sp>
        <p:nvSpPr>
          <p:cNvPr id="14" name="Shape 12"/>
          <p:cNvSpPr/>
          <p:nvPr/>
        </p:nvSpPr>
        <p:spPr>
          <a:xfrm>
            <a:off x="658368" y="3127248"/>
            <a:ext cx="512064" cy="512064"/>
          </a:xfrm>
          <a:prstGeom prst="ellipse">
            <a:avLst/>
          </a:prstGeom>
          <a:solidFill>
            <a:srgbClr val="D4920A"/>
          </a:solidFill>
          <a:ln w="12700">
            <a:solidFill>
              <a:srgbClr val="D4920A"/>
            </a:solidFill>
            <a:prstDash val="solid"/>
          </a:ln>
        </p:spPr>
      </p:sp>
      <p:sp>
        <p:nvSpPr>
          <p:cNvPr id="15" name="Text 13"/>
          <p:cNvSpPr/>
          <p:nvPr/>
        </p:nvSpPr>
        <p:spPr>
          <a:xfrm>
            <a:off x="658368" y="3127248"/>
            <a:ext cx="512064" cy="512064"/>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1325880" y="2761488"/>
            <a:ext cx="10268712" cy="347472"/>
          </a:xfrm>
          <a:prstGeom prst="rect">
            <a:avLst/>
          </a:prstGeom>
          <a:noFill/>
          <a:ln/>
        </p:spPr>
        <p:txBody>
          <a:bodyPr wrap="square" rtlCol="0" anchor="ctr"/>
          <a:lstStyle/>
          <a:p>
            <a:pPr indent="0" marL="0">
              <a:buNone/>
            </a:pPr>
            <a:r>
              <a:rPr lang="en-US" sz="1150" b="1" dirty="0">
                <a:solidFill>
                  <a:srgbClr val="D4920A"/>
                </a:solidFill>
                <a:latin typeface="Calibri" pitchFamily="34" charset="0"/>
                <a:ea typeface="Calibri" pitchFamily="34" charset="-122"/>
                <a:cs typeface="Calibri" pitchFamily="34" charset="-120"/>
              </a:rPr>
              <a:t>Prompting Mode Determines Quality — and Token Cost</a:t>
            </a:r>
            <a:endParaRPr lang="en-US" sz="1150" dirty="0"/>
          </a:p>
        </p:txBody>
      </p:sp>
      <p:sp>
        <p:nvSpPr>
          <p:cNvPr id="17" name="Text 15"/>
          <p:cNvSpPr/>
          <p:nvPr/>
        </p:nvSpPr>
        <p:spPr>
          <a:xfrm>
            <a:off x="1325880" y="3127248"/>
            <a:ext cx="10268712" cy="329184"/>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Human ad-hoc prompting → Low token usage → Low quality.   Spec-Driven prompting → High token usage → High quality.</a:t>
            </a:r>
            <a:endParaRPr lang="en-US" sz="950" dirty="0"/>
          </a:p>
        </p:txBody>
      </p:sp>
      <p:sp>
        <p:nvSpPr>
          <p:cNvPr id="18" name="Text 16"/>
          <p:cNvSpPr/>
          <p:nvPr/>
        </p:nvSpPr>
        <p:spPr>
          <a:xfrm>
            <a:off x="1325880" y="3474720"/>
            <a:ext cx="10268712" cy="329184"/>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No way to predict token cost upfront. Commit to quality from the start — token frugality always backfires.</a:t>
            </a:r>
            <a:endParaRPr lang="en-US" sz="950" dirty="0"/>
          </a:p>
        </p:txBody>
      </p:sp>
      <p:sp>
        <p:nvSpPr>
          <p:cNvPr id="19" name="Shape 17"/>
          <p:cNvSpPr/>
          <p:nvPr/>
        </p:nvSpPr>
        <p:spPr>
          <a:xfrm>
            <a:off x="457200" y="4261104"/>
            <a:ext cx="11274552" cy="1389888"/>
          </a:xfrm>
          <a:prstGeom prst="roundRect">
            <a:avLst>
              <a:gd name="adj" fmla="val 6579"/>
            </a:avLst>
          </a:prstGeom>
          <a:solidFill>
            <a:srgbClr val="7B2FBE">
              <a:alpha val="6000"/>
            </a:srgbClr>
          </a:solidFill>
          <a:ln w="12700">
            <a:solidFill>
              <a:srgbClr val="7B2FBE"/>
            </a:solidFill>
            <a:prstDash val="solid"/>
          </a:ln>
          <a:effectLst>
            <a:outerShdw sx="100000" sy="100000" kx="0" ky="0" algn="bl" rotWithShape="0" blurRad="76200" dist="38100" dir="2700000">
              <a:srgbClr val="000000">
                <a:alpha val="10000"/>
              </a:srgbClr>
            </a:outerShdw>
          </a:effectLst>
        </p:spPr>
      </p:sp>
      <p:sp>
        <p:nvSpPr>
          <p:cNvPr id="20" name="Shape 18"/>
          <p:cNvSpPr/>
          <p:nvPr/>
        </p:nvSpPr>
        <p:spPr>
          <a:xfrm>
            <a:off x="457200" y="4261104"/>
            <a:ext cx="64008" cy="1389888"/>
          </a:xfrm>
          <a:prstGeom prst="roundRect">
            <a:avLst>
              <a:gd name="adj" fmla="val 57143"/>
            </a:avLst>
          </a:prstGeom>
          <a:solidFill>
            <a:srgbClr val="7B2FBE"/>
          </a:solidFill>
          <a:ln w="12700">
            <a:solidFill>
              <a:srgbClr val="7B2FBE"/>
            </a:solidFill>
            <a:prstDash val="solid"/>
          </a:ln>
        </p:spPr>
      </p:sp>
      <p:sp>
        <p:nvSpPr>
          <p:cNvPr id="21" name="Shape 19"/>
          <p:cNvSpPr/>
          <p:nvPr/>
        </p:nvSpPr>
        <p:spPr>
          <a:xfrm>
            <a:off x="658368" y="4700016"/>
            <a:ext cx="512064" cy="512064"/>
          </a:xfrm>
          <a:prstGeom prst="ellipse">
            <a:avLst/>
          </a:prstGeom>
          <a:solidFill>
            <a:srgbClr val="7B2FBE"/>
          </a:solidFill>
          <a:ln w="12700">
            <a:solidFill>
              <a:srgbClr val="7B2FBE"/>
            </a:solidFill>
            <a:prstDash val="solid"/>
          </a:ln>
        </p:spPr>
      </p:sp>
      <p:sp>
        <p:nvSpPr>
          <p:cNvPr id="22" name="Text 20"/>
          <p:cNvSpPr/>
          <p:nvPr/>
        </p:nvSpPr>
        <p:spPr>
          <a:xfrm>
            <a:off x="658368" y="4700016"/>
            <a:ext cx="512064" cy="512064"/>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1325880" y="4334256"/>
            <a:ext cx="10268712" cy="347472"/>
          </a:xfrm>
          <a:prstGeom prst="rect">
            <a:avLst/>
          </a:prstGeom>
          <a:noFill/>
          <a:ln/>
        </p:spPr>
        <p:txBody>
          <a:bodyPr wrap="square" rtlCol="0" anchor="ctr"/>
          <a:lstStyle/>
          <a:p>
            <a:pPr indent="0" marL="0">
              <a:buNone/>
            </a:pPr>
            <a:r>
              <a:rPr lang="en-US" sz="1150" b="1" dirty="0">
                <a:solidFill>
                  <a:srgbClr val="7B2FBE"/>
                </a:solidFill>
                <a:latin typeface="Calibri" pitchFamily="34" charset="0"/>
                <a:ea typeface="Calibri" pitchFamily="34" charset="-122"/>
                <a:cs typeface="Calibri" pitchFamily="34" charset="-120"/>
              </a:rPr>
              <a:t>Claude Has Memory — but Needs a Strong Foundation Agent</a:t>
            </a:r>
            <a:endParaRPr lang="en-US" sz="1150" dirty="0"/>
          </a:p>
        </p:txBody>
      </p:sp>
      <p:sp>
        <p:nvSpPr>
          <p:cNvPr id="24" name="Text 22"/>
          <p:cNvSpPr/>
          <p:nvPr/>
        </p:nvSpPr>
        <p:spPr>
          <a:xfrm>
            <a:off x="1325880" y="4700016"/>
            <a:ext cx="10268712" cy="329184"/>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Context accumulates within a session and Claude uses it well. However, the Analyse &amp; Architecture agent must carry massive domain knowledge (AGC hardware, Rust embedded, mission phases) to produce reliable output.</a:t>
            </a:r>
            <a:endParaRPr lang="en-US" sz="950" dirty="0"/>
          </a:p>
        </p:txBody>
      </p:sp>
      <p:sp>
        <p:nvSpPr>
          <p:cNvPr id="25" name="Shape 23"/>
          <p:cNvSpPr/>
          <p:nvPr/>
        </p:nvSpPr>
        <p:spPr>
          <a:xfrm>
            <a:off x="457200" y="5833872"/>
            <a:ext cx="11274552" cy="1389888"/>
          </a:xfrm>
          <a:prstGeom prst="roundRect">
            <a:avLst>
              <a:gd name="adj" fmla="val 6579"/>
            </a:avLst>
          </a:prstGeom>
          <a:solidFill>
            <a:srgbClr val="2E7D32">
              <a:alpha val="6000"/>
            </a:srgbClr>
          </a:solidFill>
          <a:ln w="12700">
            <a:solidFill>
              <a:srgbClr val="2E7D32"/>
            </a:solidFill>
            <a:prstDash val="solid"/>
          </a:ln>
          <a:effectLst>
            <a:outerShdw sx="100000" sy="100000" kx="0" ky="0" algn="bl" rotWithShape="0" blurRad="76200" dist="38100" dir="2700000">
              <a:srgbClr val="000000">
                <a:alpha val="10000"/>
              </a:srgbClr>
            </a:outerShdw>
          </a:effectLst>
        </p:spPr>
      </p:sp>
      <p:sp>
        <p:nvSpPr>
          <p:cNvPr id="26" name="Shape 24"/>
          <p:cNvSpPr/>
          <p:nvPr/>
        </p:nvSpPr>
        <p:spPr>
          <a:xfrm>
            <a:off x="457200" y="5833872"/>
            <a:ext cx="64008" cy="1389888"/>
          </a:xfrm>
          <a:prstGeom prst="roundRect">
            <a:avLst>
              <a:gd name="adj" fmla="val 57143"/>
            </a:avLst>
          </a:prstGeom>
          <a:solidFill>
            <a:srgbClr val="2E7D32"/>
          </a:solidFill>
          <a:ln w="12700">
            <a:solidFill>
              <a:srgbClr val="2E7D32"/>
            </a:solidFill>
            <a:prstDash val="solid"/>
          </a:ln>
        </p:spPr>
      </p:sp>
      <p:sp>
        <p:nvSpPr>
          <p:cNvPr id="27" name="Shape 25"/>
          <p:cNvSpPr/>
          <p:nvPr/>
        </p:nvSpPr>
        <p:spPr>
          <a:xfrm>
            <a:off x="658368" y="6272784"/>
            <a:ext cx="512064" cy="512064"/>
          </a:xfrm>
          <a:prstGeom prst="ellipse">
            <a:avLst/>
          </a:prstGeom>
          <a:solidFill>
            <a:srgbClr val="2E7D32"/>
          </a:solidFill>
          <a:ln w="12700">
            <a:solidFill>
              <a:srgbClr val="2E7D32"/>
            </a:solidFill>
            <a:prstDash val="solid"/>
          </a:ln>
        </p:spPr>
      </p:sp>
      <p:sp>
        <p:nvSpPr>
          <p:cNvPr id="28" name="Text 26"/>
          <p:cNvSpPr/>
          <p:nvPr/>
        </p:nvSpPr>
        <p:spPr>
          <a:xfrm>
            <a:off x="658368" y="6272784"/>
            <a:ext cx="512064" cy="512064"/>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29" name="Text 27"/>
          <p:cNvSpPr/>
          <p:nvPr/>
        </p:nvSpPr>
        <p:spPr>
          <a:xfrm>
            <a:off x="1325880" y="5907024"/>
            <a:ext cx="10268712" cy="347472"/>
          </a:xfrm>
          <a:prstGeom prst="rect">
            <a:avLst/>
          </a:prstGeom>
          <a:noFill/>
          <a:ln/>
        </p:spPr>
        <p:txBody>
          <a:bodyPr wrap="square" rtlCol="0" anchor="ctr"/>
          <a:lstStyle/>
          <a:p>
            <a:pPr indent="0" marL="0">
              <a:buNone/>
            </a:pPr>
            <a:r>
              <a:rPr lang="en-US" sz="1150" b="1" dirty="0">
                <a:solidFill>
                  <a:srgbClr val="2E7D32"/>
                </a:solidFill>
                <a:latin typeface="Calibri" pitchFamily="34" charset="0"/>
                <a:ea typeface="Calibri" pitchFamily="34" charset="-122"/>
                <a:cs typeface="Calibri" pitchFamily="34" charset="-120"/>
              </a:rPr>
              <a:t>The Workflow That Works: Spec → Code → Test → Validate (PDF / AGS)</a:t>
            </a:r>
            <a:endParaRPr lang="en-US" sz="1150" dirty="0"/>
          </a:p>
        </p:txBody>
      </p:sp>
      <p:sp>
        <p:nvSpPr>
          <p:cNvPr id="30" name="Text 28"/>
          <p:cNvSpPr/>
          <p:nvPr/>
        </p:nvSpPr>
        <p:spPr>
          <a:xfrm>
            <a:off x="1325880" y="6272784"/>
            <a:ext cx="10268712" cy="329184"/>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Write a full functional spec first → generate Rust → run cargo test → validate against Comanche 055 assembler and AGC specification PDFs. Proven across all 5 milestones.</a:t>
            </a:r>
            <a:endParaRPr lang="en-US" sz="950" dirty="0"/>
          </a:p>
        </p:txBody>
      </p:sp>
      <p:sp>
        <p:nvSpPr>
          <p:cNvPr id="31" name="Shape 29"/>
          <p:cNvSpPr/>
          <p:nvPr/>
        </p:nvSpPr>
        <p:spPr>
          <a:xfrm>
            <a:off x="0" y="6656832"/>
            <a:ext cx="12188952" cy="201168"/>
          </a:xfrm>
          <a:prstGeom prst="rect">
            <a:avLst/>
          </a:prstGeom>
          <a:solidFill>
            <a:srgbClr val="005C58"/>
          </a:solidFill>
          <a:ln w="12700">
            <a:solidFill>
              <a:srgbClr val="005C58"/>
            </a:solidFill>
            <a:prstDash val="solid"/>
          </a:ln>
        </p:spPr>
      </p:sp>
      <p:sp>
        <p:nvSpPr>
          <p:cNvPr id="32" name="Text 30"/>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33" name="Text 31"/>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Spec-Driven Development</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Design first — original assembler code as support, not basis</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457200" y="1115568"/>
            <a:ext cx="11274552" cy="566928"/>
          </a:xfrm>
          <a:prstGeom prst="roundRect">
            <a:avLst>
              <a:gd name="adj" fmla="val 12903"/>
            </a:avLst>
          </a:prstGeom>
          <a:solidFill>
            <a:srgbClr val="005C58"/>
          </a:solidFill>
          <a:ln w="12700">
            <a:solidFill>
              <a:srgbClr val="005C58"/>
            </a:solidFill>
            <a:prstDash val="solid"/>
          </a:ln>
        </p:spPr>
      </p:sp>
      <p:sp>
        <p:nvSpPr>
          <p:cNvPr id="7" name="Text 5"/>
          <p:cNvSpPr/>
          <p:nvPr/>
        </p:nvSpPr>
        <p:spPr>
          <a:xfrm>
            <a:off x="640080" y="1115568"/>
            <a:ext cx="10908792" cy="566928"/>
          </a:xfrm>
          <a:prstGeom prst="rect">
            <a:avLst/>
          </a:prstGeom>
          <a:noFill/>
          <a:ln/>
        </p:spPr>
        <p:txBody>
          <a:bodyPr wrap="square" rtlCol="0" anchor="ctr"/>
          <a:lstStyle/>
          <a:p>
            <a:pPr algn="ctr" indent="0" marL="0">
              <a:buNone/>
            </a:pPr>
            <a:r>
              <a:rPr lang="en-US" sz="1250" i="1" dirty="0">
                <a:solidFill>
                  <a:srgbClr val="00A9A3"/>
                </a:solidFill>
                <a:latin typeface="Calibri" pitchFamily="34" charset="0"/>
                <a:ea typeface="Calibri" pitchFamily="34" charset="-122"/>
                <a:cs typeface="Calibri" pitchFamily="34" charset="-120"/>
              </a:rPr>
              <a:t>" Design First — Requirements are always incomplete. Spec-driven development is Agile. "</a:t>
            </a:r>
            <a:endParaRPr lang="en-US" sz="1250" dirty="0"/>
          </a:p>
        </p:txBody>
      </p:sp>
      <p:sp>
        <p:nvSpPr>
          <p:cNvPr id="8" name="Shape 6"/>
          <p:cNvSpPr/>
          <p:nvPr/>
        </p:nvSpPr>
        <p:spPr>
          <a:xfrm>
            <a:off x="457200" y="1847088"/>
            <a:ext cx="2654046" cy="960120"/>
          </a:xfrm>
          <a:prstGeom prst="roundRect">
            <a:avLst>
              <a:gd name="adj" fmla="val 9524"/>
            </a:avLst>
          </a:prstGeom>
          <a:solidFill>
            <a:srgbClr val="1E6B9B"/>
          </a:solidFill>
          <a:ln w="12700">
            <a:solidFill>
              <a:srgbClr val="1E6B9B"/>
            </a:solidFill>
            <a:prstDash val="solid"/>
          </a:ln>
        </p:spPr>
      </p:sp>
      <p:sp>
        <p:nvSpPr>
          <p:cNvPr id="9" name="Text 7"/>
          <p:cNvSpPr/>
          <p:nvPr/>
        </p:nvSpPr>
        <p:spPr>
          <a:xfrm>
            <a:off x="457200" y="1847088"/>
            <a:ext cx="2654046"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Functional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p>
        </p:txBody>
      </p:sp>
      <p:sp>
        <p:nvSpPr>
          <p:cNvPr id="10" name="Text 8"/>
          <p:cNvSpPr/>
          <p:nvPr/>
        </p:nvSpPr>
        <p:spPr>
          <a:xfrm>
            <a:off x="457200" y="2377440"/>
            <a:ext cx="2654046" cy="429768"/>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Analyse &amp; Architecture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agent</a:t>
            </a:r>
            <a:endParaRPr lang="en-US" sz="850" dirty="0"/>
          </a:p>
        </p:txBody>
      </p:sp>
      <p:sp>
        <p:nvSpPr>
          <p:cNvPr id="11" name="Shape 9"/>
          <p:cNvSpPr/>
          <p:nvPr/>
        </p:nvSpPr>
        <p:spPr>
          <a:xfrm>
            <a:off x="3111246" y="2276856"/>
            <a:ext cx="164592" cy="91440"/>
          </a:xfrm>
          <a:prstGeom prst="rect">
            <a:avLst/>
          </a:prstGeom>
          <a:solidFill>
            <a:srgbClr val="6B7280"/>
          </a:solidFill>
          <a:ln w="12700">
            <a:solidFill>
              <a:srgbClr val="6B7280"/>
            </a:solidFill>
            <a:prstDash val="solid"/>
          </a:ln>
        </p:spPr>
      </p:sp>
      <p:sp>
        <p:nvSpPr>
          <p:cNvPr id="12" name="Shape 10"/>
          <p:cNvSpPr/>
          <p:nvPr/>
        </p:nvSpPr>
        <p:spPr>
          <a:xfrm>
            <a:off x="3275838" y="1847088"/>
            <a:ext cx="2654046" cy="960120"/>
          </a:xfrm>
          <a:prstGeom prst="roundRect">
            <a:avLst>
              <a:gd name="adj" fmla="val 9524"/>
            </a:avLst>
          </a:prstGeom>
          <a:solidFill>
            <a:srgbClr val="7B2FBE"/>
          </a:solidFill>
          <a:ln w="12700">
            <a:solidFill>
              <a:srgbClr val="7B2FBE"/>
            </a:solidFill>
            <a:prstDash val="solid"/>
          </a:ln>
        </p:spPr>
      </p:sp>
      <p:sp>
        <p:nvSpPr>
          <p:cNvPr id="13" name="Text 11"/>
          <p:cNvSpPr/>
          <p:nvPr/>
        </p:nvSpPr>
        <p:spPr>
          <a:xfrm>
            <a:off x="3275838" y="1847088"/>
            <a:ext cx="2654046"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Rust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Code Gen</a:t>
            </a:r>
            <a:endParaRPr lang="en-US" sz="1200" dirty="0"/>
          </a:p>
        </p:txBody>
      </p:sp>
      <p:sp>
        <p:nvSpPr>
          <p:cNvPr id="14" name="Text 12"/>
          <p:cNvSpPr/>
          <p:nvPr/>
        </p:nvSpPr>
        <p:spPr>
          <a:xfrm>
            <a:off x="3275838" y="2377440"/>
            <a:ext cx="2654046" cy="429768"/>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Developer agent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with full context</a:t>
            </a:r>
            <a:endParaRPr lang="en-US" sz="850" dirty="0"/>
          </a:p>
        </p:txBody>
      </p:sp>
      <p:sp>
        <p:nvSpPr>
          <p:cNvPr id="15" name="Shape 13"/>
          <p:cNvSpPr/>
          <p:nvPr/>
        </p:nvSpPr>
        <p:spPr>
          <a:xfrm>
            <a:off x="5929884" y="2276856"/>
            <a:ext cx="164592" cy="91440"/>
          </a:xfrm>
          <a:prstGeom prst="rect">
            <a:avLst/>
          </a:prstGeom>
          <a:solidFill>
            <a:srgbClr val="6B7280"/>
          </a:solidFill>
          <a:ln w="12700">
            <a:solidFill>
              <a:srgbClr val="6B7280"/>
            </a:solidFill>
            <a:prstDash val="solid"/>
          </a:ln>
        </p:spPr>
      </p:sp>
      <p:sp>
        <p:nvSpPr>
          <p:cNvPr id="16" name="Shape 14"/>
          <p:cNvSpPr/>
          <p:nvPr/>
        </p:nvSpPr>
        <p:spPr>
          <a:xfrm>
            <a:off x="6094476" y="1847088"/>
            <a:ext cx="2654046" cy="960120"/>
          </a:xfrm>
          <a:prstGeom prst="roundRect">
            <a:avLst>
              <a:gd name="adj" fmla="val 9524"/>
            </a:avLst>
          </a:prstGeom>
          <a:solidFill>
            <a:srgbClr val="0D9488"/>
          </a:solidFill>
          <a:ln w="12700">
            <a:solidFill>
              <a:srgbClr val="0D9488"/>
            </a:solidFill>
            <a:prstDash val="solid"/>
          </a:ln>
        </p:spPr>
      </p:sp>
      <p:sp>
        <p:nvSpPr>
          <p:cNvPr id="17" name="Text 15"/>
          <p:cNvSpPr/>
          <p:nvPr/>
        </p:nvSpPr>
        <p:spPr>
          <a:xfrm>
            <a:off x="6094476" y="1847088"/>
            <a:ext cx="2654046"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Tests</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Run</a:t>
            </a:r>
            <a:endParaRPr lang="en-US" sz="1200" dirty="0"/>
          </a:p>
        </p:txBody>
      </p:sp>
      <p:sp>
        <p:nvSpPr>
          <p:cNvPr id="18" name="Text 16"/>
          <p:cNvSpPr/>
          <p:nvPr/>
        </p:nvSpPr>
        <p:spPr>
          <a:xfrm>
            <a:off x="6094476" y="2377440"/>
            <a:ext cx="2654046" cy="429768"/>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Tester agent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cargo test</a:t>
            </a:r>
            <a:endParaRPr lang="en-US" sz="850" dirty="0"/>
          </a:p>
        </p:txBody>
      </p:sp>
      <p:sp>
        <p:nvSpPr>
          <p:cNvPr id="19" name="Shape 17"/>
          <p:cNvSpPr/>
          <p:nvPr/>
        </p:nvSpPr>
        <p:spPr>
          <a:xfrm>
            <a:off x="8748522" y="2276856"/>
            <a:ext cx="164592" cy="91440"/>
          </a:xfrm>
          <a:prstGeom prst="rect">
            <a:avLst/>
          </a:prstGeom>
          <a:solidFill>
            <a:srgbClr val="6B7280"/>
          </a:solidFill>
          <a:ln w="12700">
            <a:solidFill>
              <a:srgbClr val="6B7280"/>
            </a:solidFill>
            <a:prstDash val="solid"/>
          </a:ln>
        </p:spPr>
      </p:sp>
      <p:sp>
        <p:nvSpPr>
          <p:cNvPr id="20" name="Shape 18"/>
          <p:cNvSpPr/>
          <p:nvPr/>
        </p:nvSpPr>
        <p:spPr>
          <a:xfrm>
            <a:off x="8913114" y="1847088"/>
            <a:ext cx="2654046" cy="960120"/>
          </a:xfrm>
          <a:prstGeom prst="roundRect">
            <a:avLst>
              <a:gd name="adj" fmla="val 9524"/>
            </a:avLst>
          </a:prstGeom>
          <a:solidFill>
            <a:srgbClr val="2E7D32"/>
          </a:solidFill>
          <a:ln w="12700">
            <a:solidFill>
              <a:srgbClr val="2E7D32"/>
            </a:solidFill>
            <a:prstDash val="solid"/>
          </a:ln>
        </p:spPr>
      </p:sp>
      <p:sp>
        <p:nvSpPr>
          <p:cNvPr id="21" name="Text 19"/>
          <p:cNvSpPr/>
          <p:nvPr/>
        </p:nvSpPr>
        <p:spPr>
          <a:xfrm>
            <a:off x="8913114" y="1847088"/>
            <a:ext cx="2654046" cy="5486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 vs</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AGS / PDF</a:t>
            </a:r>
            <a:endParaRPr lang="en-US" sz="1200" dirty="0"/>
          </a:p>
        </p:txBody>
      </p:sp>
      <p:sp>
        <p:nvSpPr>
          <p:cNvPr id="22" name="Text 20"/>
          <p:cNvSpPr/>
          <p:nvPr/>
        </p:nvSpPr>
        <p:spPr>
          <a:xfrm>
            <a:off x="8913114" y="2377440"/>
            <a:ext cx="2654046" cy="429768"/>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Code-review agent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vs Comanche 055</a:t>
            </a:r>
            <a:endParaRPr lang="en-US" sz="850" dirty="0"/>
          </a:p>
        </p:txBody>
      </p:sp>
      <p:sp>
        <p:nvSpPr>
          <p:cNvPr id="23" name="Shape 21"/>
          <p:cNvSpPr/>
          <p:nvPr/>
        </p:nvSpPr>
        <p:spPr>
          <a:xfrm>
            <a:off x="457200" y="2971800"/>
            <a:ext cx="5568696" cy="1572768"/>
          </a:xfrm>
          <a:prstGeom prst="roundRect">
            <a:avLst>
              <a:gd name="adj" fmla="val 5814"/>
            </a:avLst>
          </a:prstGeom>
          <a:solidFill>
            <a:srgbClr val="1E6B9B">
              <a:alpha val="6000"/>
            </a:srgbClr>
          </a:solidFill>
          <a:ln w="12700">
            <a:solidFill>
              <a:srgbClr val="1E6B9B"/>
            </a:solidFill>
            <a:prstDash val="solid"/>
          </a:ln>
          <a:effectLst>
            <a:outerShdw sx="100000" sy="100000" kx="0" ky="0" algn="bl" rotWithShape="0" blurRad="76200" dist="38100" dir="2700000">
              <a:srgbClr val="000000">
                <a:alpha val="10000"/>
              </a:srgbClr>
            </a:outerShdw>
          </a:effectLst>
        </p:spPr>
      </p:sp>
      <p:sp>
        <p:nvSpPr>
          <p:cNvPr id="24" name="Shape 22"/>
          <p:cNvSpPr/>
          <p:nvPr/>
        </p:nvSpPr>
        <p:spPr>
          <a:xfrm>
            <a:off x="457200" y="2971800"/>
            <a:ext cx="5568696" cy="54864"/>
          </a:xfrm>
          <a:prstGeom prst="roundRect">
            <a:avLst>
              <a:gd name="adj" fmla="val 66667"/>
            </a:avLst>
          </a:prstGeom>
          <a:solidFill>
            <a:srgbClr val="1E6B9B"/>
          </a:solidFill>
          <a:ln w="12700">
            <a:solidFill>
              <a:srgbClr val="1E6B9B"/>
            </a:solidFill>
            <a:prstDash val="solid"/>
          </a:ln>
        </p:spPr>
      </p:sp>
      <p:sp>
        <p:nvSpPr>
          <p:cNvPr id="25" name="Text 23"/>
          <p:cNvSpPr/>
          <p:nvPr/>
        </p:nvSpPr>
        <p:spPr>
          <a:xfrm>
            <a:off x="621792" y="3063240"/>
            <a:ext cx="5239512" cy="347472"/>
          </a:xfrm>
          <a:prstGeom prst="rect">
            <a:avLst/>
          </a:prstGeom>
          <a:noFill/>
          <a:ln/>
        </p:spPr>
        <p:txBody>
          <a:bodyPr wrap="square" rtlCol="0" anchor="ctr"/>
          <a:lstStyle/>
          <a:p>
            <a:pPr indent="0" marL="0">
              <a:buNone/>
            </a:pPr>
            <a:r>
              <a:rPr lang="en-US" sz="1100" b="1" dirty="0">
                <a:solidFill>
                  <a:srgbClr val="1E6B9B"/>
                </a:solidFill>
                <a:latin typeface="Calibri" pitchFamily="34" charset="0"/>
                <a:ea typeface="Calibri" pitchFamily="34" charset="-122"/>
                <a:cs typeface="Calibri" pitchFamily="34" charset="-120"/>
              </a:rPr>
              <a:t>Design First</a:t>
            </a:r>
            <a:endParaRPr lang="en-US" sz="1100" dirty="0"/>
          </a:p>
        </p:txBody>
      </p:sp>
      <p:sp>
        <p:nvSpPr>
          <p:cNvPr id="26" name="Text 24"/>
          <p:cNvSpPr/>
          <p:nvPr/>
        </p:nvSpPr>
        <p:spPr>
          <a:xfrm>
            <a:off x="621792" y="3447288"/>
            <a:ext cx="5239512" cy="978408"/>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Always start with a full functional specification — never jump straight to code. Requirements are inherently incomplete; the spec forces clarity and completeness before any generation starts.</a:t>
            </a:r>
            <a:endParaRPr lang="en-US" sz="950" dirty="0"/>
          </a:p>
        </p:txBody>
      </p:sp>
      <p:sp>
        <p:nvSpPr>
          <p:cNvPr id="27" name="Shape 25"/>
          <p:cNvSpPr/>
          <p:nvPr/>
        </p:nvSpPr>
        <p:spPr>
          <a:xfrm>
            <a:off x="6163056" y="2971800"/>
            <a:ext cx="5568696" cy="1572768"/>
          </a:xfrm>
          <a:prstGeom prst="roundRect">
            <a:avLst>
              <a:gd name="adj" fmla="val 5814"/>
            </a:avLst>
          </a:prstGeom>
          <a:solidFill>
            <a:srgbClr val="C45200">
              <a:alpha val="6000"/>
            </a:srgbClr>
          </a:solidFill>
          <a:ln w="12700">
            <a:solidFill>
              <a:srgbClr val="C45200"/>
            </a:solidFill>
            <a:prstDash val="solid"/>
          </a:ln>
          <a:effectLst>
            <a:outerShdw sx="100000" sy="100000" kx="0" ky="0" algn="bl" rotWithShape="0" blurRad="76200" dist="38100" dir="2700000">
              <a:srgbClr val="000000">
                <a:alpha val="10000"/>
              </a:srgbClr>
            </a:outerShdw>
          </a:effectLst>
        </p:spPr>
      </p:sp>
      <p:sp>
        <p:nvSpPr>
          <p:cNvPr id="28" name="Shape 26"/>
          <p:cNvSpPr/>
          <p:nvPr/>
        </p:nvSpPr>
        <p:spPr>
          <a:xfrm>
            <a:off x="6163056" y="2971800"/>
            <a:ext cx="5568696" cy="54864"/>
          </a:xfrm>
          <a:prstGeom prst="roundRect">
            <a:avLst>
              <a:gd name="adj" fmla="val 66667"/>
            </a:avLst>
          </a:prstGeom>
          <a:solidFill>
            <a:srgbClr val="C45200"/>
          </a:solidFill>
          <a:ln w="12700">
            <a:solidFill>
              <a:srgbClr val="C45200"/>
            </a:solidFill>
            <a:prstDash val="solid"/>
          </a:ln>
        </p:spPr>
      </p:sp>
      <p:sp>
        <p:nvSpPr>
          <p:cNvPr id="29" name="Text 27"/>
          <p:cNvSpPr/>
          <p:nvPr/>
        </p:nvSpPr>
        <p:spPr>
          <a:xfrm>
            <a:off x="6327648" y="3063240"/>
            <a:ext cx="5239512" cy="347472"/>
          </a:xfrm>
          <a:prstGeom prst="rect">
            <a:avLst/>
          </a:prstGeom>
          <a:noFill/>
          <a:ln/>
        </p:spPr>
        <p:txBody>
          <a:bodyPr wrap="square" rtlCol="0" anchor="ctr"/>
          <a:lstStyle/>
          <a:p>
            <a:pPr indent="0" marL="0">
              <a:buNone/>
            </a:pPr>
            <a:r>
              <a:rPr lang="en-US" sz="1100" b="1" dirty="0">
                <a:solidFill>
                  <a:srgbClr val="C45200"/>
                </a:solidFill>
                <a:latin typeface="Calibri" pitchFamily="34" charset="0"/>
                <a:ea typeface="Calibri" pitchFamily="34" charset="-122"/>
                <a:cs typeface="Calibri" pitchFamily="34" charset="-120"/>
              </a:rPr>
              <a:t>Original Code is Support, Not Basis</a:t>
            </a:r>
            <a:endParaRPr lang="en-US" sz="1100" dirty="0"/>
          </a:p>
        </p:txBody>
      </p:sp>
      <p:sp>
        <p:nvSpPr>
          <p:cNvPr id="30" name="Text 28"/>
          <p:cNvSpPr/>
          <p:nvPr/>
        </p:nvSpPr>
        <p:spPr>
          <a:xfrm>
            <a:off x="6327648" y="3447288"/>
            <a:ext cx="5239512" cy="978408"/>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The AGC assembler source serves as a validation reference and domain guide. AI generates new idiomatic Rust algorithms — it does not transliterate 1960s assembly line by line.</a:t>
            </a:r>
            <a:endParaRPr lang="en-US" sz="950" dirty="0"/>
          </a:p>
        </p:txBody>
      </p:sp>
      <p:sp>
        <p:nvSpPr>
          <p:cNvPr id="31" name="Shape 29"/>
          <p:cNvSpPr/>
          <p:nvPr/>
        </p:nvSpPr>
        <p:spPr>
          <a:xfrm>
            <a:off x="457200" y="4727448"/>
            <a:ext cx="5568696" cy="1572768"/>
          </a:xfrm>
          <a:prstGeom prst="roundRect">
            <a:avLst>
              <a:gd name="adj" fmla="val 5814"/>
            </a:avLst>
          </a:prstGeom>
          <a:solidFill>
            <a:srgbClr val="7B2FBE">
              <a:alpha val="6000"/>
            </a:srgbClr>
          </a:solidFill>
          <a:ln w="12700">
            <a:solidFill>
              <a:srgbClr val="7B2FBE"/>
            </a:solidFill>
            <a:prstDash val="solid"/>
          </a:ln>
          <a:effectLst>
            <a:outerShdw sx="100000" sy="100000" kx="0" ky="0" algn="bl" rotWithShape="0" blurRad="76200" dist="38100" dir="2700000">
              <a:srgbClr val="000000">
                <a:alpha val="10000"/>
              </a:srgbClr>
            </a:outerShdw>
          </a:effectLst>
        </p:spPr>
      </p:sp>
      <p:sp>
        <p:nvSpPr>
          <p:cNvPr id="32" name="Shape 30"/>
          <p:cNvSpPr/>
          <p:nvPr/>
        </p:nvSpPr>
        <p:spPr>
          <a:xfrm>
            <a:off x="457200" y="4727448"/>
            <a:ext cx="5568696" cy="54864"/>
          </a:xfrm>
          <a:prstGeom prst="roundRect">
            <a:avLst>
              <a:gd name="adj" fmla="val 66667"/>
            </a:avLst>
          </a:prstGeom>
          <a:solidFill>
            <a:srgbClr val="7B2FBE"/>
          </a:solidFill>
          <a:ln w="12700">
            <a:solidFill>
              <a:srgbClr val="7B2FBE"/>
            </a:solidFill>
            <a:prstDash val="solid"/>
          </a:ln>
        </p:spPr>
      </p:sp>
      <p:sp>
        <p:nvSpPr>
          <p:cNvPr id="33" name="Text 31"/>
          <p:cNvSpPr/>
          <p:nvPr/>
        </p:nvSpPr>
        <p:spPr>
          <a:xfrm>
            <a:off x="621792" y="4818888"/>
            <a:ext cx="5239512" cy="347472"/>
          </a:xfrm>
          <a:prstGeom prst="rect">
            <a:avLst/>
          </a:prstGeom>
          <a:noFill/>
          <a:ln/>
        </p:spPr>
        <p:txBody>
          <a:bodyPr wrap="square" rtlCol="0" anchor="ctr"/>
          <a:lstStyle/>
          <a:p>
            <a:pPr indent="0" marL="0">
              <a:buNone/>
            </a:pPr>
            <a:r>
              <a:rPr lang="en-US" sz="1100" b="1" dirty="0">
                <a:solidFill>
                  <a:srgbClr val="7B2FBE"/>
                </a:solidFill>
                <a:latin typeface="Calibri" pitchFamily="34" charset="0"/>
                <a:ea typeface="Calibri" pitchFamily="34" charset="-122"/>
                <a:cs typeface="Calibri" pitchFamily="34" charset="-120"/>
              </a:rPr>
              <a:t>Spec-Driven = High Token Usage = High Quality</a:t>
            </a:r>
            <a:endParaRPr lang="en-US" sz="1100" dirty="0"/>
          </a:p>
        </p:txBody>
      </p:sp>
      <p:sp>
        <p:nvSpPr>
          <p:cNvPr id="34" name="Text 32"/>
          <p:cNvSpPr/>
          <p:nvPr/>
        </p:nvSpPr>
        <p:spPr>
          <a:xfrm>
            <a:off x="621792" y="5202936"/>
            <a:ext cx="5239512" cy="978408"/>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Spec-driven prompting consumes significantly more tokens but delivers dramatically higher quality output. Quality is the non-negotiable constraint — token frugality always backfires.</a:t>
            </a:r>
            <a:endParaRPr lang="en-US" sz="950" dirty="0"/>
          </a:p>
        </p:txBody>
      </p:sp>
      <p:sp>
        <p:nvSpPr>
          <p:cNvPr id="35" name="Shape 33"/>
          <p:cNvSpPr/>
          <p:nvPr/>
        </p:nvSpPr>
        <p:spPr>
          <a:xfrm>
            <a:off x="6163056" y="4727448"/>
            <a:ext cx="5568696" cy="1572768"/>
          </a:xfrm>
          <a:prstGeom prst="roundRect">
            <a:avLst>
              <a:gd name="adj" fmla="val 5814"/>
            </a:avLst>
          </a:prstGeom>
          <a:solidFill>
            <a:srgbClr val="2E7D32">
              <a:alpha val="6000"/>
            </a:srgbClr>
          </a:solidFill>
          <a:ln w="12700">
            <a:solidFill>
              <a:srgbClr val="2E7D32"/>
            </a:solidFill>
            <a:prstDash val="solid"/>
          </a:ln>
          <a:effectLst>
            <a:outerShdw sx="100000" sy="100000" kx="0" ky="0" algn="bl" rotWithShape="0" blurRad="76200" dist="38100" dir="2700000">
              <a:srgbClr val="000000">
                <a:alpha val="10000"/>
              </a:srgbClr>
            </a:outerShdw>
          </a:effectLst>
        </p:spPr>
      </p:sp>
      <p:sp>
        <p:nvSpPr>
          <p:cNvPr id="36" name="Shape 34"/>
          <p:cNvSpPr/>
          <p:nvPr/>
        </p:nvSpPr>
        <p:spPr>
          <a:xfrm>
            <a:off x="6163056" y="4727448"/>
            <a:ext cx="5568696" cy="54864"/>
          </a:xfrm>
          <a:prstGeom prst="roundRect">
            <a:avLst>
              <a:gd name="adj" fmla="val 66667"/>
            </a:avLst>
          </a:prstGeom>
          <a:solidFill>
            <a:srgbClr val="2E7D32"/>
          </a:solidFill>
          <a:ln w="12700">
            <a:solidFill>
              <a:srgbClr val="2E7D32"/>
            </a:solidFill>
            <a:prstDash val="solid"/>
          </a:ln>
        </p:spPr>
      </p:sp>
      <p:sp>
        <p:nvSpPr>
          <p:cNvPr id="37" name="Text 35"/>
          <p:cNvSpPr/>
          <p:nvPr/>
        </p:nvSpPr>
        <p:spPr>
          <a:xfrm>
            <a:off x="6327648" y="4818888"/>
            <a:ext cx="5239512" cy="347472"/>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Validation is Essential</a:t>
            </a:r>
            <a:endParaRPr lang="en-US" sz="1100" dirty="0"/>
          </a:p>
        </p:txBody>
      </p:sp>
      <p:sp>
        <p:nvSpPr>
          <p:cNvPr id="38" name="Text 36"/>
          <p:cNvSpPr/>
          <p:nvPr/>
        </p:nvSpPr>
        <p:spPr>
          <a:xfrm>
            <a:off x="6327648" y="5202936"/>
            <a:ext cx="5239512" cy="978408"/>
          </a:xfrm>
          <a:prstGeom prst="rect">
            <a:avLst/>
          </a:prstGeom>
          <a:noFill/>
          <a:ln/>
        </p:spPr>
        <p:txBody>
          <a:bodyPr wrap="square" rtlCol="0" anchor="t"/>
          <a:lstStyle/>
          <a:p>
            <a:pPr indent="0" marL="0">
              <a:buNone/>
            </a:pPr>
            <a:r>
              <a:rPr lang="en-US" sz="950" dirty="0">
                <a:solidFill>
                  <a:srgbClr val="1C1C1C"/>
                </a:solidFill>
                <a:latin typeface="Calibri" pitchFamily="34" charset="0"/>
                <a:ea typeface="Calibri" pitchFamily="34" charset="-122"/>
                <a:cs typeface="Calibri" pitchFamily="34" charset="-120"/>
              </a:rPr>
              <a:t>Every milestone validated against Comanche 055 assembler source and the original AGC specification PDFs. No milestone is considered complete until independently verified.</a:t>
            </a:r>
            <a:endParaRPr lang="en-US" sz="950" dirty="0"/>
          </a:p>
        </p:txBody>
      </p:sp>
      <p:sp>
        <p:nvSpPr>
          <p:cNvPr id="39" name="Shape 37"/>
          <p:cNvSpPr/>
          <p:nvPr/>
        </p:nvSpPr>
        <p:spPr>
          <a:xfrm>
            <a:off x="0" y="6656832"/>
            <a:ext cx="12188952" cy="201168"/>
          </a:xfrm>
          <a:prstGeom prst="rect">
            <a:avLst/>
          </a:prstGeom>
          <a:solidFill>
            <a:srgbClr val="005C58"/>
          </a:solidFill>
          <a:ln w="12700">
            <a:solidFill>
              <a:srgbClr val="005C58"/>
            </a:solidFill>
            <a:prstDash val="solid"/>
          </a:ln>
        </p:spPr>
      </p:sp>
      <p:sp>
        <p:nvSpPr>
          <p:cNvPr id="40" name="Text 38"/>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41" name="Text 39"/>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The Workday</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From blank whiteboard to 5 complete milestones — in one day</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411480" y="1115568"/>
            <a:ext cx="3749040" cy="5212080"/>
          </a:xfrm>
          <a:prstGeom prst="roundRect">
            <a:avLst>
              <a:gd name="adj" fmla="val 2439"/>
            </a:avLst>
          </a:prstGeom>
          <a:solidFill>
            <a:srgbClr val="F8FAFB"/>
          </a:solidFill>
          <a:ln w="12700">
            <a:solidFill>
              <a:srgbClr val="D1D5DB"/>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411480" y="1115568"/>
            <a:ext cx="3749040" cy="457200"/>
          </a:xfrm>
          <a:prstGeom prst="roundRect">
            <a:avLst>
              <a:gd name="adj" fmla="val 20000"/>
            </a:avLst>
          </a:prstGeom>
          <a:solidFill>
            <a:srgbClr val="007B76"/>
          </a:solidFill>
          <a:ln w="12700">
            <a:solidFill>
              <a:srgbClr val="007B76"/>
            </a:solidFill>
            <a:prstDash val="solid"/>
          </a:ln>
        </p:spPr>
      </p:sp>
      <p:sp>
        <p:nvSpPr>
          <p:cNvPr id="8" name="Text 6"/>
          <p:cNvSpPr/>
          <p:nvPr/>
        </p:nvSpPr>
        <p:spPr>
          <a:xfrm>
            <a:off x="502920" y="1115568"/>
            <a:ext cx="3566160" cy="45720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Day Plan  —  April 9, 2026</a:t>
            </a:r>
            <a:endParaRPr lang="en-US" sz="1150" dirty="0"/>
          </a:p>
        </p:txBody>
      </p:sp>
      <p:sp>
        <p:nvSpPr>
          <p:cNvPr id="9" name="Shape 7"/>
          <p:cNvSpPr/>
          <p:nvPr/>
        </p:nvSpPr>
        <p:spPr>
          <a:xfrm>
            <a:off x="530352" y="1719072"/>
            <a:ext cx="685800" cy="329184"/>
          </a:xfrm>
          <a:prstGeom prst="roundRect">
            <a:avLst>
              <a:gd name="adj" fmla="val 16667"/>
            </a:avLst>
          </a:prstGeom>
          <a:solidFill>
            <a:srgbClr val="1E6B9B"/>
          </a:solidFill>
          <a:ln w="12700">
            <a:solidFill>
              <a:srgbClr val="1E6B9B"/>
            </a:solidFill>
            <a:prstDash val="solid"/>
          </a:ln>
        </p:spPr>
      </p:sp>
      <p:sp>
        <p:nvSpPr>
          <p:cNvPr id="10" name="Text 8"/>
          <p:cNvSpPr/>
          <p:nvPr/>
        </p:nvSpPr>
        <p:spPr>
          <a:xfrm>
            <a:off x="530352" y="1719072"/>
            <a:ext cx="68580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10:00</a:t>
            </a:r>
            <a:endParaRPr lang="en-US" sz="900" dirty="0"/>
          </a:p>
        </p:txBody>
      </p:sp>
      <p:sp>
        <p:nvSpPr>
          <p:cNvPr id="11" name="Text 9"/>
          <p:cNvSpPr/>
          <p:nvPr/>
        </p:nvSpPr>
        <p:spPr>
          <a:xfrm>
            <a:off x="1298448" y="1719072"/>
            <a:ext cx="2743200" cy="329184"/>
          </a:xfrm>
          <a:prstGeom prst="rect">
            <a:avLst/>
          </a:prstGeom>
          <a:noFill/>
          <a:ln/>
        </p:spPr>
        <p:txBody>
          <a:bodyPr wrap="square" rtlCol="0" anchor="ctr"/>
          <a:lstStyle/>
          <a:p>
            <a:pPr indent="0" marL="0">
              <a:buNone/>
            </a:pPr>
            <a:r>
              <a:rPr lang="en-US" sz="1050" b="1" dirty="0">
                <a:solidFill>
                  <a:srgbClr val="1E6B9B"/>
                </a:solidFill>
                <a:latin typeface="Calibri" pitchFamily="34" charset="0"/>
                <a:ea typeface="Calibri" pitchFamily="34" charset="-122"/>
                <a:cs typeface="Calibri" pitchFamily="34" charset="-120"/>
              </a:rPr>
              <a:t>1. Architecture</a:t>
            </a:r>
            <a:endParaRPr lang="en-US" sz="1050" dirty="0"/>
          </a:p>
        </p:txBody>
      </p:sp>
      <p:sp>
        <p:nvSpPr>
          <p:cNvPr id="12" name="Text 10"/>
          <p:cNvSpPr/>
          <p:nvPr/>
        </p:nvSpPr>
        <p:spPr>
          <a:xfrm>
            <a:off x="566928" y="2084832"/>
            <a:ext cx="3429000" cy="475488"/>
          </a:xfrm>
          <a:prstGeom prst="rect">
            <a:avLst/>
          </a:prstGeom>
          <a:noFill/>
          <a:ln/>
        </p:spPr>
        <p:txBody>
          <a:bodyPr wrap="square" rtlCol="0" anchor="t"/>
          <a:lstStyle/>
          <a:p>
            <a:pPr indent="0" marL="0">
              <a:buNone/>
            </a:pPr>
            <a:r>
              <a:rPr lang="en-US" sz="880" dirty="0">
                <a:solidFill>
                  <a:srgbClr val="1C1C1C"/>
                </a:solidFill>
                <a:latin typeface="Calibri" pitchFamily="34" charset="0"/>
                <a:ea typeface="Calibri" pitchFamily="34" charset="-122"/>
                <a:cs typeface="Calibri" pitchFamily="34" charset="-120"/>
              </a:rPr>
              <a:t>Rough design → fix AGC problems + Rust embedding. Target: ~1,000 lines with structure, types &amp; components.</a:t>
            </a:r>
            <a:endParaRPr lang="en-US" sz="880" dirty="0"/>
          </a:p>
        </p:txBody>
      </p:sp>
      <p:sp>
        <p:nvSpPr>
          <p:cNvPr id="13" name="Shape 11"/>
          <p:cNvSpPr/>
          <p:nvPr/>
        </p:nvSpPr>
        <p:spPr>
          <a:xfrm>
            <a:off x="530352" y="2633472"/>
            <a:ext cx="685800" cy="329184"/>
          </a:xfrm>
          <a:prstGeom prst="roundRect">
            <a:avLst>
              <a:gd name="adj" fmla="val 16667"/>
            </a:avLst>
          </a:prstGeom>
          <a:solidFill>
            <a:srgbClr val="C45200"/>
          </a:solidFill>
          <a:ln w="12700">
            <a:solidFill>
              <a:srgbClr val="C45200"/>
            </a:solidFill>
            <a:prstDash val="solid"/>
          </a:ln>
        </p:spPr>
      </p:sp>
      <p:sp>
        <p:nvSpPr>
          <p:cNvPr id="14" name="Text 12"/>
          <p:cNvSpPr/>
          <p:nvPr/>
        </p:nvSpPr>
        <p:spPr>
          <a:xfrm>
            <a:off x="530352" y="2633472"/>
            <a:ext cx="68580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5" name="Text 13"/>
          <p:cNvSpPr/>
          <p:nvPr/>
        </p:nvSpPr>
        <p:spPr>
          <a:xfrm>
            <a:off x="1298448" y="2633472"/>
            <a:ext cx="2743200" cy="329184"/>
          </a:xfrm>
          <a:prstGeom prst="rect">
            <a:avLst/>
          </a:prstGeom>
          <a:noFill/>
          <a:ln/>
        </p:spPr>
        <p:txBody>
          <a:bodyPr wrap="square" rtlCol="0" anchor="ctr"/>
          <a:lstStyle/>
          <a:p>
            <a:pPr indent="0" marL="0">
              <a:buNone/>
            </a:pPr>
            <a:r>
              <a:rPr lang="en-US" sz="1050" b="1" dirty="0">
                <a:solidFill>
                  <a:srgbClr val="C45200"/>
                </a:solidFill>
                <a:latin typeface="Calibri" pitchFamily="34" charset="0"/>
                <a:ea typeface="Calibri" pitchFamily="34" charset="-122"/>
                <a:cs typeface="Calibri" pitchFamily="34" charset="-120"/>
              </a:rPr>
              <a:t>2. Token Strategy</a:t>
            </a:r>
            <a:endParaRPr lang="en-US" sz="1050" dirty="0"/>
          </a:p>
        </p:txBody>
      </p:sp>
      <p:sp>
        <p:nvSpPr>
          <p:cNvPr id="16" name="Text 14"/>
          <p:cNvSpPr/>
          <p:nvPr/>
        </p:nvSpPr>
        <p:spPr>
          <a:xfrm>
            <a:off x="566928" y="2999232"/>
            <a:ext cx="3429000" cy="475488"/>
          </a:xfrm>
          <a:prstGeom prst="rect">
            <a:avLst/>
          </a:prstGeom>
          <a:noFill/>
          <a:ln/>
        </p:spPr>
        <p:txBody>
          <a:bodyPr wrap="square" rtlCol="0" anchor="t"/>
          <a:lstStyle/>
          <a:p>
            <a:pPr indent="0" marL="0">
              <a:buNone/>
            </a:pPr>
            <a:r>
              <a:rPr lang="en-US" sz="880" dirty="0">
                <a:solidFill>
                  <a:srgbClr val="1C1C1C"/>
                </a:solidFill>
                <a:latin typeface="Calibri" pitchFamily="34" charset="0"/>
                <a:ea typeface="Calibri" pitchFamily="34" charset="-122"/>
                <a:cs typeface="Calibri" pitchFamily="34" charset="-120"/>
              </a:rPr>
              <a:t>Pro Plan exhausted after 2 h — no more tokens. Switched approach and planned next steps carefully.</a:t>
            </a:r>
            <a:endParaRPr lang="en-US" sz="880" dirty="0"/>
          </a:p>
        </p:txBody>
      </p:sp>
      <p:sp>
        <p:nvSpPr>
          <p:cNvPr id="17" name="Shape 15"/>
          <p:cNvSpPr/>
          <p:nvPr/>
        </p:nvSpPr>
        <p:spPr>
          <a:xfrm>
            <a:off x="530352" y="3547872"/>
            <a:ext cx="685800" cy="329184"/>
          </a:xfrm>
          <a:prstGeom prst="roundRect">
            <a:avLst>
              <a:gd name="adj" fmla="val 16667"/>
            </a:avLst>
          </a:prstGeom>
          <a:solidFill>
            <a:srgbClr val="7B2FBE"/>
          </a:solidFill>
          <a:ln w="12700">
            <a:solidFill>
              <a:srgbClr val="7B2FBE"/>
            </a:solidFill>
            <a:prstDash val="solid"/>
          </a:ln>
        </p:spPr>
      </p:sp>
      <p:sp>
        <p:nvSpPr>
          <p:cNvPr id="18" name="Text 16"/>
          <p:cNvSpPr/>
          <p:nvPr/>
        </p:nvSpPr>
        <p:spPr>
          <a:xfrm>
            <a:off x="530352" y="3547872"/>
            <a:ext cx="68580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12:00</a:t>
            </a:r>
            <a:endParaRPr lang="en-US" sz="900" dirty="0"/>
          </a:p>
        </p:txBody>
      </p:sp>
      <p:sp>
        <p:nvSpPr>
          <p:cNvPr id="19" name="Text 17"/>
          <p:cNvSpPr/>
          <p:nvPr/>
        </p:nvSpPr>
        <p:spPr>
          <a:xfrm>
            <a:off x="1298448" y="3547872"/>
            <a:ext cx="2743200" cy="329184"/>
          </a:xfrm>
          <a:prstGeom prst="rect">
            <a:avLst/>
          </a:prstGeom>
          <a:noFill/>
          <a:ln/>
        </p:spPr>
        <p:txBody>
          <a:bodyPr wrap="square" rtlCol="0" anchor="ctr"/>
          <a:lstStyle/>
          <a:p>
            <a:pPr indent="0" marL="0">
              <a:buNone/>
            </a:pPr>
            <a:r>
              <a:rPr lang="en-US" sz="1050" b="1" dirty="0">
                <a:solidFill>
                  <a:srgbClr val="7B2FBE"/>
                </a:solidFill>
                <a:latin typeface="Calibri" pitchFamily="34" charset="0"/>
                <a:ea typeface="Calibri" pitchFamily="34" charset="-122"/>
                <a:cs typeface="Calibri" pitchFamily="34" charset="-120"/>
              </a:rPr>
              <a:t>3. Proof Reading</a:t>
            </a:r>
            <a:endParaRPr lang="en-US" sz="1050" dirty="0"/>
          </a:p>
        </p:txBody>
      </p:sp>
      <p:sp>
        <p:nvSpPr>
          <p:cNvPr id="20" name="Text 18"/>
          <p:cNvSpPr/>
          <p:nvPr/>
        </p:nvSpPr>
        <p:spPr>
          <a:xfrm>
            <a:off x="566928" y="3913632"/>
            <a:ext cx="3429000" cy="475488"/>
          </a:xfrm>
          <a:prstGeom prst="rect">
            <a:avLst/>
          </a:prstGeom>
          <a:noFill/>
          <a:ln/>
        </p:spPr>
        <p:txBody>
          <a:bodyPr wrap="square" rtlCol="0" anchor="t"/>
          <a:lstStyle/>
          <a:p>
            <a:pPr indent="0" marL="0">
              <a:buNone/>
            </a:pPr>
            <a:r>
              <a:rPr lang="en-US" sz="880" dirty="0">
                <a:solidFill>
                  <a:srgbClr val="1C1C1C"/>
                </a:solidFill>
                <a:latin typeface="Calibri" pitchFamily="34" charset="0"/>
                <a:ea typeface="Calibri" pitchFamily="34" charset="-122"/>
                <a:cs typeface="Calibri" pitchFamily="34" charset="-120"/>
              </a:rPr>
              <a:t>Architecture doc + Embedded Rust Book — deep knowledge loading for all AI agents before code generation.</a:t>
            </a:r>
            <a:endParaRPr lang="en-US" sz="880" dirty="0"/>
          </a:p>
        </p:txBody>
      </p:sp>
      <p:sp>
        <p:nvSpPr>
          <p:cNvPr id="21" name="Shape 19"/>
          <p:cNvSpPr/>
          <p:nvPr/>
        </p:nvSpPr>
        <p:spPr>
          <a:xfrm>
            <a:off x="530352" y="4462272"/>
            <a:ext cx="685800" cy="329184"/>
          </a:xfrm>
          <a:prstGeom prst="roundRect">
            <a:avLst>
              <a:gd name="adj" fmla="val 16667"/>
            </a:avLst>
          </a:prstGeom>
          <a:solidFill>
            <a:srgbClr val="0D9488"/>
          </a:solidFill>
          <a:ln w="12700">
            <a:solidFill>
              <a:srgbClr val="0D9488"/>
            </a:solidFill>
            <a:prstDash val="solid"/>
          </a:ln>
        </p:spPr>
      </p:sp>
      <p:sp>
        <p:nvSpPr>
          <p:cNvPr id="22" name="Text 20"/>
          <p:cNvSpPr/>
          <p:nvPr/>
        </p:nvSpPr>
        <p:spPr>
          <a:xfrm>
            <a:off x="530352" y="4462272"/>
            <a:ext cx="68580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15:00</a:t>
            </a:r>
            <a:endParaRPr lang="en-US" sz="900" dirty="0"/>
          </a:p>
        </p:txBody>
      </p:sp>
      <p:sp>
        <p:nvSpPr>
          <p:cNvPr id="23" name="Text 21"/>
          <p:cNvSpPr/>
          <p:nvPr/>
        </p:nvSpPr>
        <p:spPr>
          <a:xfrm>
            <a:off x="1298448" y="4462272"/>
            <a:ext cx="2743200" cy="329184"/>
          </a:xfrm>
          <a:prstGeom prst="rect">
            <a:avLst/>
          </a:prstGeom>
          <a:noFill/>
          <a:ln/>
        </p:spPr>
        <p:txBody>
          <a:bodyPr wrap="square"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4. First Execution</a:t>
            </a:r>
            <a:endParaRPr lang="en-US" sz="1050" dirty="0"/>
          </a:p>
        </p:txBody>
      </p:sp>
      <p:sp>
        <p:nvSpPr>
          <p:cNvPr id="24" name="Text 22"/>
          <p:cNvSpPr/>
          <p:nvPr/>
        </p:nvSpPr>
        <p:spPr>
          <a:xfrm>
            <a:off x="566928" y="4828032"/>
            <a:ext cx="3429000" cy="475488"/>
          </a:xfrm>
          <a:prstGeom prst="rect">
            <a:avLst/>
          </a:prstGeom>
          <a:noFill/>
          <a:ln/>
        </p:spPr>
        <p:txBody>
          <a:bodyPr wrap="square" rtlCol="0" anchor="t"/>
          <a:lstStyle/>
          <a:p>
            <a:pPr indent="0" marL="0">
              <a:buNone/>
            </a:pPr>
            <a:r>
              <a:rPr lang="en-US" sz="880" dirty="0">
                <a:solidFill>
                  <a:srgbClr val="1C1C1C"/>
                </a:solidFill>
                <a:latin typeface="Calibri" pitchFamily="34" charset="0"/>
                <a:ea typeface="Calibri" pitchFamily="34" charset="-122"/>
                <a:cs typeface="Calibri" pitchFamily="34" charset="-120"/>
              </a:rPr>
              <a:t>M1 → 5,000 LoC Markdown + 1,000 Rust.</a:t>
            </a:r>
            <a:endParaRPr lang="en-US" sz="880" dirty="0"/>
          </a:p>
          <a:p>
            <a:pPr indent="0" marL="0">
              <a:buNone/>
            </a:pPr>
            <a:r>
              <a:rPr lang="en-US" sz="880" dirty="0">
                <a:solidFill>
                  <a:srgbClr val="1C1C1C"/>
                </a:solidFill>
                <a:latin typeface="Calibri" pitchFamily="34" charset="0"/>
                <a:ea typeface="Calibri" pitchFamily="34" charset="-122"/>
                <a:cs typeface="Calibri" pitchFamily="34" charset="-120"/>
              </a:rPr>
              <a:t>M2 → 5,000 Markdown + 2,500 Rust.</a:t>
            </a:r>
            <a:endParaRPr lang="en-US" sz="880" dirty="0"/>
          </a:p>
        </p:txBody>
      </p:sp>
      <p:sp>
        <p:nvSpPr>
          <p:cNvPr id="25" name="Shape 23"/>
          <p:cNvSpPr/>
          <p:nvPr/>
        </p:nvSpPr>
        <p:spPr>
          <a:xfrm>
            <a:off x="530352" y="5376672"/>
            <a:ext cx="685800" cy="329184"/>
          </a:xfrm>
          <a:prstGeom prst="roundRect">
            <a:avLst>
              <a:gd name="adj" fmla="val 16667"/>
            </a:avLst>
          </a:prstGeom>
          <a:solidFill>
            <a:srgbClr val="2E7D32"/>
          </a:solidFill>
          <a:ln w="12700">
            <a:solidFill>
              <a:srgbClr val="2E7D32"/>
            </a:solidFill>
            <a:prstDash val="solid"/>
          </a:ln>
        </p:spPr>
      </p:sp>
      <p:sp>
        <p:nvSpPr>
          <p:cNvPr id="26" name="Text 24"/>
          <p:cNvSpPr/>
          <p:nvPr/>
        </p:nvSpPr>
        <p:spPr>
          <a:xfrm>
            <a:off x="530352" y="5376672"/>
            <a:ext cx="68580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17:00</a:t>
            </a:r>
            <a:endParaRPr lang="en-US" sz="900" dirty="0"/>
          </a:p>
        </p:txBody>
      </p:sp>
      <p:sp>
        <p:nvSpPr>
          <p:cNvPr id="27" name="Text 25"/>
          <p:cNvSpPr/>
          <p:nvPr/>
        </p:nvSpPr>
        <p:spPr>
          <a:xfrm>
            <a:off x="1298448" y="5376672"/>
            <a:ext cx="2743200" cy="329184"/>
          </a:xfrm>
          <a:prstGeom prst="rect">
            <a:avLst/>
          </a:prstGeom>
          <a:noFill/>
          <a:ln/>
        </p:spPr>
        <p:txBody>
          <a:bodyPr wrap="square"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5. Milestone Loop</a:t>
            </a:r>
            <a:endParaRPr lang="en-US" sz="1050" dirty="0"/>
          </a:p>
        </p:txBody>
      </p:sp>
      <p:sp>
        <p:nvSpPr>
          <p:cNvPr id="28" name="Text 26"/>
          <p:cNvSpPr/>
          <p:nvPr/>
        </p:nvSpPr>
        <p:spPr>
          <a:xfrm>
            <a:off x="566928" y="5742432"/>
            <a:ext cx="3429000" cy="475488"/>
          </a:xfrm>
          <a:prstGeom prst="rect">
            <a:avLst/>
          </a:prstGeom>
          <a:noFill/>
          <a:ln/>
        </p:spPr>
        <p:txBody>
          <a:bodyPr wrap="square" rtlCol="0" anchor="t"/>
          <a:lstStyle/>
          <a:p>
            <a:pPr indent="0" marL="0">
              <a:buNone/>
            </a:pPr>
            <a:r>
              <a:rPr lang="en-US" sz="880" dirty="0">
                <a:solidFill>
                  <a:srgbClr val="1C1C1C"/>
                </a:solidFill>
                <a:latin typeface="Calibri" pitchFamily="34" charset="0"/>
                <a:ea typeface="Calibri" pitchFamily="34" charset="-122"/>
                <a:cs typeface="Calibri" pitchFamily="34" charset="-120"/>
              </a:rPr>
              <a:t>Milestones development with continuous PDF + Comanche 055 assembler validation at every step.</a:t>
            </a:r>
            <a:endParaRPr lang="en-US" sz="880" dirty="0"/>
          </a:p>
        </p:txBody>
      </p:sp>
      <p:sp>
        <p:nvSpPr>
          <p:cNvPr id="29" name="Shape 27"/>
          <p:cNvSpPr/>
          <p:nvPr/>
        </p:nvSpPr>
        <p:spPr>
          <a:xfrm>
            <a:off x="4343400" y="1115568"/>
            <a:ext cx="7479792" cy="475488"/>
          </a:xfrm>
          <a:prstGeom prst="roundRect">
            <a:avLst>
              <a:gd name="adj" fmla="val 15385"/>
            </a:avLst>
          </a:prstGeom>
          <a:solidFill>
            <a:srgbClr val="005C58"/>
          </a:solidFill>
          <a:ln w="12700">
            <a:solidFill>
              <a:srgbClr val="005C58"/>
            </a:solidFill>
            <a:prstDash val="solid"/>
          </a:ln>
        </p:spPr>
      </p:sp>
      <p:sp>
        <p:nvSpPr>
          <p:cNvPr id="30" name="Text 28"/>
          <p:cNvSpPr/>
          <p:nvPr/>
        </p:nvSpPr>
        <p:spPr>
          <a:xfrm>
            <a:off x="4526280" y="1115568"/>
            <a:ext cx="7114032" cy="47548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Actual Execution  —  April 10, 2026</a:t>
            </a:r>
            <a:endParaRPr lang="en-US" sz="1300" dirty="0"/>
          </a:p>
        </p:txBody>
      </p:sp>
      <p:sp>
        <p:nvSpPr>
          <p:cNvPr id="31" name="Shape 29"/>
          <p:cNvSpPr/>
          <p:nvPr/>
        </p:nvSpPr>
        <p:spPr>
          <a:xfrm>
            <a:off x="4343400" y="1709928"/>
            <a:ext cx="7479792" cy="429768"/>
          </a:xfrm>
          <a:prstGeom prst="rect">
            <a:avLst/>
          </a:prstGeom>
          <a:solidFill>
            <a:srgbClr val="F9FAFB"/>
          </a:solidFill>
          <a:ln w="12700">
            <a:solidFill>
              <a:srgbClr val="F0F0F0"/>
            </a:solidFill>
            <a:prstDash val="solid"/>
          </a:ln>
        </p:spPr>
      </p:sp>
      <p:sp>
        <p:nvSpPr>
          <p:cNvPr id="32" name="Text 30"/>
          <p:cNvSpPr/>
          <p:nvPr/>
        </p:nvSpPr>
        <p:spPr>
          <a:xfrm>
            <a:off x="4480560" y="1709928"/>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10:15</a:t>
            </a:r>
            <a:endParaRPr lang="en-US" sz="1050" dirty="0"/>
          </a:p>
        </p:txBody>
      </p:sp>
      <p:sp>
        <p:nvSpPr>
          <p:cNvPr id="33" name="Shape 31"/>
          <p:cNvSpPr/>
          <p:nvPr/>
        </p:nvSpPr>
        <p:spPr>
          <a:xfrm>
            <a:off x="5303520" y="1773936"/>
            <a:ext cx="1417320" cy="301752"/>
          </a:xfrm>
          <a:prstGeom prst="roundRect">
            <a:avLst>
              <a:gd name="adj" fmla="val 18182"/>
            </a:avLst>
          </a:prstGeom>
          <a:solidFill>
            <a:srgbClr val="1E6B9B"/>
          </a:solidFill>
          <a:ln w="12700">
            <a:solidFill>
              <a:srgbClr val="1E6B9B"/>
            </a:solidFill>
            <a:prstDash val="solid"/>
          </a:ln>
        </p:spPr>
      </p:sp>
      <p:sp>
        <p:nvSpPr>
          <p:cNvPr id="34" name="Text 32"/>
          <p:cNvSpPr/>
          <p:nvPr/>
        </p:nvSpPr>
        <p:spPr>
          <a:xfrm>
            <a:off x="5303520" y="1773936"/>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Start</a:t>
            </a:r>
            <a:endParaRPr lang="en-US" sz="1000" dirty="0"/>
          </a:p>
        </p:txBody>
      </p:sp>
      <p:sp>
        <p:nvSpPr>
          <p:cNvPr id="35" name="Text 33"/>
          <p:cNvSpPr/>
          <p:nvPr/>
        </p:nvSpPr>
        <p:spPr>
          <a:xfrm>
            <a:off x="6858000" y="1709928"/>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Architecture locked, pipeline ready</a:t>
            </a:r>
            <a:endParaRPr lang="en-US" sz="950" dirty="0"/>
          </a:p>
        </p:txBody>
      </p:sp>
      <p:sp>
        <p:nvSpPr>
          <p:cNvPr id="36" name="Text 34"/>
          <p:cNvSpPr/>
          <p:nvPr/>
        </p:nvSpPr>
        <p:spPr>
          <a:xfrm>
            <a:off x="4480560" y="2139696"/>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10:28</a:t>
            </a:r>
            <a:endParaRPr lang="en-US" sz="1050" dirty="0"/>
          </a:p>
        </p:txBody>
      </p:sp>
      <p:sp>
        <p:nvSpPr>
          <p:cNvPr id="37" name="Shape 35"/>
          <p:cNvSpPr/>
          <p:nvPr/>
        </p:nvSpPr>
        <p:spPr>
          <a:xfrm>
            <a:off x="5303520" y="2203704"/>
            <a:ext cx="1417320" cy="301752"/>
          </a:xfrm>
          <a:prstGeom prst="roundRect">
            <a:avLst>
              <a:gd name="adj" fmla="val 18182"/>
            </a:avLst>
          </a:prstGeom>
          <a:solidFill>
            <a:srgbClr val="1E6B9B"/>
          </a:solidFill>
          <a:ln w="12700">
            <a:solidFill>
              <a:srgbClr val="1E6B9B"/>
            </a:solidFill>
            <a:prstDash val="solid"/>
          </a:ln>
        </p:spPr>
      </p:sp>
      <p:sp>
        <p:nvSpPr>
          <p:cNvPr id="38" name="Text 36"/>
          <p:cNvSpPr/>
          <p:nvPr/>
        </p:nvSpPr>
        <p:spPr>
          <a:xfrm>
            <a:off x="5303520" y="2203704"/>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M1 Analysis</a:t>
            </a:r>
            <a:endParaRPr lang="en-US" sz="1000" dirty="0"/>
          </a:p>
        </p:txBody>
      </p:sp>
      <p:sp>
        <p:nvSpPr>
          <p:cNvPr id="39" name="Text 37"/>
          <p:cNvSpPr/>
          <p:nvPr/>
        </p:nvSpPr>
        <p:spPr>
          <a:xfrm>
            <a:off x="6858000" y="2139696"/>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Core infrastructure spec complete</a:t>
            </a:r>
            <a:endParaRPr lang="en-US" sz="950" dirty="0"/>
          </a:p>
        </p:txBody>
      </p:sp>
      <p:sp>
        <p:nvSpPr>
          <p:cNvPr id="40" name="Shape 38"/>
          <p:cNvSpPr/>
          <p:nvPr/>
        </p:nvSpPr>
        <p:spPr>
          <a:xfrm>
            <a:off x="4343400" y="2569464"/>
            <a:ext cx="7479792" cy="429768"/>
          </a:xfrm>
          <a:prstGeom prst="rect">
            <a:avLst/>
          </a:prstGeom>
          <a:solidFill>
            <a:srgbClr val="F9FAFB"/>
          </a:solidFill>
          <a:ln w="12700">
            <a:solidFill>
              <a:srgbClr val="F0F0F0"/>
            </a:solidFill>
            <a:prstDash val="solid"/>
          </a:ln>
        </p:spPr>
      </p:sp>
      <p:sp>
        <p:nvSpPr>
          <p:cNvPr id="41" name="Text 39"/>
          <p:cNvSpPr/>
          <p:nvPr/>
        </p:nvSpPr>
        <p:spPr>
          <a:xfrm>
            <a:off x="4480560" y="2569464"/>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11:00</a:t>
            </a:r>
            <a:endParaRPr lang="en-US" sz="1050" dirty="0"/>
          </a:p>
        </p:txBody>
      </p:sp>
      <p:sp>
        <p:nvSpPr>
          <p:cNvPr id="42" name="Shape 40"/>
          <p:cNvSpPr/>
          <p:nvPr/>
        </p:nvSpPr>
        <p:spPr>
          <a:xfrm>
            <a:off x="5303520" y="2633472"/>
            <a:ext cx="1417320" cy="301752"/>
          </a:xfrm>
          <a:prstGeom prst="roundRect">
            <a:avLst>
              <a:gd name="adj" fmla="val 18182"/>
            </a:avLst>
          </a:prstGeom>
          <a:solidFill>
            <a:srgbClr val="1E6B9B"/>
          </a:solidFill>
          <a:ln w="12700">
            <a:solidFill>
              <a:srgbClr val="1E6B9B"/>
            </a:solidFill>
            <a:prstDash val="solid"/>
          </a:ln>
        </p:spPr>
      </p:sp>
      <p:sp>
        <p:nvSpPr>
          <p:cNvPr id="43" name="Text 41"/>
          <p:cNvSpPr/>
          <p:nvPr/>
        </p:nvSpPr>
        <p:spPr>
          <a:xfrm>
            <a:off x="5303520" y="2633472"/>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M1 Dev</a:t>
            </a:r>
            <a:endParaRPr lang="en-US" sz="1000" dirty="0"/>
          </a:p>
        </p:txBody>
      </p:sp>
      <p:sp>
        <p:nvSpPr>
          <p:cNvPr id="44" name="Text 42"/>
          <p:cNvSpPr/>
          <p:nvPr/>
        </p:nvSpPr>
        <p:spPr>
          <a:xfrm>
            <a:off x="6858000" y="2569464"/>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Scheduler, fixed-point math, memory map</a:t>
            </a:r>
            <a:endParaRPr lang="en-US" sz="950" dirty="0"/>
          </a:p>
        </p:txBody>
      </p:sp>
      <p:sp>
        <p:nvSpPr>
          <p:cNvPr id="45" name="Text 43"/>
          <p:cNvSpPr/>
          <p:nvPr/>
        </p:nvSpPr>
        <p:spPr>
          <a:xfrm>
            <a:off x="4480560" y="2999232"/>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11:30</a:t>
            </a:r>
            <a:endParaRPr lang="en-US" sz="1050" dirty="0"/>
          </a:p>
        </p:txBody>
      </p:sp>
      <p:sp>
        <p:nvSpPr>
          <p:cNvPr id="46" name="Shape 44"/>
          <p:cNvSpPr/>
          <p:nvPr/>
        </p:nvSpPr>
        <p:spPr>
          <a:xfrm>
            <a:off x="5303520" y="3063240"/>
            <a:ext cx="1417320" cy="301752"/>
          </a:xfrm>
          <a:prstGeom prst="roundRect">
            <a:avLst>
              <a:gd name="adj" fmla="val 18182"/>
            </a:avLst>
          </a:prstGeom>
          <a:solidFill>
            <a:srgbClr val="2E7D32"/>
          </a:solidFill>
          <a:ln w="12700">
            <a:solidFill>
              <a:srgbClr val="2E7D32"/>
            </a:solidFill>
            <a:prstDash val="solid"/>
          </a:ln>
        </p:spPr>
      </p:sp>
      <p:sp>
        <p:nvSpPr>
          <p:cNvPr id="47" name="Text 45"/>
          <p:cNvSpPr/>
          <p:nvPr/>
        </p:nvSpPr>
        <p:spPr>
          <a:xfrm>
            <a:off x="5303520" y="3063240"/>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M1 ✓</a:t>
            </a:r>
            <a:endParaRPr lang="en-US" sz="1000" dirty="0"/>
          </a:p>
        </p:txBody>
      </p:sp>
      <p:sp>
        <p:nvSpPr>
          <p:cNvPr id="48" name="Text 46"/>
          <p:cNvSpPr/>
          <p:nvPr/>
        </p:nvSpPr>
        <p:spPr>
          <a:xfrm>
            <a:off x="6858000" y="2999232"/>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All M1 tests green</a:t>
            </a:r>
            <a:endParaRPr lang="en-US" sz="950" dirty="0"/>
          </a:p>
        </p:txBody>
      </p:sp>
      <p:sp>
        <p:nvSpPr>
          <p:cNvPr id="49" name="Shape 47"/>
          <p:cNvSpPr/>
          <p:nvPr/>
        </p:nvSpPr>
        <p:spPr>
          <a:xfrm>
            <a:off x="4343400" y="3429000"/>
            <a:ext cx="7479792" cy="429768"/>
          </a:xfrm>
          <a:prstGeom prst="rect">
            <a:avLst/>
          </a:prstGeom>
          <a:solidFill>
            <a:srgbClr val="F9FAFB"/>
          </a:solidFill>
          <a:ln w="12700">
            <a:solidFill>
              <a:srgbClr val="F0F0F0"/>
            </a:solidFill>
            <a:prstDash val="solid"/>
          </a:ln>
        </p:spPr>
      </p:sp>
      <p:sp>
        <p:nvSpPr>
          <p:cNvPr id="50" name="Text 48"/>
          <p:cNvSpPr/>
          <p:nvPr/>
        </p:nvSpPr>
        <p:spPr>
          <a:xfrm>
            <a:off x="4480560" y="3429000"/>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11:40</a:t>
            </a:r>
            <a:endParaRPr lang="en-US" sz="1050" dirty="0"/>
          </a:p>
        </p:txBody>
      </p:sp>
      <p:sp>
        <p:nvSpPr>
          <p:cNvPr id="51" name="Shape 49"/>
          <p:cNvSpPr/>
          <p:nvPr/>
        </p:nvSpPr>
        <p:spPr>
          <a:xfrm>
            <a:off x="5303520" y="3493008"/>
            <a:ext cx="1417320" cy="301752"/>
          </a:xfrm>
          <a:prstGeom prst="roundRect">
            <a:avLst>
              <a:gd name="adj" fmla="val 18182"/>
            </a:avLst>
          </a:prstGeom>
          <a:solidFill>
            <a:srgbClr val="0D9488"/>
          </a:solidFill>
          <a:ln w="12700">
            <a:solidFill>
              <a:srgbClr val="0D9488"/>
            </a:solidFill>
            <a:prstDash val="solid"/>
          </a:ln>
        </p:spPr>
      </p:sp>
      <p:sp>
        <p:nvSpPr>
          <p:cNvPr id="52" name="Text 50"/>
          <p:cNvSpPr/>
          <p:nvPr/>
        </p:nvSpPr>
        <p:spPr>
          <a:xfrm>
            <a:off x="5303520" y="3493008"/>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M2 Analysis</a:t>
            </a:r>
            <a:endParaRPr lang="en-US" sz="1000" dirty="0"/>
          </a:p>
        </p:txBody>
      </p:sp>
      <p:sp>
        <p:nvSpPr>
          <p:cNvPr id="53" name="Text 51"/>
          <p:cNvSpPr/>
          <p:nvPr/>
        </p:nvSpPr>
        <p:spPr>
          <a:xfrm>
            <a:off x="6858000" y="3429000"/>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IMU, stellar nav spec complete</a:t>
            </a:r>
            <a:endParaRPr lang="en-US" sz="950" dirty="0"/>
          </a:p>
        </p:txBody>
      </p:sp>
      <p:sp>
        <p:nvSpPr>
          <p:cNvPr id="54" name="Text 52"/>
          <p:cNvSpPr/>
          <p:nvPr/>
        </p:nvSpPr>
        <p:spPr>
          <a:xfrm>
            <a:off x="4480560" y="3858768"/>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12:05</a:t>
            </a:r>
            <a:endParaRPr lang="en-US" sz="1050" dirty="0"/>
          </a:p>
        </p:txBody>
      </p:sp>
      <p:sp>
        <p:nvSpPr>
          <p:cNvPr id="55" name="Shape 53"/>
          <p:cNvSpPr/>
          <p:nvPr/>
        </p:nvSpPr>
        <p:spPr>
          <a:xfrm>
            <a:off x="5303520" y="3922776"/>
            <a:ext cx="1417320" cy="301752"/>
          </a:xfrm>
          <a:prstGeom prst="roundRect">
            <a:avLst>
              <a:gd name="adj" fmla="val 18182"/>
            </a:avLst>
          </a:prstGeom>
          <a:solidFill>
            <a:srgbClr val="0D9488"/>
          </a:solidFill>
          <a:ln w="12700">
            <a:solidFill>
              <a:srgbClr val="0D9488"/>
            </a:solidFill>
            <a:prstDash val="solid"/>
          </a:ln>
        </p:spPr>
      </p:sp>
      <p:sp>
        <p:nvSpPr>
          <p:cNvPr id="56" name="Text 54"/>
          <p:cNvSpPr/>
          <p:nvPr/>
        </p:nvSpPr>
        <p:spPr>
          <a:xfrm>
            <a:off x="5303520" y="3922776"/>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M2 Dev</a:t>
            </a:r>
            <a:endParaRPr lang="en-US" sz="1000" dirty="0"/>
          </a:p>
        </p:txBody>
      </p:sp>
      <p:sp>
        <p:nvSpPr>
          <p:cNvPr id="57" name="Text 55"/>
          <p:cNvSpPr/>
          <p:nvPr/>
        </p:nvSpPr>
        <p:spPr>
          <a:xfrm>
            <a:off x="6858000" y="3858768"/>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Navigation foundation implemented</a:t>
            </a:r>
            <a:endParaRPr lang="en-US" sz="950" dirty="0"/>
          </a:p>
        </p:txBody>
      </p:sp>
      <p:sp>
        <p:nvSpPr>
          <p:cNvPr id="58" name="Shape 56"/>
          <p:cNvSpPr/>
          <p:nvPr/>
        </p:nvSpPr>
        <p:spPr>
          <a:xfrm>
            <a:off x="4343400" y="4288536"/>
            <a:ext cx="7479792" cy="429768"/>
          </a:xfrm>
          <a:prstGeom prst="rect">
            <a:avLst/>
          </a:prstGeom>
          <a:solidFill>
            <a:srgbClr val="F9FAFB"/>
          </a:solidFill>
          <a:ln w="12700">
            <a:solidFill>
              <a:srgbClr val="F0F0F0"/>
            </a:solidFill>
            <a:prstDash val="solid"/>
          </a:ln>
        </p:spPr>
      </p:sp>
      <p:sp>
        <p:nvSpPr>
          <p:cNvPr id="59" name="Text 57"/>
          <p:cNvSpPr/>
          <p:nvPr/>
        </p:nvSpPr>
        <p:spPr>
          <a:xfrm>
            <a:off x="4480560" y="4288536"/>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12:25</a:t>
            </a:r>
            <a:endParaRPr lang="en-US" sz="1050" dirty="0"/>
          </a:p>
        </p:txBody>
      </p:sp>
      <p:sp>
        <p:nvSpPr>
          <p:cNvPr id="60" name="Shape 58"/>
          <p:cNvSpPr/>
          <p:nvPr/>
        </p:nvSpPr>
        <p:spPr>
          <a:xfrm>
            <a:off x="5303520" y="4352544"/>
            <a:ext cx="1417320" cy="301752"/>
          </a:xfrm>
          <a:prstGeom prst="roundRect">
            <a:avLst>
              <a:gd name="adj" fmla="val 18182"/>
            </a:avLst>
          </a:prstGeom>
          <a:solidFill>
            <a:srgbClr val="2E7D32"/>
          </a:solidFill>
          <a:ln w="12700">
            <a:solidFill>
              <a:srgbClr val="2E7D32"/>
            </a:solidFill>
            <a:prstDash val="solid"/>
          </a:ln>
        </p:spPr>
      </p:sp>
      <p:sp>
        <p:nvSpPr>
          <p:cNvPr id="61" name="Text 59"/>
          <p:cNvSpPr/>
          <p:nvPr/>
        </p:nvSpPr>
        <p:spPr>
          <a:xfrm>
            <a:off x="5303520" y="4352544"/>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M2 ✓</a:t>
            </a:r>
            <a:endParaRPr lang="en-US" sz="1000" dirty="0"/>
          </a:p>
        </p:txBody>
      </p:sp>
      <p:sp>
        <p:nvSpPr>
          <p:cNvPr id="62" name="Text 60"/>
          <p:cNvSpPr/>
          <p:nvPr/>
        </p:nvSpPr>
        <p:spPr>
          <a:xfrm>
            <a:off x="6858000" y="4288536"/>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Navigation foundation tests green</a:t>
            </a:r>
            <a:endParaRPr lang="en-US" sz="950" dirty="0"/>
          </a:p>
        </p:txBody>
      </p:sp>
      <p:sp>
        <p:nvSpPr>
          <p:cNvPr id="63" name="Text 61"/>
          <p:cNvSpPr/>
          <p:nvPr/>
        </p:nvSpPr>
        <p:spPr>
          <a:xfrm>
            <a:off x="4480560" y="4718304"/>
            <a:ext cx="731520" cy="429768"/>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12:30</a:t>
            </a:r>
            <a:endParaRPr lang="en-US" sz="900" dirty="0"/>
          </a:p>
        </p:txBody>
      </p:sp>
      <p:sp>
        <p:nvSpPr>
          <p:cNvPr id="64" name="Text 62"/>
          <p:cNvSpPr/>
          <p:nvPr/>
        </p:nvSpPr>
        <p:spPr>
          <a:xfrm>
            <a:off x="5303520" y="4718304"/>
            <a:ext cx="1417320" cy="429768"/>
          </a:xfrm>
          <a:prstGeom prst="rect">
            <a:avLst/>
          </a:prstGeom>
          <a:noFill/>
          <a:ln/>
        </p:spPr>
        <p:txBody>
          <a:bodyPr wrap="square"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 Pause ─</a:t>
            </a:r>
            <a:endParaRPr lang="en-US" sz="900" dirty="0"/>
          </a:p>
        </p:txBody>
      </p:sp>
      <p:sp>
        <p:nvSpPr>
          <p:cNvPr id="65" name="Text 63"/>
          <p:cNvSpPr/>
          <p:nvPr/>
        </p:nvSpPr>
        <p:spPr>
          <a:xfrm>
            <a:off x="6858000" y="4718304"/>
            <a:ext cx="4828032" cy="429768"/>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Lunch break</a:t>
            </a:r>
            <a:endParaRPr lang="en-US" sz="950" dirty="0"/>
          </a:p>
        </p:txBody>
      </p:sp>
      <p:sp>
        <p:nvSpPr>
          <p:cNvPr id="66" name="Shape 64"/>
          <p:cNvSpPr/>
          <p:nvPr/>
        </p:nvSpPr>
        <p:spPr>
          <a:xfrm>
            <a:off x="4343400" y="5148072"/>
            <a:ext cx="7479792" cy="429768"/>
          </a:xfrm>
          <a:prstGeom prst="rect">
            <a:avLst/>
          </a:prstGeom>
          <a:solidFill>
            <a:srgbClr val="F9FAFB"/>
          </a:solidFill>
          <a:ln w="12700">
            <a:solidFill>
              <a:srgbClr val="F0F0F0"/>
            </a:solidFill>
            <a:prstDash val="solid"/>
          </a:ln>
        </p:spPr>
      </p:sp>
      <p:sp>
        <p:nvSpPr>
          <p:cNvPr id="67" name="Text 65"/>
          <p:cNvSpPr/>
          <p:nvPr/>
        </p:nvSpPr>
        <p:spPr>
          <a:xfrm>
            <a:off x="4480560" y="5148072"/>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15:00</a:t>
            </a:r>
            <a:endParaRPr lang="en-US" sz="1050" dirty="0"/>
          </a:p>
        </p:txBody>
      </p:sp>
      <p:sp>
        <p:nvSpPr>
          <p:cNvPr id="68" name="Shape 66"/>
          <p:cNvSpPr/>
          <p:nvPr/>
        </p:nvSpPr>
        <p:spPr>
          <a:xfrm>
            <a:off x="5303520" y="5212080"/>
            <a:ext cx="1417320" cy="301752"/>
          </a:xfrm>
          <a:prstGeom prst="roundRect">
            <a:avLst>
              <a:gd name="adj" fmla="val 18182"/>
            </a:avLst>
          </a:prstGeom>
          <a:solidFill>
            <a:srgbClr val="2E7D32"/>
          </a:solidFill>
          <a:ln w="12700">
            <a:solidFill>
              <a:srgbClr val="2E7D32"/>
            </a:solidFill>
            <a:prstDash val="solid"/>
          </a:ln>
        </p:spPr>
      </p:sp>
      <p:sp>
        <p:nvSpPr>
          <p:cNvPr id="69" name="Text 67"/>
          <p:cNvSpPr/>
          <p:nvPr/>
        </p:nvSpPr>
        <p:spPr>
          <a:xfrm>
            <a:off x="5303520" y="5212080"/>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M3 ✓</a:t>
            </a:r>
            <a:endParaRPr lang="en-US" sz="1000" dirty="0"/>
          </a:p>
        </p:txBody>
      </p:sp>
      <p:sp>
        <p:nvSpPr>
          <p:cNvPr id="70" name="Text 68"/>
          <p:cNvSpPr/>
          <p:nvPr/>
        </p:nvSpPr>
        <p:spPr>
          <a:xfrm>
            <a:off x="6858000" y="5148072"/>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Guidance &amp; DAP complete</a:t>
            </a:r>
            <a:endParaRPr lang="en-US" sz="950" dirty="0"/>
          </a:p>
        </p:txBody>
      </p:sp>
      <p:sp>
        <p:nvSpPr>
          <p:cNvPr id="71" name="Text 69"/>
          <p:cNvSpPr/>
          <p:nvPr/>
        </p:nvSpPr>
        <p:spPr>
          <a:xfrm>
            <a:off x="4480560" y="5577840"/>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15:55</a:t>
            </a:r>
            <a:endParaRPr lang="en-US" sz="1050" dirty="0"/>
          </a:p>
        </p:txBody>
      </p:sp>
      <p:sp>
        <p:nvSpPr>
          <p:cNvPr id="72" name="Shape 70"/>
          <p:cNvSpPr/>
          <p:nvPr/>
        </p:nvSpPr>
        <p:spPr>
          <a:xfrm>
            <a:off x="5303520" y="5641848"/>
            <a:ext cx="1417320" cy="301752"/>
          </a:xfrm>
          <a:prstGeom prst="roundRect">
            <a:avLst>
              <a:gd name="adj" fmla="val 18182"/>
            </a:avLst>
          </a:prstGeom>
          <a:solidFill>
            <a:srgbClr val="2E7D32"/>
          </a:solidFill>
          <a:ln w="12700">
            <a:solidFill>
              <a:srgbClr val="2E7D32"/>
            </a:solidFill>
            <a:prstDash val="solid"/>
          </a:ln>
        </p:spPr>
      </p:sp>
      <p:sp>
        <p:nvSpPr>
          <p:cNvPr id="73" name="Text 71"/>
          <p:cNvSpPr/>
          <p:nvPr/>
        </p:nvSpPr>
        <p:spPr>
          <a:xfrm>
            <a:off x="5303520" y="5641848"/>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M4 ✓</a:t>
            </a:r>
            <a:endParaRPr lang="en-US" sz="1000" dirty="0"/>
          </a:p>
        </p:txBody>
      </p:sp>
      <p:sp>
        <p:nvSpPr>
          <p:cNvPr id="74" name="Text 72"/>
          <p:cNvSpPr/>
          <p:nvPr/>
        </p:nvSpPr>
        <p:spPr>
          <a:xfrm>
            <a:off x="6858000" y="5577840"/>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Navigation programs (P20/P52/P63–65)</a:t>
            </a:r>
            <a:endParaRPr lang="en-US" sz="950" dirty="0"/>
          </a:p>
        </p:txBody>
      </p:sp>
      <p:sp>
        <p:nvSpPr>
          <p:cNvPr id="75" name="Shape 73"/>
          <p:cNvSpPr/>
          <p:nvPr/>
        </p:nvSpPr>
        <p:spPr>
          <a:xfrm>
            <a:off x="4343400" y="6007608"/>
            <a:ext cx="7479792" cy="429768"/>
          </a:xfrm>
          <a:prstGeom prst="rect">
            <a:avLst/>
          </a:prstGeom>
          <a:solidFill>
            <a:srgbClr val="F9FAFB"/>
          </a:solidFill>
          <a:ln w="12700">
            <a:solidFill>
              <a:srgbClr val="F0F0F0"/>
            </a:solidFill>
            <a:prstDash val="solid"/>
          </a:ln>
        </p:spPr>
      </p:sp>
      <p:sp>
        <p:nvSpPr>
          <p:cNvPr id="76" name="Text 74"/>
          <p:cNvSpPr/>
          <p:nvPr/>
        </p:nvSpPr>
        <p:spPr>
          <a:xfrm>
            <a:off x="4480560" y="6007608"/>
            <a:ext cx="731520" cy="429768"/>
          </a:xfrm>
          <a:prstGeom prst="rect">
            <a:avLst/>
          </a:prstGeom>
          <a:noFill/>
          <a:ln/>
        </p:spPr>
        <p:txBody>
          <a:bodyPr wrap="square" rtlCol="0" anchor="ctr"/>
          <a:lstStyle/>
          <a:p>
            <a:pPr indent="0" marL="0">
              <a:buNone/>
            </a:pPr>
            <a:r>
              <a:rPr lang="en-US" sz="1050" b="1" dirty="0">
                <a:solidFill>
                  <a:srgbClr val="005C58"/>
                </a:solidFill>
                <a:latin typeface="Calibri" pitchFamily="34" charset="0"/>
                <a:ea typeface="Calibri" pitchFamily="34" charset="-122"/>
                <a:cs typeface="Calibri" pitchFamily="34" charset="-120"/>
              </a:rPr>
              <a:t>16:40</a:t>
            </a:r>
            <a:endParaRPr lang="en-US" sz="1050" dirty="0"/>
          </a:p>
        </p:txBody>
      </p:sp>
      <p:sp>
        <p:nvSpPr>
          <p:cNvPr id="77" name="Shape 75"/>
          <p:cNvSpPr/>
          <p:nvPr/>
        </p:nvSpPr>
        <p:spPr>
          <a:xfrm>
            <a:off x="5303520" y="6071616"/>
            <a:ext cx="1417320" cy="301752"/>
          </a:xfrm>
          <a:prstGeom prst="roundRect">
            <a:avLst>
              <a:gd name="adj" fmla="val 18182"/>
            </a:avLst>
          </a:prstGeom>
          <a:solidFill>
            <a:srgbClr val="2E7D32"/>
          </a:solidFill>
          <a:ln w="12700">
            <a:solidFill>
              <a:srgbClr val="2E7D32"/>
            </a:solidFill>
            <a:prstDash val="solid"/>
          </a:ln>
        </p:spPr>
      </p:sp>
      <p:sp>
        <p:nvSpPr>
          <p:cNvPr id="78" name="Text 76"/>
          <p:cNvSpPr/>
          <p:nvPr/>
        </p:nvSpPr>
        <p:spPr>
          <a:xfrm>
            <a:off x="5303520" y="6071616"/>
            <a:ext cx="1417320" cy="30175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M5 ✓</a:t>
            </a:r>
            <a:endParaRPr lang="en-US" sz="1000" dirty="0"/>
          </a:p>
        </p:txBody>
      </p:sp>
      <p:sp>
        <p:nvSpPr>
          <p:cNvPr id="79" name="Text 77"/>
          <p:cNvSpPr/>
          <p:nvPr/>
        </p:nvSpPr>
        <p:spPr>
          <a:xfrm>
            <a:off x="6858000" y="6007608"/>
            <a:ext cx="4828032" cy="429768"/>
          </a:xfrm>
          <a:prstGeom prst="rect">
            <a:avLst/>
          </a:prstGeom>
          <a:noFill/>
          <a:ln/>
        </p:spPr>
        <p:txBody>
          <a:bodyPr wrap="square" rtlCol="0" anchor="ctr"/>
          <a:lstStyle/>
          <a:p>
            <a:pPr indent="0" marL="0">
              <a:buNone/>
            </a:pPr>
            <a:r>
              <a:rPr lang="en-US" sz="950" dirty="0">
                <a:solidFill>
                  <a:srgbClr val="1C1C1C"/>
                </a:solidFill>
                <a:latin typeface="Calibri" pitchFamily="34" charset="0"/>
                <a:ea typeface="Calibri" pitchFamily="34" charset="-122"/>
                <a:cs typeface="Calibri" pitchFamily="34" charset="-120"/>
              </a:rPr>
              <a:t>DSKY + mission simulation complete</a:t>
            </a:r>
            <a:endParaRPr lang="en-US" sz="950" dirty="0"/>
          </a:p>
        </p:txBody>
      </p:sp>
      <p:sp>
        <p:nvSpPr>
          <p:cNvPr id="80" name="Shape 78"/>
          <p:cNvSpPr/>
          <p:nvPr/>
        </p:nvSpPr>
        <p:spPr>
          <a:xfrm>
            <a:off x="4343400" y="6574536"/>
            <a:ext cx="7479792" cy="548640"/>
          </a:xfrm>
          <a:prstGeom prst="roundRect">
            <a:avLst>
              <a:gd name="adj" fmla="val 13333"/>
            </a:avLst>
          </a:prstGeom>
          <a:solidFill>
            <a:srgbClr val="005C58"/>
          </a:solidFill>
          <a:ln w="12700">
            <a:solidFill>
              <a:srgbClr val="005C58"/>
            </a:solidFill>
            <a:prstDash val="solid"/>
          </a:ln>
        </p:spPr>
      </p:sp>
      <p:sp>
        <p:nvSpPr>
          <p:cNvPr id="81" name="Text 79"/>
          <p:cNvSpPr/>
          <p:nvPr/>
        </p:nvSpPr>
        <p:spPr>
          <a:xfrm>
            <a:off x="4526280" y="6574536"/>
            <a:ext cx="7114032" cy="548640"/>
          </a:xfrm>
          <a:prstGeom prst="rect">
            <a:avLst/>
          </a:prstGeom>
          <a:noFill/>
          <a:ln/>
        </p:spPr>
        <p:txBody>
          <a:bodyPr wrap="square" rtlCol="0" anchor="ctr"/>
          <a:lstStyle/>
          <a:p>
            <a:pPr algn="ctr" indent="0" marL="0">
              <a:buNone/>
            </a:pPr>
            <a:r>
              <a:rPr lang="en-US" sz="1200" b="1" dirty="0">
                <a:solidFill>
                  <a:srgbClr val="00A9A3"/>
                </a:solidFill>
                <a:latin typeface="Calibri" pitchFamily="34" charset="0"/>
                <a:ea typeface="Calibri" pitchFamily="34" charset="-122"/>
                <a:cs typeface="Calibri" pitchFamily="34" charset="-120"/>
              </a:rPr>
              <a:t>LoC Markdown: 13,500   |   LoC Rust: 12,200   |   Total: 25,700</a:t>
            </a:r>
            <a:endParaRPr lang="en-US" sz="1200" dirty="0"/>
          </a:p>
        </p:txBody>
      </p:sp>
      <p:sp>
        <p:nvSpPr>
          <p:cNvPr id="82" name="Shape 80"/>
          <p:cNvSpPr/>
          <p:nvPr/>
        </p:nvSpPr>
        <p:spPr>
          <a:xfrm>
            <a:off x="0" y="6656832"/>
            <a:ext cx="12188952" cy="201168"/>
          </a:xfrm>
          <a:prstGeom prst="rect">
            <a:avLst/>
          </a:prstGeom>
          <a:solidFill>
            <a:srgbClr val="005C58"/>
          </a:solidFill>
          <a:ln w="12700">
            <a:solidFill>
              <a:srgbClr val="005C58"/>
            </a:solidFill>
            <a:prstDash val="solid"/>
          </a:ln>
        </p:spPr>
      </p:sp>
      <p:sp>
        <p:nvSpPr>
          <p:cNvPr id="83" name="Text 81"/>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84" name="Text 82"/>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sp>
      <p:sp>
        <p:nvSpPr>
          <p:cNvPr id="4" name="Text 2"/>
          <p:cNvSpPr/>
          <p:nvPr/>
        </p:nvSpPr>
        <p:spPr>
          <a:xfrm>
            <a:off x="8044708" y="0"/>
            <a:ext cx="4144244" cy="6858000"/>
          </a:xfrm>
          <a:prstGeom prst="rect">
            <a:avLst/>
          </a:prstGeom>
          <a:noFill/>
          <a:ln/>
        </p:spPr>
        <p:txBody>
          <a:bodyPr wrap="square" rtlCol="0" anchor="ctr"/>
          <a:lstStyle/>
          <a:p>
            <a:pPr algn="ctr" indent="0" marL="0">
              <a:buNone/>
            </a:pPr>
            <a:r>
              <a:rPr lang="en-US" sz="16000" b="1" dirty="0">
                <a:solidFill>
                  <a:srgbClr val="005C58"/>
                </a:solidFill>
                <a:latin typeface="Calibri" pitchFamily="34" charset="0"/>
                <a:ea typeface="Calibri" pitchFamily="34" charset="-122"/>
                <a:cs typeface="Calibri" pitchFamily="34" charset="-120"/>
              </a:rPr>
              <a:t>04</a:t>
            </a:r>
            <a:endParaRPr lang="en-US" sz="16000" dirty="0"/>
          </a:p>
        </p:txBody>
      </p:sp>
      <p:sp>
        <p:nvSpPr>
          <p:cNvPr id="5" name="Shape 3"/>
          <p:cNvSpPr/>
          <p:nvPr/>
        </p:nvSpPr>
        <p:spPr>
          <a:xfrm>
            <a:off x="777240" y="2926080"/>
            <a:ext cx="868680" cy="868680"/>
          </a:xfrm>
          <a:prstGeom prst="ellipse">
            <a:avLst/>
          </a:prstGeom>
          <a:solidFill>
            <a:srgbClr val="00A9A3"/>
          </a:solidFill>
          <a:ln w="12700">
            <a:solidFill>
              <a:srgbClr val="00A9A3"/>
            </a:solidFill>
            <a:prstDash val="solid"/>
          </a:ln>
        </p:spPr>
      </p:sp>
      <p:sp>
        <p:nvSpPr>
          <p:cNvPr id="6" name="Text 4"/>
          <p:cNvSpPr/>
          <p:nvPr/>
        </p:nvSpPr>
        <p:spPr>
          <a:xfrm>
            <a:off x="777240" y="2926080"/>
            <a:ext cx="868680" cy="8686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7" name="Text 5"/>
          <p:cNvSpPr/>
          <p:nvPr/>
        </p:nvSpPr>
        <p:spPr>
          <a:xfrm>
            <a:off x="1920240" y="2743200"/>
            <a:ext cx="7313371" cy="749808"/>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Results</a:t>
            </a:r>
            <a:endParaRPr lang="en-US" sz="3400" dirty="0"/>
          </a:p>
        </p:txBody>
      </p:sp>
      <p:sp>
        <p:nvSpPr>
          <p:cNvPr id="8" name="Text 6"/>
          <p:cNvSpPr/>
          <p:nvPr/>
        </p:nvSpPr>
        <p:spPr>
          <a:xfrm>
            <a:off x="1920240" y="3566160"/>
            <a:ext cx="7313371" cy="411480"/>
          </a:xfrm>
          <a:prstGeom prst="rect">
            <a:avLst/>
          </a:prstGeom>
          <a:noFill/>
          <a:ln/>
        </p:spPr>
        <p:txBody>
          <a:bodyPr wrap="square" rtlCol="0" anchor="ctr"/>
          <a:lstStyle/>
          <a:p>
            <a:pPr indent="0" marL="0">
              <a:buNone/>
            </a:pPr>
            <a:r>
              <a:rPr lang="en-US" sz="1350" dirty="0">
                <a:solidFill>
                  <a:srgbClr val="00A9A3"/>
                </a:solidFill>
                <a:latin typeface="Calibri" pitchFamily="34" charset="0"/>
                <a:ea typeface="Calibri" pitchFamily="34" charset="-122"/>
                <a:cs typeface="Calibri" pitchFamily="34" charset="-120"/>
              </a:rPr>
              <a:t>All 5 milestones complete — the AGC lives in Rust</a:t>
            </a:r>
            <a:endParaRPr lang="en-US" sz="1350" dirty="0"/>
          </a:p>
        </p:txBody>
      </p:sp>
      <p:sp>
        <p:nvSpPr>
          <p:cNvPr id="9" name="Text 7"/>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0" name="Shape 8"/>
          <p:cNvSpPr/>
          <p:nvPr/>
        </p:nvSpPr>
        <p:spPr>
          <a:xfrm>
            <a:off x="0" y="6656832"/>
            <a:ext cx="12188952" cy="201168"/>
          </a:xfrm>
          <a:prstGeom prst="rect">
            <a:avLst/>
          </a:prstGeom>
          <a:solidFill>
            <a:srgbClr val="005C58"/>
          </a:solidFill>
          <a:ln w="12700">
            <a:solidFill>
              <a:srgbClr val="005C58"/>
            </a:solidFill>
            <a:prstDash val="solid"/>
          </a:ln>
        </p:spPr>
      </p:sp>
      <p:sp>
        <p:nvSpPr>
          <p:cNvPr id="11" name="Text 9"/>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2" name="Text 10"/>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Five Milestones — All Complete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From bare hardware abstraction layer to full mission simulation</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438912" y="1170432"/>
            <a:ext cx="2148840" cy="5257800"/>
          </a:xfrm>
          <a:prstGeom prst="roundRect">
            <a:avLst>
              <a:gd name="adj" fmla="val 4255"/>
            </a:avLst>
          </a:prstGeom>
          <a:solidFill>
            <a:srgbClr val="1E6B9B">
              <a:alpha val="7000"/>
            </a:srgbClr>
          </a:solidFill>
          <a:ln w="12700">
            <a:solidFill>
              <a:srgbClr val="1E6B9B"/>
            </a:solidFill>
            <a:prstDash val="solid"/>
          </a:ln>
          <a:effectLst>
            <a:outerShdw sx="100000" sy="100000" kx="0" ky="0" algn="bl" rotWithShape="0" blurRad="76200" dist="38100" dir="2700000">
              <a:srgbClr val="000000">
                <a:alpha val="10000"/>
              </a:srgbClr>
            </a:outerShdw>
          </a:effectLst>
        </p:spPr>
      </p:sp>
      <p:sp>
        <p:nvSpPr>
          <p:cNvPr id="7" name="Shape 5"/>
          <p:cNvSpPr/>
          <p:nvPr/>
        </p:nvSpPr>
        <p:spPr>
          <a:xfrm>
            <a:off x="1147572" y="1335024"/>
            <a:ext cx="731520" cy="502920"/>
          </a:xfrm>
          <a:prstGeom prst="roundRect">
            <a:avLst>
              <a:gd name="adj" fmla="val 14545"/>
            </a:avLst>
          </a:prstGeom>
          <a:solidFill>
            <a:srgbClr val="1E6B9B"/>
          </a:solidFill>
          <a:ln w="12700">
            <a:solidFill>
              <a:srgbClr val="1E6B9B"/>
            </a:solidFill>
            <a:prstDash val="solid"/>
          </a:ln>
        </p:spPr>
      </p:sp>
      <p:sp>
        <p:nvSpPr>
          <p:cNvPr id="8" name="Text 6"/>
          <p:cNvSpPr/>
          <p:nvPr/>
        </p:nvSpPr>
        <p:spPr>
          <a:xfrm>
            <a:off x="1147572" y="1335024"/>
            <a:ext cx="7315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M1</a:t>
            </a:r>
            <a:endParaRPr lang="en-US" sz="1500" dirty="0"/>
          </a:p>
        </p:txBody>
      </p:sp>
      <p:sp>
        <p:nvSpPr>
          <p:cNvPr id="9" name="Text 7"/>
          <p:cNvSpPr/>
          <p:nvPr/>
        </p:nvSpPr>
        <p:spPr>
          <a:xfrm>
            <a:off x="1239012" y="1947672"/>
            <a:ext cx="548640" cy="457200"/>
          </a:xfrm>
          <a:prstGeom prst="rect">
            <a:avLst/>
          </a:prstGeom>
          <a:noFill/>
          <a:ln/>
        </p:spPr>
        <p:txBody>
          <a:bodyPr wrap="square" rtlCol="0" anchor="ctr"/>
          <a:lstStyle/>
          <a:p>
            <a:pPr algn="ctr" indent="0" marL="0">
              <a:buNone/>
            </a:pPr>
            <a:r>
              <a:rPr lang="en-US" sz="2400" dirty="0">
                <a:solidFill>
                  <a:srgbClr val="1E6B9B"/>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530352" y="2468880"/>
            <a:ext cx="1965960" cy="777240"/>
          </a:xfrm>
          <a:prstGeom prst="rect">
            <a:avLst/>
          </a:prstGeom>
          <a:noFill/>
          <a:ln/>
        </p:spPr>
        <p:txBody>
          <a:bodyPr wrap="square" rtlCol="0" anchor="ctr"/>
          <a:lstStyle/>
          <a:p>
            <a:pPr algn="ctr" indent="0" marL="0">
              <a:buNone/>
            </a:pPr>
            <a:r>
              <a:rPr lang="en-US" sz="1100" b="1" dirty="0">
                <a:solidFill>
                  <a:srgbClr val="1E6B9B"/>
                </a:solidFill>
                <a:latin typeface="Calibri" pitchFamily="34" charset="0"/>
                <a:ea typeface="Calibri" pitchFamily="34" charset="-122"/>
                <a:cs typeface="Calibri" pitchFamily="34" charset="-120"/>
              </a:rPr>
              <a:t>Core</a:t>
            </a:r>
            <a:endParaRPr lang="en-US" sz="1100" dirty="0"/>
          </a:p>
          <a:p>
            <a:pPr algn="ctr" indent="0" marL="0">
              <a:buNone/>
            </a:pPr>
            <a:r>
              <a:rPr lang="en-US" sz="1100" b="1" dirty="0">
                <a:solidFill>
                  <a:srgbClr val="1E6B9B"/>
                </a:solidFill>
                <a:latin typeface="Calibri" pitchFamily="34" charset="0"/>
                <a:ea typeface="Calibri" pitchFamily="34" charset="-122"/>
                <a:cs typeface="Calibri" pitchFamily="34" charset="-120"/>
              </a:rPr>
              <a:t>Infrastructure</a:t>
            </a:r>
            <a:endParaRPr lang="en-US" sz="1100" dirty="0"/>
          </a:p>
        </p:txBody>
      </p:sp>
      <p:sp>
        <p:nvSpPr>
          <p:cNvPr id="11" name="Text 9"/>
          <p:cNvSpPr/>
          <p:nvPr/>
        </p:nvSpPr>
        <p:spPr>
          <a:xfrm>
            <a:off x="548640" y="3346704"/>
            <a:ext cx="1929384" cy="2898648"/>
          </a:xfrm>
          <a:prstGeom prst="rect">
            <a:avLst/>
          </a:prstGeom>
          <a:noFill/>
          <a:ln/>
        </p:spPr>
        <p:txBody>
          <a:bodyPr wrap="square" rtlCol="0" anchor="t"/>
          <a:lstStyle/>
          <a:p>
            <a:pPr algn="ctr" indent="0" marL="0">
              <a:buNone/>
            </a:pPr>
            <a:r>
              <a:rPr lang="en-US" sz="950" dirty="0">
                <a:solidFill>
                  <a:srgbClr val="1C1C1C"/>
                </a:solidFill>
                <a:latin typeface="Calibri" pitchFamily="34" charset="0"/>
                <a:ea typeface="Calibri" pitchFamily="34" charset="-122"/>
                <a:cs typeface="Calibri" pitchFamily="34" charset="-120"/>
              </a:rPr>
              <a:t>Scheduler, interrupts, fixed-point math, memory map</a:t>
            </a:r>
            <a:endParaRPr lang="en-US" sz="950" dirty="0"/>
          </a:p>
        </p:txBody>
      </p:sp>
      <p:sp>
        <p:nvSpPr>
          <p:cNvPr id="12" name="Shape 10"/>
          <p:cNvSpPr/>
          <p:nvPr/>
        </p:nvSpPr>
        <p:spPr>
          <a:xfrm>
            <a:off x="2907792" y="1170432"/>
            <a:ext cx="2148840" cy="5257800"/>
          </a:xfrm>
          <a:prstGeom prst="roundRect">
            <a:avLst>
              <a:gd name="adj" fmla="val 4255"/>
            </a:avLst>
          </a:prstGeom>
          <a:solidFill>
            <a:srgbClr val="0D9488">
              <a:alpha val="7000"/>
            </a:srgbClr>
          </a:solidFill>
          <a:ln w="12700">
            <a:solidFill>
              <a:srgbClr val="0D9488"/>
            </a:solidFill>
            <a:prstDash val="solid"/>
          </a:ln>
          <a:effectLst>
            <a:outerShdw sx="100000" sy="100000" kx="0" ky="0" algn="bl" rotWithShape="0" blurRad="76200" dist="38100" dir="2700000">
              <a:srgbClr val="000000">
                <a:alpha val="10000"/>
              </a:srgbClr>
            </a:outerShdw>
          </a:effectLst>
        </p:spPr>
      </p:sp>
      <p:sp>
        <p:nvSpPr>
          <p:cNvPr id="13" name="Shape 11"/>
          <p:cNvSpPr/>
          <p:nvPr/>
        </p:nvSpPr>
        <p:spPr>
          <a:xfrm>
            <a:off x="3616452" y="1335024"/>
            <a:ext cx="731520" cy="502920"/>
          </a:xfrm>
          <a:prstGeom prst="roundRect">
            <a:avLst>
              <a:gd name="adj" fmla="val 14545"/>
            </a:avLst>
          </a:prstGeom>
          <a:solidFill>
            <a:srgbClr val="0D9488"/>
          </a:solidFill>
          <a:ln w="12700">
            <a:solidFill>
              <a:srgbClr val="0D9488"/>
            </a:solidFill>
            <a:prstDash val="solid"/>
          </a:ln>
        </p:spPr>
      </p:sp>
      <p:sp>
        <p:nvSpPr>
          <p:cNvPr id="14" name="Text 12"/>
          <p:cNvSpPr/>
          <p:nvPr/>
        </p:nvSpPr>
        <p:spPr>
          <a:xfrm>
            <a:off x="3616452" y="1335024"/>
            <a:ext cx="7315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M2</a:t>
            </a:r>
            <a:endParaRPr lang="en-US" sz="1500" dirty="0"/>
          </a:p>
        </p:txBody>
      </p:sp>
      <p:sp>
        <p:nvSpPr>
          <p:cNvPr id="15" name="Text 13"/>
          <p:cNvSpPr/>
          <p:nvPr/>
        </p:nvSpPr>
        <p:spPr>
          <a:xfrm>
            <a:off x="3707892" y="1947672"/>
            <a:ext cx="548640" cy="457200"/>
          </a:xfrm>
          <a:prstGeom prst="rect">
            <a:avLst/>
          </a:prstGeom>
          <a:noFill/>
          <a:ln/>
        </p:spPr>
        <p:txBody>
          <a:bodyPr wrap="square" rtlCol="0" anchor="ctr"/>
          <a:lstStyle/>
          <a:p>
            <a:pPr algn="ctr" indent="0" marL="0">
              <a:buNone/>
            </a:pPr>
            <a:r>
              <a:rPr lang="en-US" sz="2400" dirty="0">
                <a:solidFill>
                  <a:srgbClr val="0D9488"/>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2999232" y="2468880"/>
            <a:ext cx="1965960" cy="777240"/>
          </a:xfrm>
          <a:prstGeom prst="rect">
            <a:avLst/>
          </a:prstGeom>
          <a:noFill/>
          <a:ln/>
        </p:spPr>
        <p:txBody>
          <a:bodyPr wrap="square"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Navigation</a:t>
            </a:r>
            <a:endParaRPr lang="en-US" sz="1100" dirty="0"/>
          </a:p>
          <a:p>
            <a:pPr algn="ctr" indent="0" marL="0">
              <a:buNone/>
            </a:pPr>
            <a:r>
              <a:rPr lang="en-US" sz="1100" b="1" dirty="0">
                <a:solidFill>
                  <a:srgbClr val="0D9488"/>
                </a:solidFill>
                <a:latin typeface="Calibri" pitchFamily="34" charset="0"/>
                <a:ea typeface="Calibri" pitchFamily="34" charset="-122"/>
                <a:cs typeface="Calibri" pitchFamily="34" charset="-120"/>
              </a:rPr>
              <a:t>Foundation</a:t>
            </a:r>
            <a:endParaRPr lang="en-US" sz="1100" dirty="0"/>
          </a:p>
        </p:txBody>
      </p:sp>
      <p:sp>
        <p:nvSpPr>
          <p:cNvPr id="17" name="Text 15"/>
          <p:cNvSpPr/>
          <p:nvPr/>
        </p:nvSpPr>
        <p:spPr>
          <a:xfrm>
            <a:off x="3017520" y="3346704"/>
            <a:ext cx="1929384" cy="2898648"/>
          </a:xfrm>
          <a:prstGeom prst="rect">
            <a:avLst/>
          </a:prstGeom>
          <a:noFill/>
          <a:ln/>
        </p:spPr>
        <p:txBody>
          <a:bodyPr wrap="square" rtlCol="0" anchor="t"/>
          <a:lstStyle/>
          <a:p>
            <a:pPr algn="ctr" indent="0" marL="0">
              <a:buNone/>
            </a:pPr>
            <a:r>
              <a:rPr lang="en-US" sz="950" dirty="0">
                <a:solidFill>
                  <a:srgbClr val="1C1C1C"/>
                </a:solidFill>
                <a:latin typeface="Calibri" pitchFamily="34" charset="0"/>
                <a:ea typeface="Calibri" pitchFamily="34" charset="-122"/>
                <a:cs typeface="Calibri" pitchFamily="34" charset="-120"/>
              </a:rPr>
              <a:t>IMU integration, stellar orientation, coordinate transforms</a:t>
            </a:r>
            <a:endParaRPr lang="en-US" sz="950" dirty="0"/>
          </a:p>
        </p:txBody>
      </p:sp>
      <p:sp>
        <p:nvSpPr>
          <p:cNvPr id="18" name="Shape 16"/>
          <p:cNvSpPr/>
          <p:nvPr/>
        </p:nvSpPr>
        <p:spPr>
          <a:xfrm>
            <a:off x="5376672" y="1170432"/>
            <a:ext cx="2148840" cy="5257800"/>
          </a:xfrm>
          <a:prstGeom prst="roundRect">
            <a:avLst>
              <a:gd name="adj" fmla="val 4255"/>
            </a:avLst>
          </a:prstGeom>
          <a:solidFill>
            <a:srgbClr val="7B2FBE">
              <a:alpha val="7000"/>
            </a:srgbClr>
          </a:solidFill>
          <a:ln w="12700">
            <a:solidFill>
              <a:srgbClr val="7B2FBE"/>
            </a:solidFill>
            <a:prstDash val="solid"/>
          </a:ln>
          <a:effectLst>
            <a:outerShdw sx="100000" sy="100000" kx="0" ky="0" algn="bl" rotWithShape="0" blurRad="76200" dist="38100" dir="2700000">
              <a:srgbClr val="000000">
                <a:alpha val="10000"/>
              </a:srgbClr>
            </a:outerShdw>
          </a:effectLst>
        </p:spPr>
      </p:sp>
      <p:sp>
        <p:nvSpPr>
          <p:cNvPr id="19" name="Shape 17"/>
          <p:cNvSpPr/>
          <p:nvPr/>
        </p:nvSpPr>
        <p:spPr>
          <a:xfrm>
            <a:off x="6085332" y="1335024"/>
            <a:ext cx="731520" cy="502920"/>
          </a:xfrm>
          <a:prstGeom prst="roundRect">
            <a:avLst>
              <a:gd name="adj" fmla="val 14545"/>
            </a:avLst>
          </a:prstGeom>
          <a:solidFill>
            <a:srgbClr val="7B2FBE"/>
          </a:solidFill>
          <a:ln w="12700">
            <a:solidFill>
              <a:srgbClr val="7B2FBE"/>
            </a:solidFill>
            <a:prstDash val="solid"/>
          </a:ln>
        </p:spPr>
      </p:sp>
      <p:sp>
        <p:nvSpPr>
          <p:cNvPr id="20" name="Text 18"/>
          <p:cNvSpPr/>
          <p:nvPr/>
        </p:nvSpPr>
        <p:spPr>
          <a:xfrm>
            <a:off x="6085332" y="1335024"/>
            <a:ext cx="7315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M3</a:t>
            </a:r>
            <a:endParaRPr lang="en-US" sz="1500" dirty="0"/>
          </a:p>
        </p:txBody>
      </p:sp>
      <p:sp>
        <p:nvSpPr>
          <p:cNvPr id="21" name="Text 19"/>
          <p:cNvSpPr/>
          <p:nvPr/>
        </p:nvSpPr>
        <p:spPr>
          <a:xfrm>
            <a:off x="6176772" y="1947672"/>
            <a:ext cx="548640" cy="457200"/>
          </a:xfrm>
          <a:prstGeom prst="rect">
            <a:avLst/>
          </a:prstGeom>
          <a:noFill/>
          <a:ln/>
        </p:spPr>
        <p:txBody>
          <a:bodyPr wrap="square" rtlCol="0" anchor="ctr"/>
          <a:lstStyle/>
          <a:p>
            <a:pPr algn="ctr" indent="0" marL="0">
              <a:buNone/>
            </a:pPr>
            <a:r>
              <a:rPr lang="en-US" sz="2400" dirty="0">
                <a:solidFill>
                  <a:srgbClr val="7B2FBE"/>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5468112" y="2468880"/>
            <a:ext cx="1965960" cy="777240"/>
          </a:xfrm>
          <a:prstGeom prst="rect">
            <a:avLst/>
          </a:prstGeom>
          <a:noFill/>
          <a:ln/>
        </p:spPr>
        <p:txBody>
          <a:bodyPr wrap="square" rtlCol="0" anchor="ctr"/>
          <a:lstStyle/>
          <a:p>
            <a:pPr algn="ctr" indent="0" marL="0">
              <a:buNone/>
            </a:pPr>
            <a:r>
              <a:rPr lang="en-US" sz="1100" b="1" dirty="0">
                <a:solidFill>
                  <a:srgbClr val="7B2FBE"/>
                </a:solidFill>
                <a:latin typeface="Calibri" pitchFamily="34" charset="0"/>
                <a:ea typeface="Calibri" pitchFamily="34" charset="-122"/>
                <a:cs typeface="Calibri" pitchFamily="34" charset="-120"/>
              </a:rPr>
              <a:t>Guidance</a:t>
            </a:r>
            <a:endParaRPr lang="en-US" sz="1100" dirty="0"/>
          </a:p>
          <a:p>
            <a:pPr algn="ctr" indent="0" marL="0">
              <a:buNone/>
            </a:pPr>
            <a:r>
              <a:rPr lang="en-US" sz="1100" b="1" dirty="0">
                <a:solidFill>
                  <a:srgbClr val="7B2FBE"/>
                </a:solidFill>
                <a:latin typeface="Calibri" pitchFamily="34" charset="0"/>
                <a:ea typeface="Calibri" pitchFamily="34" charset="-122"/>
                <a:cs typeface="Calibri" pitchFamily="34" charset="-120"/>
              </a:rPr>
              <a:t>&amp; DAP</a:t>
            </a:r>
            <a:endParaRPr lang="en-US" sz="1100" dirty="0"/>
          </a:p>
        </p:txBody>
      </p:sp>
      <p:sp>
        <p:nvSpPr>
          <p:cNvPr id="23" name="Text 21"/>
          <p:cNvSpPr/>
          <p:nvPr/>
        </p:nvSpPr>
        <p:spPr>
          <a:xfrm>
            <a:off x="5486400" y="3346704"/>
            <a:ext cx="1929384" cy="2898648"/>
          </a:xfrm>
          <a:prstGeom prst="rect">
            <a:avLst/>
          </a:prstGeom>
          <a:noFill/>
          <a:ln/>
        </p:spPr>
        <p:txBody>
          <a:bodyPr wrap="square" rtlCol="0" anchor="t"/>
          <a:lstStyle/>
          <a:p>
            <a:pPr algn="ctr" indent="0" marL="0">
              <a:buNone/>
            </a:pPr>
            <a:r>
              <a:rPr lang="en-US" sz="950" dirty="0">
                <a:solidFill>
                  <a:srgbClr val="1C1C1C"/>
                </a:solidFill>
                <a:latin typeface="Calibri" pitchFamily="34" charset="0"/>
                <a:ea typeface="Calibri" pitchFamily="34" charset="-122"/>
                <a:cs typeface="Calibri" pitchFamily="34" charset="-120"/>
              </a:rPr>
              <a:t>Guidance equations, Digital AutoPilot, thruster control</a:t>
            </a:r>
            <a:endParaRPr lang="en-US" sz="950" dirty="0"/>
          </a:p>
        </p:txBody>
      </p:sp>
      <p:sp>
        <p:nvSpPr>
          <p:cNvPr id="24" name="Shape 22"/>
          <p:cNvSpPr/>
          <p:nvPr/>
        </p:nvSpPr>
        <p:spPr>
          <a:xfrm>
            <a:off x="7845552" y="1170432"/>
            <a:ext cx="2148840" cy="5257800"/>
          </a:xfrm>
          <a:prstGeom prst="roundRect">
            <a:avLst>
              <a:gd name="adj" fmla="val 4255"/>
            </a:avLst>
          </a:prstGeom>
          <a:solidFill>
            <a:srgbClr val="D4920A">
              <a:alpha val="7000"/>
            </a:srgbClr>
          </a:solidFill>
          <a:ln w="12700">
            <a:solidFill>
              <a:srgbClr val="D4920A"/>
            </a:solidFill>
            <a:prstDash val="solid"/>
          </a:ln>
          <a:effectLst>
            <a:outerShdw sx="100000" sy="100000" kx="0" ky="0" algn="bl" rotWithShape="0" blurRad="76200" dist="38100" dir="2700000">
              <a:srgbClr val="000000">
                <a:alpha val="10000"/>
              </a:srgbClr>
            </a:outerShdw>
          </a:effectLst>
        </p:spPr>
      </p:sp>
      <p:sp>
        <p:nvSpPr>
          <p:cNvPr id="25" name="Shape 23"/>
          <p:cNvSpPr/>
          <p:nvPr/>
        </p:nvSpPr>
        <p:spPr>
          <a:xfrm>
            <a:off x="8554212" y="1335024"/>
            <a:ext cx="731520" cy="502920"/>
          </a:xfrm>
          <a:prstGeom prst="roundRect">
            <a:avLst>
              <a:gd name="adj" fmla="val 14545"/>
            </a:avLst>
          </a:prstGeom>
          <a:solidFill>
            <a:srgbClr val="D4920A"/>
          </a:solidFill>
          <a:ln w="12700">
            <a:solidFill>
              <a:srgbClr val="D4920A"/>
            </a:solidFill>
            <a:prstDash val="solid"/>
          </a:ln>
        </p:spPr>
      </p:sp>
      <p:sp>
        <p:nvSpPr>
          <p:cNvPr id="26" name="Text 24"/>
          <p:cNvSpPr/>
          <p:nvPr/>
        </p:nvSpPr>
        <p:spPr>
          <a:xfrm>
            <a:off x="8554212" y="1335024"/>
            <a:ext cx="7315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M4</a:t>
            </a:r>
            <a:endParaRPr lang="en-US" sz="1500" dirty="0"/>
          </a:p>
        </p:txBody>
      </p:sp>
      <p:sp>
        <p:nvSpPr>
          <p:cNvPr id="27" name="Text 25"/>
          <p:cNvSpPr/>
          <p:nvPr/>
        </p:nvSpPr>
        <p:spPr>
          <a:xfrm>
            <a:off x="8645652" y="1947672"/>
            <a:ext cx="548640" cy="457200"/>
          </a:xfrm>
          <a:prstGeom prst="rect">
            <a:avLst/>
          </a:prstGeom>
          <a:noFill/>
          <a:ln/>
        </p:spPr>
        <p:txBody>
          <a:bodyPr wrap="square" rtlCol="0" anchor="ctr"/>
          <a:lstStyle/>
          <a:p>
            <a:pPr algn="ctr" indent="0" marL="0">
              <a:buNone/>
            </a:pPr>
            <a:r>
              <a:rPr lang="en-US" sz="2400" dirty="0">
                <a:solidFill>
                  <a:srgbClr val="D4920A"/>
                </a:solidFill>
                <a:latin typeface="Calibri" pitchFamily="34" charset="0"/>
                <a:ea typeface="Calibri" pitchFamily="34" charset="-122"/>
                <a:cs typeface="Calibri" pitchFamily="34" charset="-120"/>
              </a:rPr>
              <a:t>✓</a:t>
            </a:r>
            <a:endParaRPr lang="en-US" sz="2400" dirty="0"/>
          </a:p>
        </p:txBody>
      </p:sp>
      <p:sp>
        <p:nvSpPr>
          <p:cNvPr id="28" name="Text 26"/>
          <p:cNvSpPr/>
          <p:nvPr/>
        </p:nvSpPr>
        <p:spPr>
          <a:xfrm>
            <a:off x="7936992" y="2468880"/>
            <a:ext cx="1965960" cy="777240"/>
          </a:xfrm>
          <a:prstGeom prst="rect">
            <a:avLst/>
          </a:prstGeom>
          <a:noFill/>
          <a:ln/>
        </p:spPr>
        <p:txBody>
          <a:bodyPr wrap="square" rtlCol="0" anchor="ctr"/>
          <a:lstStyle/>
          <a:p>
            <a:pPr algn="ctr" indent="0" marL="0">
              <a:buNone/>
            </a:pPr>
            <a:r>
              <a:rPr lang="en-US" sz="1100" b="1" dirty="0">
                <a:solidFill>
                  <a:srgbClr val="D4920A"/>
                </a:solidFill>
                <a:latin typeface="Calibri" pitchFamily="34" charset="0"/>
                <a:ea typeface="Calibri" pitchFamily="34" charset="-122"/>
                <a:cs typeface="Calibri" pitchFamily="34" charset="-120"/>
              </a:rPr>
              <a:t>Navigation</a:t>
            </a:r>
            <a:endParaRPr lang="en-US" sz="1100" dirty="0"/>
          </a:p>
          <a:p>
            <a:pPr algn="ctr" indent="0" marL="0">
              <a:buNone/>
            </a:pPr>
            <a:r>
              <a:rPr lang="en-US" sz="1100" b="1" dirty="0">
                <a:solidFill>
                  <a:srgbClr val="D4920A"/>
                </a:solidFill>
                <a:latin typeface="Calibri" pitchFamily="34" charset="0"/>
                <a:ea typeface="Calibri" pitchFamily="34" charset="-122"/>
                <a:cs typeface="Calibri" pitchFamily="34" charset="-120"/>
              </a:rPr>
              <a:t>Programs</a:t>
            </a:r>
            <a:endParaRPr lang="en-US" sz="1100" dirty="0"/>
          </a:p>
        </p:txBody>
      </p:sp>
      <p:sp>
        <p:nvSpPr>
          <p:cNvPr id="29" name="Text 27"/>
          <p:cNvSpPr/>
          <p:nvPr/>
        </p:nvSpPr>
        <p:spPr>
          <a:xfrm>
            <a:off x="7955280" y="3346704"/>
            <a:ext cx="1929384" cy="2898648"/>
          </a:xfrm>
          <a:prstGeom prst="rect">
            <a:avLst/>
          </a:prstGeom>
          <a:noFill/>
          <a:ln/>
        </p:spPr>
        <p:txBody>
          <a:bodyPr wrap="square" rtlCol="0" anchor="t"/>
          <a:lstStyle/>
          <a:p>
            <a:pPr algn="ctr" indent="0" marL="0">
              <a:buNone/>
            </a:pPr>
            <a:r>
              <a:rPr lang="en-US" sz="950" dirty="0">
                <a:solidFill>
                  <a:srgbClr val="1C1C1C"/>
                </a:solidFill>
                <a:latin typeface="Calibri" pitchFamily="34" charset="0"/>
                <a:ea typeface="Calibri" pitchFamily="34" charset="-122"/>
                <a:cs typeface="Calibri" pitchFamily="34" charset="-120"/>
              </a:rPr>
              <a:t>P20, P52, P63, P64, P65 — rendezvous, align, descent</a:t>
            </a:r>
            <a:endParaRPr lang="en-US" sz="950" dirty="0"/>
          </a:p>
        </p:txBody>
      </p:sp>
      <p:sp>
        <p:nvSpPr>
          <p:cNvPr id="30" name="Shape 28"/>
          <p:cNvSpPr/>
          <p:nvPr/>
        </p:nvSpPr>
        <p:spPr>
          <a:xfrm>
            <a:off x="10314432" y="1170432"/>
            <a:ext cx="2148840" cy="5257800"/>
          </a:xfrm>
          <a:prstGeom prst="roundRect">
            <a:avLst>
              <a:gd name="adj" fmla="val 4255"/>
            </a:avLst>
          </a:prstGeom>
          <a:solidFill>
            <a:srgbClr val="2E7D32">
              <a:alpha val="7000"/>
            </a:srgbClr>
          </a:solidFill>
          <a:ln w="12700">
            <a:solidFill>
              <a:srgbClr val="2E7D32"/>
            </a:solidFill>
            <a:prstDash val="solid"/>
          </a:ln>
          <a:effectLst>
            <a:outerShdw sx="100000" sy="100000" kx="0" ky="0" algn="bl" rotWithShape="0" blurRad="76200" dist="38100" dir="2700000">
              <a:srgbClr val="000000">
                <a:alpha val="10000"/>
              </a:srgbClr>
            </a:outerShdw>
          </a:effectLst>
        </p:spPr>
      </p:sp>
      <p:sp>
        <p:nvSpPr>
          <p:cNvPr id="31" name="Shape 29"/>
          <p:cNvSpPr/>
          <p:nvPr/>
        </p:nvSpPr>
        <p:spPr>
          <a:xfrm>
            <a:off x="11023092" y="1335024"/>
            <a:ext cx="731520" cy="502920"/>
          </a:xfrm>
          <a:prstGeom prst="roundRect">
            <a:avLst>
              <a:gd name="adj" fmla="val 14545"/>
            </a:avLst>
          </a:prstGeom>
          <a:solidFill>
            <a:srgbClr val="2E7D32"/>
          </a:solidFill>
          <a:ln w="12700">
            <a:solidFill>
              <a:srgbClr val="2E7D32"/>
            </a:solidFill>
            <a:prstDash val="solid"/>
          </a:ln>
        </p:spPr>
      </p:sp>
      <p:sp>
        <p:nvSpPr>
          <p:cNvPr id="32" name="Text 30"/>
          <p:cNvSpPr/>
          <p:nvPr/>
        </p:nvSpPr>
        <p:spPr>
          <a:xfrm>
            <a:off x="11023092" y="1335024"/>
            <a:ext cx="7315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M5</a:t>
            </a:r>
            <a:endParaRPr lang="en-US" sz="1500" dirty="0"/>
          </a:p>
        </p:txBody>
      </p:sp>
      <p:sp>
        <p:nvSpPr>
          <p:cNvPr id="33" name="Text 31"/>
          <p:cNvSpPr/>
          <p:nvPr/>
        </p:nvSpPr>
        <p:spPr>
          <a:xfrm>
            <a:off x="11114532" y="1947672"/>
            <a:ext cx="548640" cy="457200"/>
          </a:xfrm>
          <a:prstGeom prst="rect">
            <a:avLst/>
          </a:prstGeom>
          <a:noFill/>
          <a:ln/>
        </p:spPr>
        <p:txBody>
          <a:bodyPr wrap="square" rtlCol="0" anchor="ctr"/>
          <a:lstStyle/>
          <a:p>
            <a:pPr algn="ctr" indent="0" marL="0">
              <a:buNone/>
            </a:pPr>
            <a:r>
              <a:rPr lang="en-US" sz="2400" dirty="0">
                <a:solidFill>
                  <a:srgbClr val="2E7D32"/>
                </a:solidFill>
                <a:latin typeface="Calibri" pitchFamily="34" charset="0"/>
                <a:ea typeface="Calibri" pitchFamily="34" charset="-122"/>
                <a:cs typeface="Calibri" pitchFamily="34" charset="-120"/>
              </a:rPr>
              <a:t>✓</a:t>
            </a:r>
            <a:endParaRPr lang="en-US" sz="2400" dirty="0"/>
          </a:p>
        </p:txBody>
      </p:sp>
      <p:sp>
        <p:nvSpPr>
          <p:cNvPr id="34" name="Text 32"/>
          <p:cNvSpPr/>
          <p:nvPr/>
        </p:nvSpPr>
        <p:spPr>
          <a:xfrm>
            <a:off x="10405872" y="2468880"/>
            <a:ext cx="1965960" cy="777240"/>
          </a:xfrm>
          <a:prstGeom prst="rect">
            <a:avLst/>
          </a:prstGeom>
          <a:noFill/>
          <a:ln/>
        </p:spPr>
        <p:txBody>
          <a:bodyPr wrap="square"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DSKY &amp;</a:t>
            </a:r>
            <a:endParaRPr lang="en-US" sz="1100" dirty="0"/>
          </a:p>
          <a:p>
            <a:pPr algn="ctr" indent="0" marL="0">
              <a:buNone/>
            </a:pPr>
            <a:r>
              <a:rPr lang="en-US" sz="1100" b="1" dirty="0">
                <a:solidFill>
                  <a:srgbClr val="2E7D32"/>
                </a:solidFill>
                <a:latin typeface="Calibri" pitchFamily="34" charset="0"/>
                <a:ea typeface="Calibri" pitchFamily="34" charset="-122"/>
                <a:cs typeface="Calibri" pitchFamily="34" charset="-120"/>
              </a:rPr>
              <a:t>Mission Sim</a:t>
            </a:r>
            <a:endParaRPr lang="en-US" sz="1100" dirty="0"/>
          </a:p>
        </p:txBody>
      </p:sp>
      <p:sp>
        <p:nvSpPr>
          <p:cNvPr id="35" name="Text 33"/>
          <p:cNvSpPr/>
          <p:nvPr/>
        </p:nvSpPr>
        <p:spPr>
          <a:xfrm>
            <a:off x="10424160" y="3346704"/>
            <a:ext cx="1929384" cy="2898648"/>
          </a:xfrm>
          <a:prstGeom prst="rect">
            <a:avLst/>
          </a:prstGeom>
          <a:noFill/>
          <a:ln/>
        </p:spPr>
        <p:txBody>
          <a:bodyPr wrap="square" rtlCol="0" anchor="t"/>
          <a:lstStyle/>
          <a:p>
            <a:pPr algn="ctr" indent="0" marL="0">
              <a:buNone/>
            </a:pPr>
            <a:r>
              <a:rPr lang="en-US" sz="950" dirty="0">
                <a:solidFill>
                  <a:srgbClr val="1C1C1C"/>
                </a:solidFill>
                <a:latin typeface="Calibri" pitchFamily="34" charset="0"/>
                <a:ea typeface="Calibri" pitchFamily="34" charset="-122"/>
                <a:cs typeface="Calibri" pitchFamily="34" charset="-120"/>
              </a:rPr>
              <a:t>Crew interface, mission phases, earth-moon simulation</a:t>
            </a:r>
            <a:endParaRPr lang="en-US" sz="950" dirty="0"/>
          </a:p>
        </p:txBody>
      </p:sp>
      <p:sp>
        <p:nvSpPr>
          <p:cNvPr id="36" name="Shape 34"/>
          <p:cNvSpPr/>
          <p:nvPr/>
        </p:nvSpPr>
        <p:spPr>
          <a:xfrm>
            <a:off x="0" y="6656832"/>
            <a:ext cx="12188952" cy="201168"/>
          </a:xfrm>
          <a:prstGeom prst="rect">
            <a:avLst/>
          </a:prstGeom>
          <a:solidFill>
            <a:srgbClr val="005C58"/>
          </a:solidFill>
          <a:ln w="12700">
            <a:solidFill>
              <a:srgbClr val="005C58"/>
            </a:solidFill>
            <a:prstDash val="solid"/>
          </a:ln>
        </p:spPr>
      </p:sp>
      <p:sp>
        <p:nvSpPr>
          <p:cNvPr id="37" name="Text 35"/>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38" name="Text 36"/>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By the Numbers</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Quantitative results from the AGC-in-Rust transformation</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502920" y="1143000"/>
            <a:ext cx="2377440" cy="1783080"/>
          </a:xfrm>
          <a:prstGeom prst="roundRect">
            <a:avLst>
              <a:gd name="adj" fmla="val 5128"/>
            </a:avLst>
          </a:prstGeom>
          <a:solidFill>
            <a:srgbClr val="2E7D32">
              <a:alpha val="8000"/>
            </a:srgbClr>
          </a:solidFill>
          <a:ln w="12700">
            <a:solidFill>
              <a:srgbClr val="2E7D32"/>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502920" y="1216152"/>
            <a:ext cx="2377440" cy="980694"/>
          </a:xfrm>
          <a:prstGeom prst="rect">
            <a:avLst/>
          </a:prstGeom>
          <a:noFill/>
          <a:ln/>
        </p:spPr>
        <p:txBody>
          <a:bodyPr wrap="square" rtlCol="0" anchor="b"/>
          <a:lstStyle/>
          <a:p>
            <a:pPr algn="ctr" indent="0" marL="0">
              <a:buNone/>
            </a:pPr>
            <a:r>
              <a:rPr lang="en-US" sz="3000" b="1" dirty="0">
                <a:solidFill>
                  <a:srgbClr val="2E7D32"/>
                </a:solidFill>
                <a:latin typeface="Calibri" pitchFamily="34" charset="0"/>
                <a:ea typeface="Calibri" pitchFamily="34" charset="-122"/>
                <a:cs typeface="Calibri" pitchFamily="34" charset="-120"/>
              </a:rPr>
              <a:t>207</a:t>
            </a:r>
            <a:endParaRPr lang="en-US" sz="3000" dirty="0"/>
          </a:p>
        </p:txBody>
      </p:sp>
      <p:sp>
        <p:nvSpPr>
          <p:cNvPr id="8" name="Text 6"/>
          <p:cNvSpPr/>
          <p:nvPr/>
        </p:nvSpPr>
        <p:spPr>
          <a:xfrm>
            <a:off x="502920" y="2212848"/>
            <a:ext cx="2377440" cy="624078"/>
          </a:xfrm>
          <a:prstGeom prst="rect">
            <a:avLst/>
          </a:prstGeom>
          <a:noFill/>
          <a:ln/>
        </p:spPr>
        <p:txBody>
          <a:bodyPr wrap="square"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Unit Tests</a:t>
            </a:r>
            <a:endParaRPr lang="en-US" sz="950" dirty="0"/>
          </a:p>
          <a:p>
            <a:pPr algn="ctr" indent="0" marL="0">
              <a:buNone/>
            </a:pPr>
            <a:r>
              <a:rPr lang="en-US" sz="950" dirty="0">
                <a:solidFill>
                  <a:srgbClr val="6B7280"/>
                </a:solidFill>
                <a:latin typeface="Calibri" pitchFamily="34" charset="0"/>
                <a:ea typeface="Calibri" pitchFamily="34" charset="-122"/>
                <a:cs typeface="Calibri" pitchFamily="34" charset="-120"/>
              </a:rPr>
              <a:t>Passing</a:t>
            </a:r>
            <a:endParaRPr lang="en-US" sz="950" dirty="0"/>
          </a:p>
        </p:txBody>
      </p:sp>
      <p:sp>
        <p:nvSpPr>
          <p:cNvPr id="9" name="Shape 7"/>
          <p:cNvSpPr/>
          <p:nvPr/>
        </p:nvSpPr>
        <p:spPr>
          <a:xfrm>
            <a:off x="3310128" y="1143000"/>
            <a:ext cx="2377440" cy="1783080"/>
          </a:xfrm>
          <a:prstGeom prst="roundRect">
            <a:avLst>
              <a:gd name="adj" fmla="val 5128"/>
            </a:avLst>
          </a:prstGeom>
          <a:solidFill>
            <a:srgbClr val="1E6B9B">
              <a:alpha val="8000"/>
            </a:srgbClr>
          </a:solidFill>
          <a:ln w="12700">
            <a:solidFill>
              <a:srgbClr val="1E6B9B"/>
            </a:solidFill>
            <a:prstDash val="solid"/>
          </a:ln>
          <a:effectLst>
            <a:outerShdw sx="100000" sy="100000" kx="0" ky="0" algn="bl" rotWithShape="0" blurRad="76200" dist="38100" dir="2700000">
              <a:srgbClr val="000000">
                <a:alpha val="10000"/>
              </a:srgbClr>
            </a:outerShdw>
          </a:effectLst>
        </p:spPr>
      </p:sp>
      <p:sp>
        <p:nvSpPr>
          <p:cNvPr id="10" name="Text 8"/>
          <p:cNvSpPr/>
          <p:nvPr/>
        </p:nvSpPr>
        <p:spPr>
          <a:xfrm>
            <a:off x="3310128" y="1216152"/>
            <a:ext cx="2377440" cy="980694"/>
          </a:xfrm>
          <a:prstGeom prst="rect">
            <a:avLst/>
          </a:prstGeom>
          <a:noFill/>
          <a:ln/>
        </p:spPr>
        <p:txBody>
          <a:bodyPr wrap="square" rtlCol="0" anchor="b"/>
          <a:lstStyle/>
          <a:p>
            <a:pPr algn="ctr" indent="0" marL="0">
              <a:buNone/>
            </a:pPr>
            <a:r>
              <a:rPr lang="en-US" sz="3000" b="1" dirty="0">
                <a:solidFill>
                  <a:srgbClr val="1E6B9B"/>
                </a:solidFill>
                <a:latin typeface="Calibri" pitchFamily="34" charset="0"/>
                <a:ea typeface="Calibri" pitchFamily="34" charset="-122"/>
                <a:cs typeface="Calibri" pitchFamily="34" charset="-120"/>
              </a:rPr>
              <a:t>46</a:t>
            </a:r>
            <a:endParaRPr lang="en-US" sz="3000" dirty="0"/>
          </a:p>
        </p:txBody>
      </p:sp>
      <p:sp>
        <p:nvSpPr>
          <p:cNvPr id="11" name="Text 9"/>
          <p:cNvSpPr/>
          <p:nvPr/>
        </p:nvSpPr>
        <p:spPr>
          <a:xfrm>
            <a:off x="3310128" y="2212848"/>
            <a:ext cx="2377440" cy="624078"/>
          </a:xfrm>
          <a:prstGeom prst="rect">
            <a:avLst/>
          </a:prstGeom>
          <a:noFill/>
          <a:ln/>
        </p:spPr>
        <p:txBody>
          <a:bodyPr wrap="square"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Rust Source</a:t>
            </a:r>
            <a:endParaRPr lang="en-US" sz="950" dirty="0"/>
          </a:p>
          <a:p>
            <a:pPr algn="ctr" indent="0" marL="0">
              <a:buNone/>
            </a:pPr>
            <a:r>
              <a:rPr lang="en-US" sz="950" dirty="0">
                <a:solidFill>
                  <a:srgbClr val="6B7280"/>
                </a:solidFill>
                <a:latin typeface="Calibri" pitchFamily="34" charset="0"/>
                <a:ea typeface="Calibri" pitchFamily="34" charset="-122"/>
                <a:cs typeface="Calibri" pitchFamily="34" charset="-120"/>
              </a:rPr>
              <a:t>Files</a:t>
            </a:r>
            <a:endParaRPr lang="en-US" sz="950" dirty="0"/>
          </a:p>
        </p:txBody>
      </p:sp>
      <p:sp>
        <p:nvSpPr>
          <p:cNvPr id="12" name="Shape 10"/>
          <p:cNvSpPr/>
          <p:nvPr/>
        </p:nvSpPr>
        <p:spPr>
          <a:xfrm>
            <a:off x="6117336" y="1143000"/>
            <a:ext cx="2377440" cy="1783080"/>
          </a:xfrm>
          <a:prstGeom prst="roundRect">
            <a:avLst>
              <a:gd name="adj" fmla="val 5128"/>
            </a:avLst>
          </a:prstGeom>
          <a:solidFill>
            <a:srgbClr val="0D9488">
              <a:alpha val="8000"/>
            </a:srgbClr>
          </a:solidFill>
          <a:ln w="12700">
            <a:solidFill>
              <a:srgbClr val="0D9488"/>
            </a:solidFill>
            <a:prstDash val="solid"/>
          </a:ln>
          <a:effectLst>
            <a:outerShdw sx="100000" sy="100000" kx="0" ky="0" algn="bl" rotWithShape="0" blurRad="76200" dist="38100" dir="2700000">
              <a:srgbClr val="000000">
                <a:alpha val="10000"/>
              </a:srgbClr>
            </a:outerShdw>
          </a:effectLst>
        </p:spPr>
      </p:sp>
      <p:sp>
        <p:nvSpPr>
          <p:cNvPr id="13" name="Text 11"/>
          <p:cNvSpPr/>
          <p:nvPr/>
        </p:nvSpPr>
        <p:spPr>
          <a:xfrm>
            <a:off x="6117336" y="1216152"/>
            <a:ext cx="2377440" cy="980694"/>
          </a:xfrm>
          <a:prstGeom prst="rect">
            <a:avLst/>
          </a:prstGeom>
          <a:noFill/>
          <a:ln/>
        </p:spPr>
        <p:txBody>
          <a:bodyPr wrap="square" rtlCol="0" anchor="b"/>
          <a:lstStyle/>
          <a:p>
            <a:pPr algn="ctr" indent="0" marL="0">
              <a:buNone/>
            </a:pPr>
            <a:r>
              <a:rPr lang="en-US" sz="3000" b="1" dirty="0">
                <a:solidFill>
                  <a:srgbClr val="0D9488"/>
                </a:solidFill>
                <a:latin typeface="Calibri" pitchFamily="34" charset="0"/>
                <a:ea typeface="Calibri" pitchFamily="34" charset="-122"/>
                <a:cs typeface="Calibri" pitchFamily="34" charset="-120"/>
              </a:rPr>
              <a:t>0</a:t>
            </a:r>
            <a:endParaRPr lang="en-US" sz="3000" dirty="0"/>
          </a:p>
        </p:txBody>
      </p:sp>
      <p:sp>
        <p:nvSpPr>
          <p:cNvPr id="14" name="Text 12"/>
          <p:cNvSpPr/>
          <p:nvPr/>
        </p:nvSpPr>
        <p:spPr>
          <a:xfrm>
            <a:off x="6117336" y="2212848"/>
            <a:ext cx="2377440" cy="624078"/>
          </a:xfrm>
          <a:prstGeom prst="rect">
            <a:avLst/>
          </a:prstGeom>
          <a:noFill/>
          <a:ln/>
        </p:spPr>
        <p:txBody>
          <a:bodyPr wrap="square"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Clippy</a:t>
            </a:r>
            <a:endParaRPr lang="en-US" sz="950" dirty="0"/>
          </a:p>
          <a:p>
            <a:pPr algn="ctr" indent="0" marL="0">
              <a:buNone/>
            </a:pPr>
            <a:r>
              <a:rPr lang="en-US" sz="950" dirty="0">
                <a:solidFill>
                  <a:srgbClr val="6B7280"/>
                </a:solidFill>
                <a:latin typeface="Calibri" pitchFamily="34" charset="0"/>
                <a:ea typeface="Calibri" pitchFamily="34" charset="-122"/>
                <a:cs typeface="Calibri" pitchFamily="34" charset="-120"/>
              </a:rPr>
              <a:t>Warnings</a:t>
            </a:r>
            <a:endParaRPr lang="en-US" sz="950" dirty="0"/>
          </a:p>
        </p:txBody>
      </p:sp>
      <p:sp>
        <p:nvSpPr>
          <p:cNvPr id="15" name="Shape 13"/>
          <p:cNvSpPr/>
          <p:nvPr/>
        </p:nvSpPr>
        <p:spPr>
          <a:xfrm>
            <a:off x="8924544" y="1143000"/>
            <a:ext cx="2377440" cy="1783080"/>
          </a:xfrm>
          <a:prstGeom prst="roundRect">
            <a:avLst>
              <a:gd name="adj" fmla="val 5128"/>
            </a:avLst>
          </a:prstGeom>
          <a:solidFill>
            <a:srgbClr val="7B2FBE">
              <a:alpha val="8000"/>
            </a:srgbClr>
          </a:solidFill>
          <a:ln w="12700">
            <a:solidFill>
              <a:srgbClr val="7B2FBE"/>
            </a:solidFill>
            <a:prstDash val="solid"/>
          </a:ln>
          <a:effectLst>
            <a:outerShdw sx="100000" sy="100000" kx="0" ky="0" algn="bl" rotWithShape="0" blurRad="76200" dist="38100" dir="2700000">
              <a:srgbClr val="000000">
                <a:alpha val="10000"/>
              </a:srgbClr>
            </a:outerShdw>
          </a:effectLst>
        </p:spPr>
      </p:sp>
      <p:sp>
        <p:nvSpPr>
          <p:cNvPr id="16" name="Text 14"/>
          <p:cNvSpPr/>
          <p:nvPr/>
        </p:nvSpPr>
        <p:spPr>
          <a:xfrm>
            <a:off x="8924544" y="1216152"/>
            <a:ext cx="2377440" cy="980694"/>
          </a:xfrm>
          <a:prstGeom prst="rect">
            <a:avLst/>
          </a:prstGeom>
          <a:noFill/>
          <a:ln/>
        </p:spPr>
        <p:txBody>
          <a:bodyPr wrap="square" rtlCol="0" anchor="b"/>
          <a:lstStyle/>
          <a:p>
            <a:pPr algn="ctr" indent="0" marL="0">
              <a:buNone/>
            </a:pPr>
            <a:r>
              <a:rPr lang="en-US" sz="3000" b="1" dirty="0">
                <a:solidFill>
                  <a:srgbClr val="7B2FBE"/>
                </a:solidFill>
                <a:latin typeface="Calibri" pitchFamily="34" charset="0"/>
                <a:ea typeface="Calibri" pitchFamily="34" charset="-122"/>
                <a:cs typeface="Calibri" pitchFamily="34" charset="-120"/>
              </a:rPr>
              <a:t>13</a:t>
            </a:r>
            <a:endParaRPr lang="en-US" sz="3000" dirty="0"/>
          </a:p>
        </p:txBody>
      </p:sp>
      <p:sp>
        <p:nvSpPr>
          <p:cNvPr id="17" name="Text 15"/>
          <p:cNvSpPr/>
          <p:nvPr/>
        </p:nvSpPr>
        <p:spPr>
          <a:xfrm>
            <a:off x="8924544" y="2212848"/>
            <a:ext cx="2377440" cy="624078"/>
          </a:xfrm>
          <a:prstGeom prst="rect">
            <a:avLst/>
          </a:prstGeom>
          <a:noFill/>
          <a:ln/>
        </p:spPr>
        <p:txBody>
          <a:bodyPr wrap="square" rtlCol="0" anchor="t"/>
          <a:lstStyle/>
          <a:p>
            <a:pPr algn="ctr" indent="0" marL="0">
              <a:buNone/>
            </a:pPr>
            <a:r>
              <a:rPr lang="en-US" sz="950" dirty="0">
                <a:solidFill>
                  <a:srgbClr val="6B7280"/>
                </a:solidFill>
                <a:latin typeface="Calibri" pitchFamily="34" charset="0"/>
                <a:ea typeface="Calibri" pitchFamily="34" charset="-122"/>
                <a:cs typeface="Calibri" pitchFamily="34" charset="-120"/>
              </a:rPr>
              <a:t>Constant</a:t>
            </a:r>
            <a:endParaRPr lang="en-US" sz="950" dirty="0"/>
          </a:p>
          <a:p>
            <a:pPr algn="ctr" indent="0" marL="0">
              <a:buNone/>
            </a:pPr>
            <a:r>
              <a:rPr lang="en-US" sz="950" dirty="0">
                <a:solidFill>
                  <a:srgbClr val="6B7280"/>
                </a:solidFill>
                <a:latin typeface="Calibri" pitchFamily="34" charset="0"/>
                <a:ea typeface="Calibri" pitchFamily="34" charset="-122"/>
                <a:cs typeface="Calibri" pitchFamily="34" charset="-120"/>
              </a:rPr>
              <a:t>Assertions</a:t>
            </a:r>
            <a:endParaRPr lang="en-US" sz="950" dirty="0"/>
          </a:p>
        </p:txBody>
      </p:sp>
      <p:sp>
        <p:nvSpPr>
          <p:cNvPr id="18" name="Shape 16"/>
          <p:cNvSpPr/>
          <p:nvPr/>
        </p:nvSpPr>
        <p:spPr>
          <a:xfrm>
            <a:off x="502920" y="3108960"/>
            <a:ext cx="11183112" cy="347472"/>
          </a:xfrm>
          <a:prstGeom prst="roundRect">
            <a:avLst>
              <a:gd name="adj" fmla="val 15789"/>
            </a:avLst>
          </a:prstGeom>
          <a:solidFill>
            <a:srgbClr val="005C58"/>
          </a:solidFill>
          <a:ln w="12700">
            <a:solidFill>
              <a:srgbClr val="005C58"/>
            </a:solidFill>
            <a:prstDash val="solid"/>
          </a:ln>
        </p:spPr>
      </p:sp>
      <p:sp>
        <p:nvSpPr>
          <p:cNvPr id="19" name="Shape 17"/>
          <p:cNvSpPr/>
          <p:nvPr/>
        </p:nvSpPr>
        <p:spPr>
          <a:xfrm>
            <a:off x="502920" y="3337560"/>
            <a:ext cx="11183112" cy="164592"/>
          </a:xfrm>
          <a:prstGeom prst="rect">
            <a:avLst/>
          </a:prstGeom>
          <a:solidFill>
            <a:srgbClr val="005C58"/>
          </a:solidFill>
          <a:ln w="12700">
            <a:solidFill>
              <a:srgbClr val="005C58"/>
            </a:solidFill>
            <a:prstDash val="solid"/>
          </a:ln>
        </p:spPr>
      </p:sp>
      <p:sp>
        <p:nvSpPr>
          <p:cNvPr id="20" name="Text 18"/>
          <p:cNvSpPr/>
          <p:nvPr/>
        </p:nvSpPr>
        <p:spPr>
          <a:xfrm>
            <a:off x="731520" y="3108960"/>
            <a:ext cx="10725912"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Code Statistics  (tokei)</a:t>
            </a:r>
            <a:endParaRPr lang="en-US" sz="1100" dirty="0"/>
          </a:p>
        </p:txBody>
      </p:sp>
      <p:sp>
        <p:nvSpPr>
          <p:cNvPr id="21" name="Shape 19"/>
          <p:cNvSpPr/>
          <p:nvPr/>
        </p:nvSpPr>
        <p:spPr>
          <a:xfrm>
            <a:off x="502920" y="3456432"/>
            <a:ext cx="3200400" cy="274320"/>
          </a:xfrm>
          <a:prstGeom prst="rect">
            <a:avLst/>
          </a:prstGeom>
          <a:solidFill>
            <a:srgbClr val="007B76">
              <a:alpha val="20000"/>
            </a:srgbClr>
          </a:solidFill>
          <a:ln w="12700">
            <a:solidFill>
              <a:srgbClr val="D1D5DB"/>
            </a:solidFill>
            <a:prstDash val="solid"/>
          </a:ln>
        </p:spPr>
      </p:sp>
      <p:sp>
        <p:nvSpPr>
          <p:cNvPr id="22" name="Text 20"/>
          <p:cNvSpPr/>
          <p:nvPr/>
        </p:nvSpPr>
        <p:spPr>
          <a:xfrm>
            <a:off x="612648" y="3456432"/>
            <a:ext cx="3063240" cy="274320"/>
          </a:xfrm>
          <a:prstGeom prst="rect">
            <a:avLst/>
          </a:prstGeom>
          <a:noFill/>
          <a:ln/>
        </p:spPr>
        <p:txBody>
          <a:bodyPr wrap="square" rtlCol="0" anchor="ctr"/>
          <a:lstStyle/>
          <a:p>
            <a:pPr algn="l" indent="0" marL="0">
              <a:buNone/>
            </a:pPr>
            <a:r>
              <a:rPr lang="en-US" sz="1000" b="1" dirty="0">
                <a:solidFill>
                  <a:srgbClr val="005C58"/>
                </a:solidFill>
                <a:latin typeface="Calibri" pitchFamily="34" charset="0"/>
                <a:ea typeface="Calibri" pitchFamily="34" charset="-122"/>
                <a:cs typeface="Calibri" pitchFamily="34" charset="-120"/>
              </a:rPr>
              <a:t>Language</a:t>
            </a:r>
            <a:endParaRPr lang="en-US" sz="1000" dirty="0"/>
          </a:p>
        </p:txBody>
      </p:sp>
      <p:sp>
        <p:nvSpPr>
          <p:cNvPr id="23" name="Shape 21"/>
          <p:cNvSpPr/>
          <p:nvPr/>
        </p:nvSpPr>
        <p:spPr>
          <a:xfrm>
            <a:off x="3703320" y="3456432"/>
            <a:ext cx="1463040" cy="274320"/>
          </a:xfrm>
          <a:prstGeom prst="rect">
            <a:avLst/>
          </a:prstGeom>
          <a:solidFill>
            <a:srgbClr val="007B76">
              <a:alpha val="20000"/>
            </a:srgbClr>
          </a:solidFill>
          <a:ln w="12700">
            <a:solidFill>
              <a:srgbClr val="D1D5DB"/>
            </a:solidFill>
            <a:prstDash val="solid"/>
          </a:ln>
        </p:spPr>
      </p:sp>
      <p:sp>
        <p:nvSpPr>
          <p:cNvPr id="24" name="Text 22"/>
          <p:cNvSpPr/>
          <p:nvPr/>
        </p:nvSpPr>
        <p:spPr>
          <a:xfrm>
            <a:off x="3813048" y="3456432"/>
            <a:ext cx="1325880" cy="274320"/>
          </a:xfrm>
          <a:prstGeom prst="rect">
            <a:avLst/>
          </a:prstGeom>
          <a:noFill/>
          <a:ln/>
        </p:spPr>
        <p:txBody>
          <a:bodyPr wrap="square" rtlCol="0" anchor="ctr"/>
          <a:lstStyle/>
          <a:p>
            <a:pPr algn="r" indent="0" marL="0">
              <a:buNone/>
            </a:pPr>
            <a:r>
              <a:rPr lang="en-US" sz="1000" b="1" dirty="0">
                <a:solidFill>
                  <a:srgbClr val="005C58"/>
                </a:solidFill>
                <a:latin typeface="Calibri" pitchFamily="34" charset="0"/>
                <a:ea typeface="Calibri" pitchFamily="34" charset="-122"/>
                <a:cs typeface="Calibri" pitchFamily="34" charset="-120"/>
              </a:rPr>
              <a:t>Files</a:t>
            </a:r>
            <a:endParaRPr lang="en-US" sz="1000" dirty="0"/>
          </a:p>
        </p:txBody>
      </p:sp>
      <p:sp>
        <p:nvSpPr>
          <p:cNvPr id="25" name="Shape 23"/>
          <p:cNvSpPr/>
          <p:nvPr/>
        </p:nvSpPr>
        <p:spPr>
          <a:xfrm>
            <a:off x="5166360" y="3456432"/>
            <a:ext cx="2286000" cy="274320"/>
          </a:xfrm>
          <a:prstGeom prst="rect">
            <a:avLst/>
          </a:prstGeom>
          <a:solidFill>
            <a:srgbClr val="007B76">
              <a:alpha val="20000"/>
            </a:srgbClr>
          </a:solidFill>
          <a:ln w="12700">
            <a:solidFill>
              <a:srgbClr val="D1D5DB"/>
            </a:solidFill>
            <a:prstDash val="solid"/>
          </a:ln>
        </p:spPr>
      </p:sp>
      <p:sp>
        <p:nvSpPr>
          <p:cNvPr id="26" name="Text 24"/>
          <p:cNvSpPr/>
          <p:nvPr/>
        </p:nvSpPr>
        <p:spPr>
          <a:xfrm>
            <a:off x="5276088" y="3456432"/>
            <a:ext cx="2148840" cy="274320"/>
          </a:xfrm>
          <a:prstGeom prst="rect">
            <a:avLst/>
          </a:prstGeom>
          <a:noFill/>
          <a:ln/>
        </p:spPr>
        <p:txBody>
          <a:bodyPr wrap="square" rtlCol="0" anchor="ctr"/>
          <a:lstStyle/>
          <a:p>
            <a:pPr algn="r" indent="0" marL="0">
              <a:buNone/>
            </a:pPr>
            <a:r>
              <a:rPr lang="en-US" sz="1000" b="1" dirty="0">
                <a:solidFill>
                  <a:srgbClr val="005C58"/>
                </a:solidFill>
                <a:latin typeface="Calibri" pitchFamily="34" charset="0"/>
                <a:ea typeface="Calibri" pitchFamily="34" charset="-122"/>
                <a:cs typeface="Calibri" pitchFamily="34" charset="-120"/>
              </a:rPr>
              <a:t>Code Lines</a:t>
            </a:r>
            <a:endParaRPr lang="en-US" sz="1000" dirty="0"/>
          </a:p>
        </p:txBody>
      </p:sp>
      <p:sp>
        <p:nvSpPr>
          <p:cNvPr id="27" name="Shape 25"/>
          <p:cNvSpPr/>
          <p:nvPr/>
        </p:nvSpPr>
        <p:spPr>
          <a:xfrm>
            <a:off x="7452360" y="3456432"/>
            <a:ext cx="2286000" cy="274320"/>
          </a:xfrm>
          <a:prstGeom prst="rect">
            <a:avLst/>
          </a:prstGeom>
          <a:solidFill>
            <a:srgbClr val="007B76">
              <a:alpha val="20000"/>
            </a:srgbClr>
          </a:solidFill>
          <a:ln w="12700">
            <a:solidFill>
              <a:srgbClr val="D1D5DB"/>
            </a:solidFill>
            <a:prstDash val="solid"/>
          </a:ln>
        </p:spPr>
      </p:sp>
      <p:sp>
        <p:nvSpPr>
          <p:cNvPr id="28" name="Text 26"/>
          <p:cNvSpPr/>
          <p:nvPr/>
        </p:nvSpPr>
        <p:spPr>
          <a:xfrm>
            <a:off x="7562088" y="3456432"/>
            <a:ext cx="2148840" cy="274320"/>
          </a:xfrm>
          <a:prstGeom prst="rect">
            <a:avLst/>
          </a:prstGeom>
          <a:noFill/>
          <a:ln/>
        </p:spPr>
        <p:txBody>
          <a:bodyPr wrap="square" rtlCol="0" anchor="ctr"/>
          <a:lstStyle/>
          <a:p>
            <a:pPr algn="r" indent="0" marL="0">
              <a:buNone/>
            </a:pPr>
            <a:r>
              <a:rPr lang="en-US" sz="1000" b="1" dirty="0">
                <a:solidFill>
                  <a:srgbClr val="005C58"/>
                </a:solidFill>
                <a:latin typeface="Calibri" pitchFamily="34" charset="0"/>
                <a:ea typeface="Calibri" pitchFamily="34" charset="-122"/>
                <a:cs typeface="Calibri" pitchFamily="34" charset="-120"/>
              </a:rPr>
              <a:t>Comments</a:t>
            </a:r>
            <a:endParaRPr lang="en-US" sz="1000" dirty="0"/>
          </a:p>
        </p:txBody>
      </p:sp>
      <p:sp>
        <p:nvSpPr>
          <p:cNvPr id="29" name="Shape 27"/>
          <p:cNvSpPr/>
          <p:nvPr/>
        </p:nvSpPr>
        <p:spPr>
          <a:xfrm>
            <a:off x="9738360" y="3456432"/>
            <a:ext cx="1920240" cy="274320"/>
          </a:xfrm>
          <a:prstGeom prst="rect">
            <a:avLst/>
          </a:prstGeom>
          <a:solidFill>
            <a:srgbClr val="007B76">
              <a:alpha val="20000"/>
            </a:srgbClr>
          </a:solidFill>
          <a:ln w="12700">
            <a:solidFill>
              <a:srgbClr val="D1D5DB"/>
            </a:solidFill>
            <a:prstDash val="solid"/>
          </a:ln>
        </p:spPr>
      </p:sp>
      <p:sp>
        <p:nvSpPr>
          <p:cNvPr id="30" name="Text 28"/>
          <p:cNvSpPr/>
          <p:nvPr/>
        </p:nvSpPr>
        <p:spPr>
          <a:xfrm>
            <a:off x="9848088" y="3456432"/>
            <a:ext cx="1783080" cy="274320"/>
          </a:xfrm>
          <a:prstGeom prst="rect">
            <a:avLst/>
          </a:prstGeom>
          <a:noFill/>
          <a:ln/>
        </p:spPr>
        <p:txBody>
          <a:bodyPr wrap="square" rtlCol="0" anchor="ctr"/>
          <a:lstStyle/>
          <a:p>
            <a:pPr algn="r" indent="0" marL="0">
              <a:buNone/>
            </a:pPr>
            <a:r>
              <a:rPr lang="en-US" sz="1000" b="1" dirty="0">
                <a:solidFill>
                  <a:srgbClr val="005C58"/>
                </a:solidFill>
                <a:latin typeface="Calibri" pitchFamily="34" charset="0"/>
                <a:ea typeface="Calibri" pitchFamily="34" charset="-122"/>
                <a:cs typeface="Calibri" pitchFamily="34" charset="-120"/>
              </a:rPr>
              <a:t>Total Lines</a:t>
            </a:r>
            <a:endParaRPr lang="en-US" sz="1000" dirty="0"/>
          </a:p>
        </p:txBody>
      </p:sp>
      <p:sp>
        <p:nvSpPr>
          <p:cNvPr id="31" name="Shape 29"/>
          <p:cNvSpPr/>
          <p:nvPr/>
        </p:nvSpPr>
        <p:spPr>
          <a:xfrm>
            <a:off x="502920" y="3730752"/>
            <a:ext cx="3200400" cy="457200"/>
          </a:xfrm>
          <a:prstGeom prst="rect">
            <a:avLst/>
          </a:prstGeom>
          <a:solidFill>
            <a:srgbClr val="FFF8E7"/>
          </a:solidFill>
          <a:ln w="12700">
            <a:solidFill>
              <a:srgbClr val="D1D5DB"/>
            </a:solidFill>
            <a:prstDash val="solid"/>
          </a:ln>
        </p:spPr>
      </p:sp>
      <p:sp>
        <p:nvSpPr>
          <p:cNvPr id="32" name="Text 30"/>
          <p:cNvSpPr/>
          <p:nvPr/>
        </p:nvSpPr>
        <p:spPr>
          <a:xfrm>
            <a:off x="612648" y="3730752"/>
            <a:ext cx="3063240" cy="457200"/>
          </a:xfrm>
          <a:prstGeom prst="rect">
            <a:avLst/>
          </a:prstGeom>
          <a:noFill/>
          <a:ln/>
        </p:spPr>
        <p:txBody>
          <a:bodyPr wrap="square" rtlCol="0" anchor="ctr"/>
          <a:lstStyle/>
          <a:p>
            <a:pPr algn="l" indent="0" marL="0">
              <a:buNone/>
            </a:pPr>
            <a:r>
              <a:rPr lang="en-US" sz="1100" dirty="0">
                <a:solidFill>
                  <a:srgbClr val="C45200"/>
                </a:solidFill>
                <a:latin typeface="Calibri" pitchFamily="34" charset="0"/>
                <a:ea typeface="Calibri" pitchFamily="34" charset="-122"/>
                <a:cs typeface="Calibri" pitchFamily="34" charset="-120"/>
              </a:rPr>
              <a:t>Rust</a:t>
            </a:r>
            <a:endParaRPr lang="en-US" sz="1100" dirty="0"/>
          </a:p>
        </p:txBody>
      </p:sp>
      <p:sp>
        <p:nvSpPr>
          <p:cNvPr id="33" name="Shape 31"/>
          <p:cNvSpPr/>
          <p:nvPr/>
        </p:nvSpPr>
        <p:spPr>
          <a:xfrm>
            <a:off x="3703320" y="3730752"/>
            <a:ext cx="1463040" cy="457200"/>
          </a:xfrm>
          <a:prstGeom prst="rect">
            <a:avLst/>
          </a:prstGeom>
          <a:solidFill>
            <a:srgbClr val="FFF8E7"/>
          </a:solidFill>
          <a:ln w="12700">
            <a:solidFill>
              <a:srgbClr val="D1D5DB"/>
            </a:solidFill>
            <a:prstDash val="solid"/>
          </a:ln>
        </p:spPr>
      </p:sp>
      <p:sp>
        <p:nvSpPr>
          <p:cNvPr id="34" name="Text 32"/>
          <p:cNvSpPr/>
          <p:nvPr/>
        </p:nvSpPr>
        <p:spPr>
          <a:xfrm>
            <a:off x="3813048" y="3730752"/>
            <a:ext cx="132588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88</a:t>
            </a:r>
            <a:endParaRPr lang="en-US" sz="1200" dirty="0"/>
          </a:p>
        </p:txBody>
      </p:sp>
      <p:sp>
        <p:nvSpPr>
          <p:cNvPr id="35" name="Shape 33"/>
          <p:cNvSpPr/>
          <p:nvPr/>
        </p:nvSpPr>
        <p:spPr>
          <a:xfrm>
            <a:off x="5166360" y="3730752"/>
            <a:ext cx="2286000" cy="457200"/>
          </a:xfrm>
          <a:prstGeom prst="rect">
            <a:avLst/>
          </a:prstGeom>
          <a:solidFill>
            <a:srgbClr val="FFF8E7"/>
          </a:solidFill>
          <a:ln w="12700">
            <a:solidFill>
              <a:srgbClr val="D1D5DB"/>
            </a:solidFill>
            <a:prstDash val="solid"/>
          </a:ln>
        </p:spPr>
      </p:sp>
      <p:sp>
        <p:nvSpPr>
          <p:cNvPr id="36" name="Text 34"/>
          <p:cNvSpPr/>
          <p:nvPr/>
        </p:nvSpPr>
        <p:spPr>
          <a:xfrm>
            <a:off x="5276088" y="3730752"/>
            <a:ext cx="214884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12,263</a:t>
            </a:r>
            <a:endParaRPr lang="en-US" sz="1200" dirty="0"/>
          </a:p>
        </p:txBody>
      </p:sp>
      <p:sp>
        <p:nvSpPr>
          <p:cNvPr id="37" name="Shape 35"/>
          <p:cNvSpPr/>
          <p:nvPr/>
        </p:nvSpPr>
        <p:spPr>
          <a:xfrm>
            <a:off x="7452360" y="3730752"/>
            <a:ext cx="2286000" cy="457200"/>
          </a:xfrm>
          <a:prstGeom prst="rect">
            <a:avLst/>
          </a:prstGeom>
          <a:solidFill>
            <a:srgbClr val="FFF8E7"/>
          </a:solidFill>
          <a:ln w="12700">
            <a:solidFill>
              <a:srgbClr val="D1D5DB"/>
            </a:solidFill>
            <a:prstDash val="solid"/>
          </a:ln>
        </p:spPr>
      </p:sp>
      <p:sp>
        <p:nvSpPr>
          <p:cNvPr id="38" name="Text 36"/>
          <p:cNvSpPr/>
          <p:nvPr/>
        </p:nvSpPr>
        <p:spPr>
          <a:xfrm>
            <a:off x="7562088" y="3730752"/>
            <a:ext cx="214884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1,847</a:t>
            </a:r>
            <a:endParaRPr lang="en-US" sz="1200" dirty="0"/>
          </a:p>
        </p:txBody>
      </p:sp>
      <p:sp>
        <p:nvSpPr>
          <p:cNvPr id="39" name="Shape 37"/>
          <p:cNvSpPr/>
          <p:nvPr/>
        </p:nvSpPr>
        <p:spPr>
          <a:xfrm>
            <a:off x="9738360" y="3730752"/>
            <a:ext cx="1920240" cy="457200"/>
          </a:xfrm>
          <a:prstGeom prst="rect">
            <a:avLst/>
          </a:prstGeom>
          <a:solidFill>
            <a:srgbClr val="FFF8E7"/>
          </a:solidFill>
          <a:ln w="12700">
            <a:solidFill>
              <a:srgbClr val="D1D5DB"/>
            </a:solidFill>
            <a:prstDash val="solid"/>
          </a:ln>
        </p:spPr>
      </p:sp>
      <p:sp>
        <p:nvSpPr>
          <p:cNvPr id="40" name="Text 38"/>
          <p:cNvSpPr/>
          <p:nvPr/>
        </p:nvSpPr>
        <p:spPr>
          <a:xfrm>
            <a:off x="9848088" y="3730752"/>
            <a:ext cx="178308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14,110</a:t>
            </a:r>
            <a:endParaRPr lang="en-US" sz="1200" dirty="0"/>
          </a:p>
        </p:txBody>
      </p:sp>
      <p:sp>
        <p:nvSpPr>
          <p:cNvPr id="41" name="Shape 39"/>
          <p:cNvSpPr/>
          <p:nvPr/>
        </p:nvSpPr>
        <p:spPr>
          <a:xfrm>
            <a:off x="502920" y="4187952"/>
            <a:ext cx="3200400" cy="457200"/>
          </a:xfrm>
          <a:prstGeom prst="rect">
            <a:avLst/>
          </a:prstGeom>
          <a:solidFill>
            <a:srgbClr val="EFF6FF"/>
          </a:solidFill>
          <a:ln w="12700">
            <a:solidFill>
              <a:srgbClr val="D1D5DB"/>
            </a:solidFill>
            <a:prstDash val="solid"/>
          </a:ln>
        </p:spPr>
      </p:sp>
      <p:sp>
        <p:nvSpPr>
          <p:cNvPr id="42" name="Text 40"/>
          <p:cNvSpPr/>
          <p:nvPr/>
        </p:nvSpPr>
        <p:spPr>
          <a:xfrm>
            <a:off x="612648" y="4187952"/>
            <a:ext cx="3063240" cy="457200"/>
          </a:xfrm>
          <a:prstGeom prst="rect">
            <a:avLst/>
          </a:prstGeom>
          <a:noFill/>
          <a:ln/>
        </p:spPr>
        <p:txBody>
          <a:bodyPr wrap="square" rtlCol="0" anchor="ctr"/>
          <a:lstStyle/>
          <a:p>
            <a:pPr algn="l" indent="0" marL="0">
              <a:buNone/>
            </a:pPr>
            <a:r>
              <a:rPr lang="en-US" sz="1100" dirty="0">
                <a:solidFill>
                  <a:srgbClr val="1E6B9B"/>
                </a:solidFill>
                <a:latin typeface="Calibri" pitchFamily="34" charset="0"/>
                <a:ea typeface="Calibri" pitchFamily="34" charset="-122"/>
                <a:cs typeface="Calibri" pitchFamily="34" charset="-120"/>
              </a:rPr>
              <a:t>Markdown</a:t>
            </a:r>
            <a:endParaRPr lang="en-US" sz="1100" dirty="0"/>
          </a:p>
        </p:txBody>
      </p:sp>
      <p:sp>
        <p:nvSpPr>
          <p:cNvPr id="43" name="Shape 41"/>
          <p:cNvSpPr/>
          <p:nvPr/>
        </p:nvSpPr>
        <p:spPr>
          <a:xfrm>
            <a:off x="3703320" y="4187952"/>
            <a:ext cx="1463040" cy="457200"/>
          </a:xfrm>
          <a:prstGeom prst="rect">
            <a:avLst/>
          </a:prstGeom>
          <a:solidFill>
            <a:srgbClr val="EFF6FF"/>
          </a:solidFill>
          <a:ln w="12700">
            <a:solidFill>
              <a:srgbClr val="D1D5DB"/>
            </a:solidFill>
            <a:prstDash val="solid"/>
          </a:ln>
        </p:spPr>
      </p:sp>
      <p:sp>
        <p:nvSpPr>
          <p:cNvPr id="44" name="Text 42"/>
          <p:cNvSpPr/>
          <p:nvPr/>
        </p:nvSpPr>
        <p:spPr>
          <a:xfrm>
            <a:off x="3813048" y="4187952"/>
            <a:ext cx="132588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53</a:t>
            </a:r>
            <a:endParaRPr lang="en-US" sz="1200" dirty="0"/>
          </a:p>
        </p:txBody>
      </p:sp>
      <p:sp>
        <p:nvSpPr>
          <p:cNvPr id="45" name="Shape 43"/>
          <p:cNvSpPr/>
          <p:nvPr/>
        </p:nvSpPr>
        <p:spPr>
          <a:xfrm>
            <a:off x="5166360" y="4187952"/>
            <a:ext cx="2286000" cy="457200"/>
          </a:xfrm>
          <a:prstGeom prst="rect">
            <a:avLst/>
          </a:prstGeom>
          <a:solidFill>
            <a:srgbClr val="EFF6FF"/>
          </a:solidFill>
          <a:ln w="12700">
            <a:solidFill>
              <a:srgbClr val="D1D5DB"/>
            </a:solidFill>
            <a:prstDash val="solid"/>
          </a:ln>
        </p:spPr>
      </p:sp>
      <p:sp>
        <p:nvSpPr>
          <p:cNvPr id="46" name="Text 44"/>
          <p:cNvSpPr/>
          <p:nvPr/>
        </p:nvSpPr>
        <p:spPr>
          <a:xfrm>
            <a:off x="5276088" y="4187952"/>
            <a:ext cx="214884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13,569</a:t>
            </a:r>
            <a:endParaRPr lang="en-US" sz="1200" dirty="0"/>
          </a:p>
        </p:txBody>
      </p:sp>
      <p:sp>
        <p:nvSpPr>
          <p:cNvPr id="47" name="Shape 45"/>
          <p:cNvSpPr/>
          <p:nvPr/>
        </p:nvSpPr>
        <p:spPr>
          <a:xfrm>
            <a:off x="7452360" y="4187952"/>
            <a:ext cx="2286000" cy="457200"/>
          </a:xfrm>
          <a:prstGeom prst="rect">
            <a:avLst/>
          </a:prstGeom>
          <a:solidFill>
            <a:srgbClr val="EFF6FF"/>
          </a:solidFill>
          <a:ln w="12700">
            <a:solidFill>
              <a:srgbClr val="D1D5DB"/>
            </a:solidFill>
            <a:prstDash val="solid"/>
          </a:ln>
        </p:spPr>
      </p:sp>
      <p:sp>
        <p:nvSpPr>
          <p:cNvPr id="48" name="Text 46"/>
          <p:cNvSpPr/>
          <p:nvPr/>
        </p:nvSpPr>
        <p:spPr>
          <a:xfrm>
            <a:off x="7562088" y="4187952"/>
            <a:ext cx="214884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0</a:t>
            </a:r>
            <a:endParaRPr lang="en-US" sz="1200" dirty="0"/>
          </a:p>
        </p:txBody>
      </p:sp>
      <p:sp>
        <p:nvSpPr>
          <p:cNvPr id="49" name="Shape 47"/>
          <p:cNvSpPr/>
          <p:nvPr/>
        </p:nvSpPr>
        <p:spPr>
          <a:xfrm>
            <a:off x="9738360" y="4187952"/>
            <a:ext cx="1920240" cy="457200"/>
          </a:xfrm>
          <a:prstGeom prst="rect">
            <a:avLst/>
          </a:prstGeom>
          <a:solidFill>
            <a:srgbClr val="EFF6FF"/>
          </a:solidFill>
          <a:ln w="12700">
            <a:solidFill>
              <a:srgbClr val="D1D5DB"/>
            </a:solidFill>
            <a:prstDash val="solid"/>
          </a:ln>
        </p:spPr>
      </p:sp>
      <p:sp>
        <p:nvSpPr>
          <p:cNvPr id="50" name="Text 48"/>
          <p:cNvSpPr/>
          <p:nvPr/>
        </p:nvSpPr>
        <p:spPr>
          <a:xfrm>
            <a:off x="9848088" y="4187952"/>
            <a:ext cx="178308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13,569</a:t>
            </a:r>
            <a:endParaRPr lang="en-US" sz="1200" dirty="0"/>
          </a:p>
        </p:txBody>
      </p:sp>
      <p:sp>
        <p:nvSpPr>
          <p:cNvPr id="51" name="Shape 49"/>
          <p:cNvSpPr/>
          <p:nvPr/>
        </p:nvSpPr>
        <p:spPr>
          <a:xfrm>
            <a:off x="502920" y="4645152"/>
            <a:ext cx="3200400" cy="457200"/>
          </a:xfrm>
          <a:prstGeom prst="rect">
            <a:avLst/>
          </a:prstGeom>
          <a:solidFill>
            <a:srgbClr val="F0FDFA"/>
          </a:solidFill>
          <a:ln w="12700">
            <a:solidFill>
              <a:srgbClr val="D1D5DB"/>
            </a:solidFill>
            <a:prstDash val="solid"/>
          </a:ln>
        </p:spPr>
      </p:sp>
      <p:sp>
        <p:nvSpPr>
          <p:cNvPr id="52" name="Text 50"/>
          <p:cNvSpPr/>
          <p:nvPr/>
        </p:nvSpPr>
        <p:spPr>
          <a:xfrm>
            <a:off x="612648" y="4645152"/>
            <a:ext cx="3063240" cy="457200"/>
          </a:xfrm>
          <a:prstGeom prst="rect">
            <a:avLst/>
          </a:prstGeom>
          <a:noFill/>
          <a:ln/>
        </p:spPr>
        <p:txBody>
          <a:bodyPr wrap="square" rtlCol="0" anchor="ctr"/>
          <a:lstStyle/>
          <a:p>
            <a:pPr algn="l" indent="0" marL="0">
              <a:buNone/>
            </a:pPr>
            <a:r>
              <a:rPr lang="en-US" sz="1100" dirty="0">
                <a:solidFill>
                  <a:srgbClr val="0D9488"/>
                </a:solidFill>
                <a:latin typeface="Calibri" pitchFamily="34" charset="0"/>
                <a:ea typeface="Calibri" pitchFamily="34" charset="-122"/>
                <a:cs typeface="Calibri" pitchFamily="34" charset="-120"/>
              </a:rPr>
              <a:t>TOML</a:t>
            </a:r>
            <a:endParaRPr lang="en-US" sz="1100" dirty="0"/>
          </a:p>
        </p:txBody>
      </p:sp>
      <p:sp>
        <p:nvSpPr>
          <p:cNvPr id="53" name="Shape 51"/>
          <p:cNvSpPr/>
          <p:nvPr/>
        </p:nvSpPr>
        <p:spPr>
          <a:xfrm>
            <a:off x="3703320" y="4645152"/>
            <a:ext cx="1463040" cy="457200"/>
          </a:xfrm>
          <a:prstGeom prst="rect">
            <a:avLst/>
          </a:prstGeom>
          <a:solidFill>
            <a:srgbClr val="F0FDFA"/>
          </a:solidFill>
          <a:ln w="12700">
            <a:solidFill>
              <a:srgbClr val="D1D5DB"/>
            </a:solidFill>
            <a:prstDash val="solid"/>
          </a:ln>
        </p:spPr>
      </p:sp>
      <p:sp>
        <p:nvSpPr>
          <p:cNvPr id="54" name="Text 52"/>
          <p:cNvSpPr/>
          <p:nvPr/>
        </p:nvSpPr>
        <p:spPr>
          <a:xfrm>
            <a:off x="3813048" y="4645152"/>
            <a:ext cx="132588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4</a:t>
            </a:r>
            <a:endParaRPr lang="en-US" sz="1200" dirty="0"/>
          </a:p>
        </p:txBody>
      </p:sp>
      <p:sp>
        <p:nvSpPr>
          <p:cNvPr id="55" name="Shape 53"/>
          <p:cNvSpPr/>
          <p:nvPr/>
        </p:nvSpPr>
        <p:spPr>
          <a:xfrm>
            <a:off x="5166360" y="4645152"/>
            <a:ext cx="2286000" cy="457200"/>
          </a:xfrm>
          <a:prstGeom prst="rect">
            <a:avLst/>
          </a:prstGeom>
          <a:solidFill>
            <a:srgbClr val="F0FDFA"/>
          </a:solidFill>
          <a:ln w="12700">
            <a:solidFill>
              <a:srgbClr val="D1D5DB"/>
            </a:solidFill>
            <a:prstDash val="solid"/>
          </a:ln>
        </p:spPr>
      </p:sp>
      <p:sp>
        <p:nvSpPr>
          <p:cNvPr id="56" name="Text 54"/>
          <p:cNvSpPr/>
          <p:nvPr/>
        </p:nvSpPr>
        <p:spPr>
          <a:xfrm>
            <a:off x="5276088" y="4645152"/>
            <a:ext cx="214884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89</a:t>
            </a:r>
            <a:endParaRPr lang="en-US" sz="1200" dirty="0"/>
          </a:p>
        </p:txBody>
      </p:sp>
      <p:sp>
        <p:nvSpPr>
          <p:cNvPr id="57" name="Shape 55"/>
          <p:cNvSpPr/>
          <p:nvPr/>
        </p:nvSpPr>
        <p:spPr>
          <a:xfrm>
            <a:off x="7452360" y="4645152"/>
            <a:ext cx="2286000" cy="457200"/>
          </a:xfrm>
          <a:prstGeom prst="rect">
            <a:avLst/>
          </a:prstGeom>
          <a:solidFill>
            <a:srgbClr val="F0FDFA"/>
          </a:solidFill>
          <a:ln w="12700">
            <a:solidFill>
              <a:srgbClr val="D1D5DB"/>
            </a:solidFill>
            <a:prstDash val="solid"/>
          </a:ln>
        </p:spPr>
      </p:sp>
      <p:sp>
        <p:nvSpPr>
          <p:cNvPr id="58" name="Text 56"/>
          <p:cNvSpPr/>
          <p:nvPr/>
        </p:nvSpPr>
        <p:spPr>
          <a:xfrm>
            <a:off x="7562088" y="4645152"/>
            <a:ext cx="214884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3</a:t>
            </a:r>
            <a:endParaRPr lang="en-US" sz="1200" dirty="0"/>
          </a:p>
        </p:txBody>
      </p:sp>
      <p:sp>
        <p:nvSpPr>
          <p:cNvPr id="59" name="Shape 57"/>
          <p:cNvSpPr/>
          <p:nvPr/>
        </p:nvSpPr>
        <p:spPr>
          <a:xfrm>
            <a:off x="9738360" y="4645152"/>
            <a:ext cx="1920240" cy="457200"/>
          </a:xfrm>
          <a:prstGeom prst="rect">
            <a:avLst/>
          </a:prstGeom>
          <a:solidFill>
            <a:srgbClr val="F0FDFA"/>
          </a:solidFill>
          <a:ln w="12700">
            <a:solidFill>
              <a:srgbClr val="D1D5DB"/>
            </a:solidFill>
            <a:prstDash val="solid"/>
          </a:ln>
        </p:spPr>
      </p:sp>
      <p:sp>
        <p:nvSpPr>
          <p:cNvPr id="60" name="Text 58"/>
          <p:cNvSpPr/>
          <p:nvPr/>
        </p:nvSpPr>
        <p:spPr>
          <a:xfrm>
            <a:off x="9848088" y="4645152"/>
            <a:ext cx="1783080" cy="457200"/>
          </a:xfrm>
          <a:prstGeom prst="rect">
            <a:avLst/>
          </a:prstGeom>
          <a:noFill/>
          <a:ln/>
        </p:spPr>
        <p:txBody>
          <a:bodyPr wrap="square" rtlCol="0" anchor="ctr"/>
          <a:lstStyle/>
          <a:p>
            <a:pPr algn="r" indent="0" marL="0">
              <a:buNone/>
            </a:pPr>
            <a:r>
              <a:rPr lang="en-US" sz="1200" dirty="0">
                <a:solidFill>
                  <a:srgbClr val="005C58"/>
                </a:solidFill>
                <a:latin typeface="Calibri" pitchFamily="34" charset="0"/>
                <a:ea typeface="Calibri" pitchFamily="34" charset="-122"/>
                <a:cs typeface="Calibri" pitchFamily="34" charset="-120"/>
              </a:rPr>
              <a:t>92</a:t>
            </a:r>
            <a:endParaRPr lang="en-US" sz="1200" dirty="0"/>
          </a:p>
        </p:txBody>
      </p:sp>
      <p:sp>
        <p:nvSpPr>
          <p:cNvPr id="61" name="Shape 59"/>
          <p:cNvSpPr/>
          <p:nvPr/>
        </p:nvSpPr>
        <p:spPr>
          <a:xfrm>
            <a:off x="502920" y="5102352"/>
            <a:ext cx="3200400" cy="457200"/>
          </a:xfrm>
          <a:prstGeom prst="rect">
            <a:avLst/>
          </a:prstGeom>
          <a:solidFill>
            <a:srgbClr val="F1F5F9"/>
          </a:solidFill>
          <a:ln w="12700">
            <a:solidFill>
              <a:srgbClr val="D1D5DB"/>
            </a:solidFill>
            <a:prstDash val="solid"/>
          </a:ln>
        </p:spPr>
      </p:sp>
      <p:sp>
        <p:nvSpPr>
          <p:cNvPr id="62" name="Text 60"/>
          <p:cNvSpPr/>
          <p:nvPr/>
        </p:nvSpPr>
        <p:spPr>
          <a:xfrm>
            <a:off x="612648" y="5102352"/>
            <a:ext cx="3063240" cy="457200"/>
          </a:xfrm>
          <a:prstGeom prst="rect">
            <a:avLst/>
          </a:prstGeom>
          <a:noFill/>
          <a:ln/>
        </p:spPr>
        <p:txBody>
          <a:bodyPr wrap="square" rtlCol="0" anchor="ctr"/>
          <a:lstStyle/>
          <a:p>
            <a:pPr algn="l" indent="0" marL="0">
              <a:buNone/>
            </a:pPr>
            <a:r>
              <a:rPr lang="en-US" sz="1100" b="1" dirty="0">
                <a:solidFill>
                  <a:srgbClr val="005C58"/>
                </a:solidFill>
                <a:latin typeface="Calibri" pitchFamily="34" charset="0"/>
                <a:ea typeface="Calibri" pitchFamily="34" charset="-122"/>
                <a:cs typeface="Calibri" pitchFamily="34" charset="-120"/>
              </a:rPr>
              <a:t>Total</a:t>
            </a:r>
            <a:endParaRPr lang="en-US" sz="1100" dirty="0"/>
          </a:p>
        </p:txBody>
      </p:sp>
      <p:sp>
        <p:nvSpPr>
          <p:cNvPr id="63" name="Shape 61"/>
          <p:cNvSpPr/>
          <p:nvPr/>
        </p:nvSpPr>
        <p:spPr>
          <a:xfrm>
            <a:off x="3703320" y="5102352"/>
            <a:ext cx="1463040" cy="457200"/>
          </a:xfrm>
          <a:prstGeom prst="rect">
            <a:avLst/>
          </a:prstGeom>
          <a:solidFill>
            <a:srgbClr val="F1F5F9"/>
          </a:solidFill>
          <a:ln w="12700">
            <a:solidFill>
              <a:srgbClr val="D1D5DB"/>
            </a:solidFill>
            <a:prstDash val="solid"/>
          </a:ln>
        </p:spPr>
      </p:sp>
      <p:sp>
        <p:nvSpPr>
          <p:cNvPr id="64" name="Text 62"/>
          <p:cNvSpPr/>
          <p:nvPr/>
        </p:nvSpPr>
        <p:spPr>
          <a:xfrm>
            <a:off x="3813048" y="5102352"/>
            <a:ext cx="1325880" cy="457200"/>
          </a:xfrm>
          <a:prstGeom prst="rect">
            <a:avLst/>
          </a:prstGeom>
          <a:noFill/>
          <a:ln/>
        </p:spPr>
        <p:txBody>
          <a:bodyPr wrap="square" rtlCol="0" anchor="ctr"/>
          <a:lstStyle/>
          <a:p>
            <a:pPr algn="r" indent="0" marL="0">
              <a:buNone/>
            </a:pPr>
            <a:r>
              <a:rPr lang="en-US" sz="1200" b="1" dirty="0">
                <a:solidFill>
                  <a:srgbClr val="005C58"/>
                </a:solidFill>
                <a:latin typeface="Calibri" pitchFamily="34" charset="0"/>
                <a:ea typeface="Calibri" pitchFamily="34" charset="-122"/>
                <a:cs typeface="Calibri" pitchFamily="34" charset="-120"/>
              </a:rPr>
              <a:t>145</a:t>
            </a:r>
            <a:endParaRPr lang="en-US" sz="1200" dirty="0"/>
          </a:p>
        </p:txBody>
      </p:sp>
      <p:sp>
        <p:nvSpPr>
          <p:cNvPr id="65" name="Shape 63"/>
          <p:cNvSpPr/>
          <p:nvPr/>
        </p:nvSpPr>
        <p:spPr>
          <a:xfrm>
            <a:off x="5166360" y="5102352"/>
            <a:ext cx="2286000" cy="457200"/>
          </a:xfrm>
          <a:prstGeom prst="rect">
            <a:avLst/>
          </a:prstGeom>
          <a:solidFill>
            <a:srgbClr val="F1F5F9"/>
          </a:solidFill>
          <a:ln w="12700">
            <a:solidFill>
              <a:srgbClr val="D1D5DB"/>
            </a:solidFill>
            <a:prstDash val="solid"/>
          </a:ln>
        </p:spPr>
      </p:sp>
      <p:sp>
        <p:nvSpPr>
          <p:cNvPr id="66" name="Text 64"/>
          <p:cNvSpPr/>
          <p:nvPr/>
        </p:nvSpPr>
        <p:spPr>
          <a:xfrm>
            <a:off x="5276088" y="5102352"/>
            <a:ext cx="2148840" cy="457200"/>
          </a:xfrm>
          <a:prstGeom prst="rect">
            <a:avLst/>
          </a:prstGeom>
          <a:noFill/>
          <a:ln/>
        </p:spPr>
        <p:txBody>
          <a:bodyPr wrap="square" rtlCol="0" anchor="ctr"/>
          <a:lstStyle/>
          <a:p>
            <a:pPr algn="r" indent="0" marL="0">
              <a:buNone/>
            </a:pPr>
            <a:r>
              <a:rPr lang="en-US" sz="1200" b="1" dirty="0">
                <a:solidFill>
                  <a:srgbClr val="005C58"/>
                </a:solidFill>
                <a:latin typeface="Calibri" pitchFamily="34" charset="0"/>
                <a:ea typeface="Calibri" pitchFamily="34" charset="-122"/>
                <a:cs typeface="Calibri" pitchFamily="34" charset="-120"/>
              </a:rPr>
              <a:t>25,921</a:t>
            </a:r>
            <a:endParaRPr lang="en-US" sz="1200" dirty="0"/>
          </a:p>
        </p:txBody>
      </p:sp>
      <p:sp>
        <p:nvSpPr>
          <p:cNvPr id="67" name="Shape 65"/>
          <p:cNvSpPr/>
          <p:nvPr/>
        </p:nvSpPr>
        <p:spPr>
          <a:xfrm>
            <a:off x="7452360" y="5102352"/>
            <a:ext cx="2286000" cy="457200"/>
          </a:xfrm>
          <a:prstGeom prst="rect">
            <a:avLst/>
          </a:prstGeom>
          <a:solidFill>
            <a:srgbClr val="F1F5F9"/>
          </a:solidFill>
          <a:ln w="12700">
            <a:solidFill>
              <a:srgbClr val="D1D5DB"/>
            </a:solidFill>
            <a:prstDash val="solid"/>
          </a:ln>
        </p:spPr>
      </p:sp>
      <p:sp>
        <p:nvSpPr>
          <p:cNvPr id="68" name="Text 66"/>
          <p:cNvSpPr/>
          <p:nvPr/>
        </p:nvSpPr>
        <p:spPr>
          <a:xfrm>
            <a:off x="7562088" y="5102352"/>
            <a:ext cx="2148840" cy="457200"/>
          </a:xfrm>
          <a:prstGeom prst="rect">
            <a:avLst/>
          </a:prstGeom>
          <a:noFill/>
          <a:ln/>
        </p:spPr>
        <p:txBody>
          <a:bodyPr wrap="square" rtlCol="0" anchor="ctr"/>
          <a:lstStyle/>
          <a:p>
            <a:pPr algn="r" indent="0" marL="0">
              <a:buNone/>
            </a:pPr>
            <a:r>
              <a:rPr lang="en-US" sz="1200" b="1" dirty="0">
                <a:solidFill>
                  <a:srgbClr val="005C58"/>
                </a:solidFill>
                <a:latin typeface="Calibri" pitchFamily="34" charset="0"/>
                <a:ea typeface="Calibri" pitchFamily="34" charset="-122"/>
                <a:cs typeface="Calibri" pitchFamily="34" charset="-120"/>
              </a:rPr>
              <a:t>1,850</a:t>
            </a:r>
            <a:endParaRPr lang="en-US" sz="1200" dirty="0"/>
          </a:p>
        </p:txBody>
      </p:sp>
      <p:sp>
        <p:nvSpPr>
          <p:cNvPr id="69" name="Shape 67"/>
          <p:cNvSpPr/>
          <p:nvPr/>
        </p:nvSpPr>
        <p:spPr>
          <a:xfrm>
            <a:off x="9738360" y="5102352"/>
            <a:ext cx="1920240" cy="457200"/>
          </a:xfrm>
          <a:prstGeom prst="rect">
            <a:avLst/>
          </a:prstGeom>
          <a:solidFill>
            <a:srgbClr val="F1F5F9"/>
          </a:solidFill>
          <a:ln w="12700">
            <a:solidFill>
              <a:srgbClr val="D1D5DB"/>
            </a:solidFill>
            <a:prstDash val="solid"/>
          </a:ln>
        </p:spPr>
      </p:sp>
      <p:sp>
        <p:nvSpPr>
          <p:cNvPr id="70" name="Text 68"/>
          <p:cNvSpPr/>
          <p:nvPr/>
        </p:nvSpPr>
        <p:spPr>
          <a:xfrm>
            <a:off x="9848088" y="5102352"/>
            <a:ext cx="1783080" cy="457200"/>
          </a:xfrm>
          <a:prstGeom prst="rect">
            <a:avLst/>
          </a:prstGeom>
          <a:noFill/>
          <a:ln/>
        </p:spPr>
        <p:txBody>
          <a:bodyPr wrap="square" rtlCol="0" anchor="ctr"/>
          <a:lstStyle/>
          <a:p>
            <a:pPr algn="r" indent="0" marL="0">
              <a:buNone/>
            </a:pPr>
            <a:r>
              <a:rPr lang="en-US" sz="1200" b="1" dirty="0">
                <a:solidFill>
                  <a:srgbClr val="005C58"/>
                </a:solidFill>
                <a:latin typeface="Calibri" pitchFamily="34" charset="0"/>
                <a:ea typeface="Calibri" pitchFamily="34" charset="-122"/>
                <a:cs typeface="Calibri" pitchFamily="34" charset="-120"/>
              </a:rPr>
              <a:t>27,771</a:t>
            </a:r>
            <a:endParaRPr lang="en-US" sz="1200" dirty="0"/>
          </a:p>
        </p:txBody>
      </p:sp>
      <p:sp>
        <p:nvSpPr>
          <p:cNvPr id="71" name="Shape 69"/>
          <p:cNvSpPr/>
          <p:nvPr/>
        </p:nvSpPr>
        <p:spPr>
          <a:xfrm>
            <a:off x="0" y="6656832"/>
            <a:ext cx="12188952" cy="201168"/>
          </a:xfrm>
          <a:prstGeom prst="rect">
            <a:avLst/>
          </a:prstGeom>
          <a:solidFill>
            <a:srgbClr val="005C58"/>
          </a:solidFill>
          <a:ln w="12700">
            <a:solidFill>
              <a:srgbClr val="005C58"/>
            </a:solidFill>
            <a:prstDash val="solid"/>
          </a:ln>
        </p:spPr>
      </p:sp>
      <p:sp>
        <p:nvSpPr>
          <p:cNvPr id="72" name="Text 70"/>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73" name="Text 71"/>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indent="0" marL="0">
              <a:buNone/>
            </a:pPr>
            <a:r>
              <a:rPr lang="en-US" sz="2200" b="1" dirty="0">
                <a:solidFill>
                  <a:srgbClr val="005C58"/>
                </a:solidFill>
                <a:latin typeface="Calibri" pitchFamily="34" charset="0"/>
                <a:ea typeface="Calibri" pitchFamily="34" charset="-122"/>
                <a:cs typeface="Calibri" pitchFamily="34" charset="-120"/>
              </a:rPr>
              <a:t>Rust Architecture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Layered module design mirroring the original AGC software structure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sp>
      <p:sp>
        <p:nvSpPr>
          <p:cNvPr id="6" name="Shape 4"/>
          <p:cNvSpPr/>
          <p:nvPr/>
        </p:nvSpPr>
        <p:spPr>
          <a:xfrm>
            <a:off x="502920" y="1170432"/>
            <a:ext cx="9811512" cy="777240"/>
          </a:xfrm>
          <a:prstGeom prst="roundRect">
            <a:avLst>
              <a:gd name="adj" fmla="val 8235"/>
            </a:avLst>
          </a:prstGeom>
          <a:solidFill>
            <a:srgbClr val="1E6B9B">
              <a:alpha val="8000"/>
            </a:srgbClr>
          </a:solidFill>
          <a:ln w="12700">
            <a:solidFill>
              <a:srgbClr val="1E6B9B"/>
            </a:solidFill>
            <a:prstDash val="solid"/>
          </a:ln>
        </p:spPr>
      </p:sp>
      <p:sp>
        <p:nvSpPr>
          <p:cNvPr id="7" name="Shape 5"/>
          <p:cNvSpPr/>
          <p:nvPr/>
        </p:nvSpPr>
        <p:spPr>
          <a:xfrm>
            <a:off x="502920" y="1170432"/>
            <a:ext cx="2926080" cy="777240"/>
          </a:xfrm>
          <a:prstGeom prst="roundRect">
            <a:avLst>
              <a:gd name="adj" fmla="val 8235"/>
            </a:avLst>
          </a:prstGeom>
          <a:solidFill>
            <a:srgbClr val="1E6B9B"/>
          </a:solidFill>
          <a:ln w="12700">
            <a:solidFill>
              <a:srgbClr val="1E6B9B"/>
            </a:solidFill>
            <a:prstDash val="solid"/>
          </a:ln>
        </p:spPr>
      </p:sp>
      <p:sp>
        <p:nvSpPr>
          <p:cNvPr id="8" name="Text 6"/>
          <p:cNvSpPr/>
          <p:nvPr/>
        </p:nvSpPr>
        <p:spPr>
          <a:xfrm>
            <a:off x="502920" y="1170432"/>
            <a:ext cx="29260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Mission Layer</a:t>
            </a:r>
            <a:endParaRPr lang="en-US" sz="1100" dirty="0"/>
          </a:p>
        </p:txBody>
      </p:sp>
      <p:sp>
        <p:nvSpPr>
          <p:cNvPr id="9" name="Shape 7"/>
          <p:cNvSpPr/>
          <p:nvPr/>
        </p:nvSpPr>
        <p:spPr>
          <a:xfrm>
            <a:off x="3611880" y="1261872"/>
            <a:ext cx="2194560" cy="594360"/>
          </a:xfrm>
          <a:prstGeom prst="roundRect">
            <a:avLst>
              <a:gd name="adj" fmla="val 7692"/>
            </a:avLst>
          </a:prstGeom>
          <a:solidFill>
            <a:srgbClr val="FFFFFF"/>
          </a:solidFill>
          <a:ln w="12700">
            <a:solidFill>
              <a:srgbClr val="D1D5DB"/>
            </a:solidFill>
            <a:prstDash val="solid"/>
          </a:ln>
        </p:spPr>
      </p:sp>
      <p:sp>
        <p:nvSpPr>
          <p:cNvPr id="10" name="Text 8"/>
          <p:cNvSpPr/>
          <p:nvPr/>
        </p:nvSpPr>
        <p:spPr>
          <a:xfrm>
            <a:off x="3611880" y="126187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mission_phase.rs</a:t>
            </a:r>
            <a:endParaRPr lang="en-US" sz="950" dirty="0"/>
          </a:p>
        </p:txBody>
      </p:sp>
      <p:sp>
        <p:nvSpPr>
          <p:cNvPr id="11" name="Shape 9"/>
          <p:cNvSpPr/>
          <p:nvPr/>
        </p:nvSpPr>
        <p:spPr>
          <a:xfrm>
            <a:off x="5971032" y="1261872"/>
            <a:ext cx="2194560" cy="594360"/>
          </a:xfrm>
          <a:prstGeom prst="roundRect">
            <a:avLst>
              <a:gd name="adj" fmla="val 7692"/>
            </a:avLst>
          </a:prstGeom>
          <a:solidFill>
            <a:srgbClr val="FFFFFF"/>
          </a:solidFill>
          <a:ln w="12700">
            <a:solidFill>
              <a:srgbClr val="D1D5DB"/>
            </a:solidFill>
            <a:prstDash val="solid"/>
          </a:ln>
        </p:spPr>
      </p:sp>
      <p:sp>
        <p:nvSpPr>
          <p:cNvPr id="12" name="Text 10"/>
          <p:cNvSpPr/>
          <p:nvPr/>
        </p:nvSpPr>
        <p:spPr>
          <a:xfrm>
            <a:off x="5971032" y="126187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earth_moon.rs</a:t>
            </a:r>
            <a:endParaRPr lang="en-US" sz="950" dirty="0"/>
          </a:p>
        </p:txBody>
      </p:sp>
      <p:sp>
        <p:nvSpPr>
          <p:cNvPr id="13" name="Shape 11"/>
          <p:cNvSpPr/>
          <p:nvPr/>
        </p:nvSpPr>
        <p:spPr>
          <a:xfrm>
            <a:off x="8330184" y="1261872"/>
            <a:ext cx="2194560" cy="594360"/>
          </a:xfrm>
          <a:prstGeom prst="roundRect">
            <a:avLst>
              <a:gd name="adj" fmla="val 7692"/>
            </a:avLst>
          </a:prstGeom>
          <a:solidFill>
            <a:srgbClr val="FFFFFF"/>
          </a:solidFill>
          <a:ln w="12700">
            <a:solidFill>
              <a:srgbClr val="D1D5DB"/>
            </a:solidFill>
            <a:prstDash val="solid"/>
          </a:ln>
        </p:spPr>
      </p:sp>
      <p:sp>
        <p:nvSpPr>
          <p:cNvPr id="14" name="Text 12"/>
          <p:cNvSpPr/>
          <p:nvPr/>
        </p:nvSpPr>
        <p:spPr>
          <a:xfrm>
            <a:off x="8330184" y="126187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P-code dispatcher</a:t>
            </a:r>
            <a:endParaRPr lang="en-US" sz="950" dirty="0"/>
          </a:p>
        </p:txBody>
      </p:sp>
      <p:sp>
        <p:nvSpPr>
          <p:cNvPr id="15" name="Shape 13"/>
          <p:cNvSpPr/>
          <p:nvPr/>
        </p:nvSpPr>
        <p:spPr>
          <a:xfrm>
            <a:off x="502920" y="2039112"/>
            <a:ext cx="9811512" cy="777240"/>
          </a:xfrm>
          <a:prstGeom prst="roundRect">
            <a:avLst>
              <a:gd name="adj" fmla="val 8235"/>
            </a:avLst>
          </a:prstGeom>
          <a:solidFill>
            <a:srgbClr val="7B2FBE">
              <a:alpha val="8000"/>
            </a:srgbClr>
          </a:solidFill>
          <a:ln w="12700">
            <a:solidFill>
              <a:srgbClr val="7B2FBE"/>
            </a:solidFill>
            <a:prstDash val="solid"/>
          </a:ln>
        </p:spPr>
      </p:sp>
      <p:sp>
        <p:nvSpPr>
          <p:cNvPr id="16" name="Shape 14"/>
          <p:cNvSpPr/>
          <p:nvPr/>
        </p:nvSpPr>
        <p:spPr>
          <a:xfrm>
            <a:off x="502920" y="2039112"/>
            <a:ext cx="2926080" cy="777240"/>
          </a:xfrm>
          <a:prstGeom prst="roundRect">
            <a:avLst>
              <a:gd name="adj" fmla="val 8235"/>
            </a:avLst>
          </a:prstGeom>
          <a:solidFill>
            <a:srgbClr val="7B2FBE"/>
          </a:solidFill>
          <a:ln w="12700">
            <a:solidFill>
              <a:srgbClr val="7B2FBE"/>
            </a:solidFill>
            <a:prstDash val="solid"/>
          </a:ln>
        </p:spPr>
      </p:sp>
      <p:sp>
        <p:nvSpPr>
          <p:cNvPr id="17" name="Text 15"/>
          <p:cNvSpPr/>
          <p:nvPr/>
        </p:nvSpPr>
        <p:spPr>
          <a:xfrm>
            <a:off x="502920" y="2039112"/>
            <a:ext cx="29260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DSKY Interface</a:t>
            </a:r>
            <a:endParaRPr lang="en-US" sz="1100" dirty="0"/>
          </a:p>
        </p:txBody>
      </p:sp>
      <p:sp>
        <p:nvSpPr>
          <p:cNvPr id="18" name="Shape 16"/>
          <p:cNvSpPr/>
          <p:nvPr/>
        </p:nvSpPr>
        <p:spPr>
          <a:xfrm>
            <a:off x="3611880" y="2130552"/>
            <a:ext cx="2194560" cy="594360"/>
          </a:xfrm>
          <a:prstGeom prst="roundRect">
            <a:avLst>
              <a:gd name="adj" fmla="val 7692"/>
            </a:avLst>
          </a:prstGeom>
          <a:solidFill>
            <a:srgbClr val="FFFFFF"/>
          </a:solidFill>
          <a:ln w="12700">
            <a:solidFill>
              <a:srgbClr val="D1D5DB"/>
            </a:solidFill>
            <a:prstDash val="solid"/>
          </a:ln>
        </p:spPr>
      </p:sp>
      <p:sp>
        <p:nvSpPr>
          <p:cNvPr id="19" name="Text 17"/>
          <p:cNvSpPr/>
          <p:nvPr/>
        </p:nvSpPr>
        <p:spPr>
          <a:xfrm>
            <a:off x="3611880" y="213055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dsky.rs</a:t>
            </a:r>
            <a:endParaRPr lang="en-US" sz="950" dirty="0"/>
          </a:p>
        </p:txBody>
      </p:sp>
      <p:sp>
        <p:nvSpPr>
          <p:cNvPr id="20" name="Shape 18"/>
          <p:cNvSpPr/>
          <p:nvPr/>
        </p:nvSpPr>
        <p:spPr>
          <a:xfrm>
            <a:off x="5971032" y="2130552"/>
            <a:ext cx="2194560" cy="594360"/>
          </a:xfrm>
          <a:prstGeom prst="roundRect">
            <a:avLst>
              <a:gd name="adj" fmla="val 7692"/>
            </a:avLst>
          </a:prstGeom>
          <a:solidFill>
            <a:srgbClr val="FFFFFF"/>
          </a:solidFill>
          <a:ln w="12700">
            <a:solidFill>
              <a:srgbClr val="D1D5DB"/>
            </a:solidFill>
            <a:prstDash val="solid"/>
          </a:ln>
        </p:spPr>
      </p:sp>
      <p:sp>
        <p:nvSpPr>
          <p:cNvPr id="21" name="Text 19"/>
          <p:cNvSpPr/>
          <p:nvPr/>
        </p:nvSpPr>
        <p:spPr>
          <a:xfrm>
            <a:off x="5971032" y="213055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verb/noun handler</a:t>
            </a:r>
            <a:endParaRPr lang="en-US" sz="950" dirty="0"/>
          </a:p>
        </p:txBody>
      </p:sp>
      <p:sp>
        <p:nvSpPr>
          <p:cNvPr id="22" name="Shape 20"/>
          <p:cNvSpPr/>
          <p:nvPr/>
        </p:nvSpPr>
        <p:spPr>
          <a:xfrm>
            <a:off x="8330184" y="2130552"/>
            <a:ext cx="2194560" cy="594360"/>
          </a:xfrm>
          <a:prstGeom prst="roundRect">
            <a:avLst>
              <a:gd name="adj" fmla="val 7692"/>
            </a:avLst>
          </a:prstGeom>
          <a:solidFill>
            <a:srgbClr val="FFFFFF"/>
          </a:solidFill>
          <a:ln w="12700">
            <a:solidFill>
              <a:srgbClr val="D1D5DB"/>
            </a:solidFill>
            <a:prstDash val="solid"/>
          </a:ln>
        </p:spPr>
      </p:sp>
      <p:sp>
        <p:nvSpPr>
          <p:cNvPr id="23" name="Text 21"/>
          <p:cNvSpPr/>
          <p:nvPr/>
        </p:nvSpPr>
        <p:spPr>
          <a:xfrm>
            <a:off x="8330184" y="213055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program status word</a:t>
            </a:r>
            <a:endParaRPr lang="en-US" sz="950" dirty="0"/>
          </a:p>
        </p:txBody>
      </p:sp>
      <p:sp>
        <p:nvSpPr>
          <p:cNvPr id="24" name="Shape 22"/>
          <p:cNvSpPr/>
          <p:nvPr/>
        </p:nvSpPr>
        <p:spPr>
          <a:xfrm>
            <a:off x="502920" y="2907792"/>
            <a:ext cx="9811512" cy="777240"/>
          </a:xfrm>
          <a:prstGeom prst="roundRect">
            <a:avLst>
              <a:gd name="adj" fmla="val 8235"/>
            </a:avLst>
          </a:prstGeom>
          <a:solidFill>
            <a:srgbClr val="0D9488">
              <a:alpha val="8000"/>
            </a:srgbClr>
          </a:solidFill>
          <a:ln w="12700">
            <a:solidFill>
              <a:srgbClr val="0D9488"/>
            </a:solidFill>
            <a:prstDash val="solid"/>
          </a:ln>
        </p:spPr>
      </p:sp>
      <p:sp>
        <p:nvSpPr>
          <p:cNvPr id="25" name="Shape 23"/>
          <p:cNvSpPr/>
          <p:nvPr/>
        </p:nvSpPr>
        <p:spPr>
          <a:xfrm>
            <a:off x="502920" y="2907792"/>
            <a:ext cx="2926080" cy="777240"/>
          </a:xfrm>
          <a:prstGeom prst="roundRect">
            <a:avLst>
              <a:gd name="adj" fmla="val 8235"/>
            </a:avLst>
          </a:prstGeom>
          <a:solidFill>
            <a:srgbClr val="0D9488"/>
          </a:solidFill>
          <a:ln w="12700">
            <a:solidFill>
              <a:srgbClr val="0D9488"/>
            </a:solidFill>
            <a:prstDash val="solid"/>
          </a:ln>
        </p:spPr>
      </p:sp>
      <p:sp>
        <p:nvSpPr>
          <p:cNvPr id="26" name="Text 24"/>
          <p:cNvSpPr/>
          <p:nvPr/>
        </p:nvSpPr>
        <p:spPr>
          <a:xfrm>
            <a:off x="502920" y="2907792"/>
            <a:ext cx="29260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Navigation Programs</a:t>
            </a:r>
            <a:endParaRPr lang="en-US" sz="1100" dirty="0"/>
          </a:p>
        </p:txBody>
      </p:sp>
      <p:sp>
        <p:nvSpPr>
          <p:cNvPr id="27" name="Shape 25"/>
          <p:cNvSpPr/>
          <p:nvPr/>
        </p:nvSpPr>
        <p:spPr>
          <a:xfrm>
            <a:off x="3611880" y="2999232"/>
            <a:ext cx="2194560" cy="594360"/>
          </a:xfrm>
          <a:prstGeom prst="roundRect">
            <a:avLst>
              <a:gd name="adj" fmla="val 7692"/>
            </a:avLst>
          </a:prstGeom>
          <a:solidFill>
            <a:srgbClr val="FFFFFF"/>
          </a:solidFill>
          <a:ln w="12700">
            <a:solidFill>
              <a:srgbClr val="D1D5DB"/>
            </a:solidFill>
            <a:prstDash val="solid"/>
          </a:ln>
        </p:spPr>
      </p:sp>
      <p:sp>
        <p:nvSpPr>
          <p:cNvPr id="28" name="Text 26"/>
          <p:cNvSpPr/>
          <p:nvPr/>
        </p:nvSpPr>
        <p:spPr>
          <a:xfrm>
            <a:off x="3611880" y="299923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p20_rendezvous</a:t>
            </a:r>
            <a:endParaRPr lang="en-US" sz="950" dirty="0"/>
          </a:p>
        </p:txBody>
      </p:sp>
      <p:sp>
        <p:nvSpPr>
          <p:cNvPr id="29" name="Shape 27"/>
          <p:cNvSpPr/>
          <p:nvPr/>
        </p:nvSpPr>
        <p:spPr>
          <a:xfrm>
            <a:off x="5971032" y="2999232"/>
            <a:ext cx="2194560" cy="594360"/>
          </a:xfrm>
          <a:prstGeom prst="roundRect">
            <a:avLst>
              <a:gd name="adj" fmla="val 7692"/>
            </a:avLst>
          </a:prstGeom>
          <a:solidFill>
            <a:srgbClr val="FFFFFF"/>
          </a:solidFill>
          <a:ln w="12700">
            <a:solidFill>
              <a:srgbClr val="D1D5DB"/>
            </a:solidFill>
            <a:prstDash val="solid"/>
          </a:ln>
        </p:spPr>
      </p:sp>
      <p:sp>
        <p:nvSpPr>
          <p:cNvPr id="30" name="Text 28"/>
          <p:cNvSpPr/>
          <p:nvPr/>
        </p:nvSpPr>
        <p:spPr>
          <a:xfrm>
            <a:off x="5971032" y="299923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p52_imu_align</a:t>
            </a:r>
            <a:endParaRPr lang="en-US" sz="950" dirty="0"/>
          </a:p>
        </p:txBody>
      </p:sp>
      <p:sp>
        <p:nvSpPr>
          <p:cNvPr id="31" name="Shape 29"/>
          <p:cNvSpPr/>
          <p:nvPr/>
        </p:nvSpPr>
        <p:spPr>
          <a:xfrm>
            <a:off x="8330184" y="2999232"/>
            <a:ext cx="2194560" cy="594360"/>
          </a:xfrm>
          <a:prstGeom prst="roundRect">
            <a:avLst>
              <a:gd name="adj" fmla="val 7692"/>
            </a:avLst>
          </a:prstGeom>
          <a:solidFill>
            <a:srgbClr val="FFFFFF"/>
          </a:solidFill>
          <a:ln w="12700">
            <a:solidFill>
              <a:srgbClr val="D1D5DB"/>
            </a:solidFill>
            <a:prstDash val="solid"/>
          </a:ln>
        </p:spPr>
      </p:sp>
      <p:sp>
        <p:nvSpPr>
          <p:cNvPr id="32" name="Text 30"/>
          <p:cNvSpPr/>
          <p:nvPr/>
        </p:nvSpPr>
        <p:spPr>
          <a:xfrm>
            <a:off x="8330184" y="299923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p63–65 descent</a:t>
            </a:r>
            <a:endParaRPr lang="en-US" sz="950" dirty="0"/>
          </a:p>
        </p:txBody>
      </p:sp>
      <p:sp>
        <p:nvSpPr>
          <p:cNvPr id="33" name="Shape 31"/>
          <p:cNvSpPr/>
          <p:nvPr/>
        </p:nvSpPr>
        <p:spPr>
          <a:xfrm>
            <a:off x="502920" y="3776472"/>
            <a:ext cx="9811512" cy="777240"/>
          </a:xfrm>
          <a:prstGeom prst="roundRect">
            <a:avLst>
              <a:gd name="adj" fmla="val 8235"/>
            </a:avLst>
          </a:prstGeom>
          <a:solidFill>
            <a:srgbClr val="D4920A">
              <a:alpha val="8000"/>
            </a:srgbClr>
          </a:solidFill>
          <a:ln w="12700">
            <a:solidFill>
              <a:srgbClr val="D4920A"/>
            </a:solidFill>
            <a:prstDash val="solid"/>
          </a:ln>
        </p:spPr>
      </p:sp>
      <p:sp>
        <p:nvSpPr>
          <p:cNvPr id="34" name="Shape 32"/>
          <p:cNvSpPr/>
          <p:nvPr/>
        </p:nvSpPr>
        <p:spPr>
          <a:xfrm>
            <a:off x="502920" y="3776472"/>
            <a:ext cx="2926080" cy="777240"/>
          </a:xfrm>
          <a:prstGeom prst="roundRect">
            <a:avLst>
              <a:gd name="adj" fmla="val 8235"/>
            </a:avLst>
          </a:prstGeom>
          <a:solidFill>
            <a:srgbClr val="D4920A"/>
          </a:solidFill>
          <a:ln w="12700">
            <a:solidFill>
              <a:srgbClr val="D4920A"/>
            </a:solidFill>
            <a:prstDash val="solid"/>
          </a:ln>
        </p:spPr>
      </p:sp>
      <p:sp>
        <p:nvSpPr>
          <p:cNvPr id="35" name="Text 33"/>
          <p:cNvSpPr/>
          <p:nvPr/>
        </p:nvSpPr>
        <p:spPr>
          <a:xfrm>
            <a:off x="502920" y="3776472"/>
            <a:ext cx="29260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Guidance &amp; DAP</a:t>
            </a:r>
            <a:endParaRPr lang="en-US" sz="1100" dirty="0"/>
          </a:p>
        </p:txBody>
      </p:sp>
      <p:sp>
        <p:nvSpPr>
          <p:cNvPr id="36" name="Shape 34"/>
          <p:cNvSpPr/>
          <p:nvPr/>
        </p:nvSpPr>
        <p:spPr>
          <a:xfrm>
            <a:off x="3611880" y="3867912"/>
            <a:ext cx="2194560" cy="594360"/>
          </a:xfrm>
          <a:prstGeom prst="roundRect">
            <a:avLst>
              <a:gd name="adj" fmla="val 7692"/>
            </a:avLst>
          </a:prstGeom>
          <a:solidFill>
            <a:srgbClr val="FFFFFF"/>
          </a:solidFill>
          <a:ln w="12700">
            <a:solidFill>
              <a:srgbClr val="D1D5DB"/>
            </a:solidFill>
            <a:prstDash val="solid"/>
          </a:ln>
        </p:spPr>
      </p:sp>
      <p:sp>
        <p:nvSpPr>
          <p:cNvPr id="37" name="Text 35"/>
          <p:cNvSpPr/>
          <p:nvPr/>
        </p:nvSpPr>
        <p:spPr>
          <a:xfrm>
            <a:off x="3611880" y="386791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guidance.rs</a:t>
            </a:r>
            <a:endParaRPr lang="en-US" sz="950" dirty="0"/>
          </a:p>
        </p:txBody>
      </p:sp>
      <p:sp>
        <p:nvSpPr>
          <p:cNvPr id="38" name="Shape 36"/>
          <p:cNvSpPr/>
          <p:nvPr/>
        </p:nvSpPr>
        <p:spPr>
          <a:xfrm>
            <a:off x="5971032" y="3867912"/>
            <a:ext cx="2194560" cy="594360"/>
          </a:xfrm>
          <a:prstGeom prst="roundRect">
            <a:avLst>
              <a:gd name="adj" fmla="val 7692"/>
            </a:avLst>
          </a:prstGeom>
          <a:solidFill>
            <a:srgbClr val="FFFFFF"/>
          </a:solidFill>
          <a:ln w="12700">
            <a:solidFill>
              <a:srgbClr val="D1D5DB"/>
            </a:solidFill>
            <a:prstDash val="solid"/>
          </a:ln>
        </p:spPr>
      </p:sp>
      <p:sp>
        <p:nvSpPr>
          <p:cNvPr id="39" name="Text 37"/>
          <p:cNvSpPr/>
          <p:nvPr/>
        </p:nvSpPr>
        <p:spPr>
          <a:xfrm>
            <a:off x="5971032" y="386791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dap.rs</a:t>
            </a:r>
            <a:endParaRPr lang="en-US" sz="950" dirty="0"/>
          </a:p>
        </p:txBody>
      </p:sp>
      <p:sp>
        <p:nvSpPr>
          <p:cNvPr id="40" name="Shape 38"/>
          <p:cNvSpPr/>
          <p:nvPr/>
        </p:nvSpPr>
        <p:spPr>
          <a:xfrm>
            <a:off x="8330184" y="3867912"/>
            <a:ext cx="2194560" cy="594360"/>
          </a:xfrm>
          <a:prstGeom prst="roundRect">
            <a:avLst>
              <a:gd name="adj" fmla="val 7692"/>
            </a:avLst>
          </a:prstGeom>
          <a:solidFill>
            <a:srgbClr val="FFFFFF"/>
          </a:solidFill>
          <a:ln w="12700">
            <a:solidFill>
              <a:srgbClr val="D1D5DB"/>
            </a:solidFill>
            <a:prstDash val="solid"/>
          </a:ln>
        </p:spPr>
      </p:sp>
      <p:sp>
        <p:nvSpPr>
          <p:cNvPr id="41" name="Text 39"/>
          <p:cNvSpPr/>
          <p:nvPr/>
        </p:nvSpPr>
        <p:spPr>
          <a:xfrm>
            <a:off x="8330184" y="386791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thruster_logic.rs</a:t>
            </a:r>
            <a:endParaRPr lang="en-US" sz="950" dirty="0"/>
          </a:p>
        </p:txBody>
      </p:sp>
      <p:sp>
        <p:nvSpPr>
          <p:cNvPr id="42" name="Shape 40"/>
          <p:cNvSpPr/>
          <p:nvPr/>
        </p:nvSpPr>
        <p:spPr>
          <a:xfrm>
            <a:off x="502920" y="4645152"/>
            <a:ext cx="9811512" cy="777240"/>
          </a:xfrm>
          <a:prstGeom prst="roundRect">
            <a:avLst>
              <a:gd name="adj" fmla="val 8235"/>
            </a:avLst>
          </a:prstGeom>
          <a:solidFill>
            <a:srgbClr val="2E7D32">
              <a:alpha val="8000"/>
            </a:srgbClr>
          </a:solidFill>
          <a:ln w="12700">
            <a:solidFill>
              <a:srgbClr val="2E7D32"/>
            </a:solidFill>
            <a:prstDash val="solid"/>
          </a:ln>
        </p:spPr>
      </p:sp>
      <p:sp>
        <p:nvSpPr>
          <p:cNvPr id="43" name="Shape 41"/>
          <p:cNvSpPr/>
          <p:nvPr/>
        </p:nvSpPr>
        <p:spPr>
          <a:xfrm>
            <a:off x="502920" y="4645152"/>
            <a:ext cx="2926080" cy="777240"/>
          </a:xfrm>
          <a:prstGeom prst="roundRect">
            <a:avLst>
              <a:gd name="adj" fmla="val 8235"/>
            </a:avLst>
          </a:prstGeom>
          <a:solidFill>
            <a:srgbClr val="2E7D32"/>
          </a:solidFill>
          <a:ln w="12700">
            <a:solidFill>
              <a:srgbClr val="2E7D32"/>
            </a:solidFill>
            <a:prstDash val="solid"/>
          </a:ln>
        </p:spPr>
      </p:sp>
      <p:sp>
        <p:nvSpPr>
          <p:cNvPr id="44" name="Text 42"/>
          <p:cNvSpPr/>
          <p:nvPr/>
        </p:nvSpPr>
        <p:spPr>
          <a:xfrm>
            <a:off x="502920" y="4645152"/>
            <a:ext cx="29260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Navigation Core</a:t>
            </a:r>
            <a:endParaRPr lang="en-US" sz="1100" dirty="0"/>
          </a:p>
        </p:txBody>
      </p:sp>
      <p:sp>
        <p:nvSpPr>
          <p:cNvPr id="45" name="Shape 43"/>
          <p:cNvSpPr/>
          <p:nvPr/>
        </p:nvSpPr>
        <p:spPr>
          <a:xfrm>
            <a:off x="3611880" y="4736592"/>
            <a:ext cx="2194560" cy="594360"/>
          </a:xfrm>
          <a:prstGeom prst="roundRect">
            <a:avLst>
              <a:gd name="adj" fmla="val 7692"/>
            </a:avLst>
          </a:prstGeom>
          <a:solidFill>
            <a:srgbClr val="FFFFFF"/>
          </a:solidFill>
          <a:ln w="12700">
            <a:solidFill>
              <a:srgbClr val="D1D5DB"/>
            </a:solidFill>
            <a:prstDash val="solid"/>
          </a:ln>
        </p:spPr>
      </p:sp>
      <p:sp>
        <p:nvSpPr>
          <p:cNvPr id="46" name="Text 44"/>
          <p:cNvSpPr/>
          <p:nvPr/>
        </p:nvSpPr>
        <p:spPr>
          <a:xfrm>
            <a:off x="3611880" y="473659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imu.rs</a:t>
            </a:r>
            <a:endParaRPr lang="en-US" sz="950" dirty="0"/>
          </a:p>
        </p:txBody>
      </p:sp>
      <p:sp>
        <p:nvSpPr>
          <p:cNvPr id="47" name="Shape 45"/>
          <p:cNvSpPr/>
          <p:nvPr/>
        </p:nvSpPr>
        <p:spPr>
          <a:xfrm>
            <a:off x="5971032" y="4736592"/>
            <a:ext cx="2194560" cy="594360"/>
          </a:xfrm>
          <a:prstGeom prst="roundRect">
            <a:avLst>
              <a:gd name="adj" fmla="val 7692"/>
            </a:avLst>
          </a:prstGeom>
          <a:solidFill>
            <a:srgbClr val="FFFFFF"/>
          </a:solidFill>
          <a:ln w="12700">
            <a:solidFill>
              <a:srgbClr val="D1D5DB"/>
            </a:solidFill>
            <a:prstDash val="solid"/>
          </a:ln>
        </p:spPr>
      </p:sp>
      <p:sp>
        <p:nvSpPr>
          <p:cNvPr id="48" name="Text 46"/>
          <p:cNvSpPr/>
          <p:nvPr/>
        </p:nvSpPr>
        <p:spPr>
          <a:xfrm>
            <a:off x="5971032" y="473659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stellar.rs</a:t>
            </a:r>
            <a:endParaRPr lang="en-US" sz="950" dirty="0"/>
          </a:p>
        </p:txBody>
      </p:sp>
      <p:sp>
        <p:nvSpPr>
          <p:cNvPr id="49" name="Shape 47"/>
          <p:cNvSpPr/>
          <p:nvPr/>
        </p:nvSpPr>
        <p:spPr>
          <a:xfrm>
            <a:off x="8330184" y="4736592"/>
            <a:ext cx="2194560" cy="594360"/>
          </a:xfrm>
          <a:prstGeom prst="roundRect">
            <a:avLst>
              <a:gd name="adj" fmla="val 7692"/>
            </a:avLst>
          </a:prstGeom>
          <a:solidFill>
            <a:srgbClr val="FFFFFF"/>
          </a:solidFill>
          <a:ln w="12700">
            <a:solidFill>
              <a:srgbClr val="D1D5DB"/>
            </a:solidFill>
            <a:prstDash val="solid"/>
          </a:ln>
        </p:spPr>
      </p:sp>
      <p:sp>
        <p:nvSpPr>
          <p:cNvPr id="50" name="Text 48"/>
          <p:cNvSpPr/>
          <p:nvPr/>
        </p:nvSpPr>
        <p:spPr>
          <a:xfrm>
            <a:off x="8330184" y="473659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coordinate transforms</a:t>
            </a:r>
            <a:endParaRPr lang="en-US" sz="950" dirty="0"/>
          </a:p>
        </p:txBody>
      </p:sp>
      <p:sp>
        <p:nvSpPr>
          <p:cNvPr id="51" name="Shape 49"/>
          <p:cNvSpPr/>
          <p:nvPr/>
        </p:nvSpPr>
        <p:spPr>
          <a:xfrm>
            <a:off x="502920" y="5513832"/>
            <a:ext cx="9811512" cy="777240"/>
          </a:xfrm>
          <a:prstGeom prst="roundRect">
            <a:avLst>
              <a:gd name="adj" fmla="val 8235"/>
            </a:avLst>
          </a:prstGeom>
          <a:solidFill>
            <a:srgbClr val="B83232">
              <a:alpha val="8000"/>
            </a:srgbClr>
          </a:solidFill>
          <a:ln w="12700">
            <a:solidFill>
              <a:srgbClr val="B83232"/>
            </a:solidFill>
            <a:prstDash val="solid"/>
          </a:ln>
        </p:spPr>
      </p:sp>
      <p:sp>
        <p:nvSpPr>
          <p:cNvPr id="52" name="Shape 50"/>
          <p:cNvSpPr/>
          <p:nvPr/>
        </p:nvSpPr>
        <p:spPr>
          <a:xfrm>
            <a:off x="502920" y="5513832"/>
            <a:ext cx="2926080" cy="777240"/>
          </a:xfrm>
          <a:prstGeom prst="roundRect">
            <a:avLst>
              <a:gd name="adj" fmla="val 8235"/>
            </a:avLst>
          </a:prstGeom>
          <a:solidFill>
            <a:srgbClr val="B83232"/>
          </a:solidFill>
          <a:ln w="12700">
            <a:solidFill>
              <a:srgbClr val="B83232"/>
            </a:solidFill>
            <a:prstDash val="solid"/>
          </a:ln>
        </p:spPr>
      </p:sp>
      <p:sp>
        <p:nvSpPr>
          <p:cNvPr id="53" name="Text 51"/>
          <p:cNvSpPr/>
          <p:nvPr/>
        </p:nvSpPr>
        <p:spPr>
          <a:xfrm>
            <a:off x="502920" y="5513832"/>
            <a:ext cx="29260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Hardware Abstraction</a:t>
            </a:r>
            <a:endParaRPr lang="en-US" sz="1100" dirty="0"/>
          </a:p>
        </p:txBody>
      </p:sp>
      <p:sp>
        <p:nvSpPr>
          <p:cNvPr id="54" name="Shape 52"/>
          <p:cNvSpPr/>
          <p:nvPr/>
        </p:nvSpPr>
        <p:spPr>
          <a:xfrm>
            <a:off x="3611880" y="5605272"/>
            <a:ext cx="2194560" cy="594360"/>
          </a:xfrm>
          <a:prstGeom prst="roundRect">
            <a:avLst>
              <a:gd name="adj" fmla="val 7692"/>
            </a:avLst>
          </a:prstGeom>
          <a:solidFill>
            <a:srgbClr val="FFFFFF"/>
          </a:solidFill>
          <a:ln w="12700">
            <a:solidFill>
              <a:srgbClr val="D1D5DB"/>
            </a:solidFill>
            <a:prstDash val="solid"/>
          </a:ln>
        </p:spPr>
      </p:sp>
      <p:sp>
        <p:nvSpPr>
          <p:cNvPr id="55" name="Text 53"/>
          <p:cNvSpPr/>
          <p:nvPr/>
        </p:nvSpPr>
        <p:spPr>
          <a:xfrm>
            <a:off x="3611880" y="560527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scheduler.rs</a:t>
            </a:r>
            <a:endParaRPr lang="en-US" sz="950" dirty="0"/>
          </a:p>
        </p:txBody>
      </p:sp>
      <p:sp>
        <p:nvSpPr>
          <p:cNvPr id="56" name="Shape 54"/>
          <p:cNvSpPr/>
          <p:nvPr/>
        </p:nvSpPr>
        <p:spPr>
          <a:xfrm>
            <a:off x="5971032" y="5605272"/>
            <a:ext cx="2194560" cy="594360"/>
          </a:xfrm>
          <a:prstGeom prst="roundRect">
            <a:avLst>
              <a:gd name="adj" fmla="val 7692"/>
            </a:avLst>
          </a:prstGeom>
          <a:solidFill>
            <a:srgbClr val="FFFFFF"/>
          </a:solidFill>
          <a:ln w="12700">
            <a:solidFill>
              <a:srgbClr val="D1D5DB"/>
            </a:solidFill>
            <a:prstDash val="solid"/>
          </a:ln>
        </p:spPr>
      </p:sp>
      <p:sp>
        <p:nvSpPr>
          <p:cNvPr id="57" name="Text 55"/>
          <p:cNvSpPr/>
          <p:nvPr/>
        </p:nvSpPr>
        <p:spPr>
          <a:xfrm>
            <a:off x="5971032" y="560527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memory_map.rs</a:t>
            </a:r>
            <a:endParaRPr lang="en-US" sz="950" dirty="0"/>
          </a:p>
        </p:txBody>
      </p:sp>
      <p:sp>
        <p:nvSpPr>
          <p:cNvPr id="58" name="Shape 56"/>
          <p:cNvSpPr/>
          <p:nvPr/>
        </p:nvSpPr>
        <p:spPr>
          <a:xfrm>
            <a:off x="8330184" y="5605272"/>
            <a:ext cx="2194560" cy="594360"/>
          </a:xfrm>
          <a:prstGeom prst="roundRect">
            <a:avLst>
              <a:gd name="adj" fmla="val 7692"/>
            </a:avLst>
          </a:prstGeom>
          <a:solidFill>
            <a:srgbClr val="FFFFFF"/>
          </a:solidFill>
          <a:ln w="12700">
            <a:solidFill>
              <a:srgbClr val="D1D5DB"/>
            </a:solidFill>
            <a:prstDash val="solid"/>
          </a:ln>
        </p:spPr>
      </p:sp>
      <p:sp>
        <p:nvSpPr>
          <p:cNvPr id="59" name="Text 57"/>
          <p:cNvSpPr/>
          <p:nvPr/>
        </p:nvSpPr>
        <p:spPr>
          <a:xfrm>
            <a:off x="8330184" y="5605272"/>
            <a:ext cx="2194560" cy="594360"/>
          </a:xfrm>
          <a:prstGeom prst="rect">
            <a:avLst/>
          </a:prstGeom>
          <a:noFill/>
          <a:ln/>
        </p:spPr>
        <p:txBody>
          <a:bodyPr wrap="square" rtlCol="0" anchor="ctr"/>
          <a:lstStyle/>
          <a:p>
            <a:pPr algn="ctr" indent="0" marL="0">
              <a:buNone/>
            </a:pPr>
            <a:r>
              <a:rPr lang="en-US" sz="950" dirty="0">
                <a:solidFill>
                  <a:srgbClr val="1C1C1C"/>
                </a:solidFill>
                <a:latin typeface="Calibri" pitchFamily="34" charset="0"/>
                <a:ea typeface="Calibri" pitchFamily="34" charset="-122"/>
                <a:cs typeface="Calibri" pitchFamily="34" charset="-120"/>
              </a:rPr>
              <a:t>fixed_point.rs</a:t>
            </a:r>
            <a:endParaRPr lang="en-US" sz="950" dirty="0"/>
          </a:p>
        </p:txBody>
      </p:sp>
      <p:sp>
        <p:nvSpPr>
          <p:cNvPr id="60" name="Text 58"/>
          <p:cNvSpPr/>
          <p:nvPr/>
        </p:nvSpPr>
        <p:spPr>
          <a:xfrm>
            <a:off x="502920" y="6309360"/>
            <a:ext cx="9628632" cy="256032"/>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All modules compile with no_std  ·  cargo test: 207 passing  ·  clippy: 0 warnings</a:t>
            </a:r>
            <a:endParaRPr lang="en-US" sz="1000" dirty="0"/>
          </a:p>
        </p:txBody>
      </p:sp>
      <p:sp>
        <p:nvSpPr>
          <p:cNvPr id="61" name="Shape 59"/>
          <p:cNvSpPr/>
          <p:nvPr/>
        </p:nvSpPr>
        <p:spPr>
          <a:xfrm>
            <a:off x="0" y="6656832"/>
            <a:ext cx="12188952" cy="201168"/>
          </a:xfrm>
          <a:prstGeom prst="rect">
            <a:avLst/>
          </a:prstGeom>
          <a:solidFill>
            <a:srgbClr val="005C58"/>
          </a:solidFill>
          <a:ln w="12700">
            <a:solidFill>
              <a:srgbClr val="005C58"/>
            </a:solidFill>
            <a:prstDash val="solid"/>
          </a:ln>
        </p:spPr>
      </p:sp>
      <p:sp>
        <p:nvSpPr>
          <p:cNvPr id="62" name="Text 60"/>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63" name="Text 61"/>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17</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sp>
      <p:sp>
        <p:nvSpPr>
          <p:cNvPr id="4" name="Shape 2"/>
          <p:cNvSpPr/>
          <p:nvPr/>
        </p:nvSpPr>
        <p:spPr>
          <a:xfrm>
            <a:off x="777240" y="3418027"/>
            <a:ext cx="7313371" cy="22860"/>
          </a:xfrm>
          <a:prstGeom prst="rect">
            <a:avLst/>
          </a:prstGeom>
          <a:solidFill>
            <a:srgbClr val="00A9A3"/>
          </a:solidFill>
          <a:ln w="12700">
            <a:solidFill>
              <a:srgbClr val="00A9A3"/>
            </a:solidFill>
            <a:prstDash val="solid"/>
          </a:ln>
        </p:spPr>
      </p:sp>
      <p:sp>
        <p:nvSpPr>
          <p:cNvPr id="5" name="Text 3"/>
          <p:cNvSpPr/>
          <p:nvPr/>
        </p:nvSpPr>
        <p:spPr>
          <a:xfrm>
            <a:off x="777240" y="2468880"/>
            <a:ext cx="7313371" cy="749808"/>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6" name="Text 4"/>
          <p:cNvSpPr/>
          <p:nvPr/>
        </p:nvSpPr>
        <p:spPr>
          <a:xfrm>
            <a:off x="777240" y="3520440"/>
            <a:ext cx="7313371" cy="411480"/>
          </a:xfrm>
          <a:prstGeom prst="rect">
            <a:avLst/>
          </a:prstGeom>
          <a:noFill/>
          <a:ln/>
        </p:spPr>
        <p:txBody>
          <a:bodyPr wrap="square" rtlCol="0" anchor="ctr"/>
          <a:lstStyle/>
          <a:p>
            <a:pPr algn="l" indent="0" marL="0">
              <a:buNone/>
            </a:pPr>
            <a:r>
              <a:rPr lang="en-US" sz="1800" dirty="0">
                <a:solidFill>
                  <a:srgbClr val="00A9A3"/>
                </a:solidFill>
                <a:latin typeface="Calibri" pitchFamily="34" charset="0"/>
                <a:ea typeface="Calibri" pitchFamily="34" charset="-122"/>
                <a:cs typeface="Calibri" pitchFamily="34" charset="-120"/>
              </a:rPr>
              <a:t>The AGC lives on — in idiomatic Rust.</a:t>
            </a:r>
            <a:endParaRPr lang="en-US" sz="1800" dirty="0"/>
          </a:p>
        </p:txBody>
      </p:sp>
      <p:sp>
        <p:nvSpPr>
          <p:cNvPr id="7" name="Text 5"/>
          <p:cNvSpPr/>
          <p:nvPr/>
        </p:nvSpPr>
        <p:spPr>
          <a:xfrm>
            <a:off x="777240" y="4069080"/>
            <a:ext cx="7313371" cy="274320"/>
          </a:xfrm>
          <a:prstGeom prst="rect">
            <a:avLst/>
          </a:prstGeom>
          <a:noFill/>
          <a:ln/>
        </p:spPr>
        <p:txBody>
          <a:bodyPr wrap="square" rtlCol="0" anchor="ctr"/>
          <a:lstStyle/>
          <a:p>
            <a:pPr algn="l" indent="0" marL="0">
              <a:buNone/>
            </a:pPr>
            <a:r>
              <a:rPr lang="en-US" sz="1100" dirty="0">
                <a:solidFill>
                  <a:srgbClr val="AACFCC"/>
                </a:solidFill>
                <a:latin typeface="Calibri" pitchFamily="34" charset="0"/>
                <a:ea typeface="Calibri" pitchFamily="34" charset="-122"/>
                <a:cs typeface="Calibri" pitchFamily="34" charset="-120"/>
              </a:rPr>
              <a:t>github.com/chrislgarry/Apollo-11  ·  Comanche055  ·  Claude Code</a:t>
            </a:r>
            <a:endParaRPr lang="en-US" sz="1100" dirty="0"/>
          </a:p>
        </p:txBody>
      </p:sp>
      <p:sp>
        <p:nvSpPr>
          <p:cNvPr id="8" name="Text 6"/>
          <p:cNvSpPr/>
          <p:nvPr/>
        </p:nvSpPr>
        <p:spPr>
          <a:xfrm>
            <a:off x="8166598" y="914400"/>
            <a:ext cx="3900465" cy="658368"/>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207</a:t>
            </a:r>
            <a:endParaRPr lang="en-US" sz="3600" dirty="0"/>
          </a:p>
        </p:txBody>
      </p:sp>
      <p:sp>
        <p:nvSpPr>
          <p:cNvPr id="9" name="Text 7"/>
          <p:cNvSpPr/>
          <p:nvPr/>
        </p:nvSpPr>
        <p:spPr>
          <a:xfrm>
            <a:off x="8166598" y="1600200"/>
            <a:ext cx="3900465" cy="320040"/>
          </a:xfrm>
          <a:prstGeom prst="rect">
            <a:avLst/>
          </a:prstGeom>
          <a:noFill/>
          <a:ln/>
        </p:spPr>
        <p:txBody>
          <a:bodyPr wrap="square" rtlCol="0" anchor="ctr"/>
          <a:lstStyle/>
          <a:p>
            <a:pPr algn="ctr" indent="0" marL="0">
              <a:buNone/>
            </a:pPr>
            <a:r>
              <a:rPr lang="en-US" sz="1200" dirty="0">
                <a:solidFill>
                  <a:srgbClr val="00A9A3"/>
                </a:solidFill>
                <a:latin typeface="Calibri" pitchFamily="34" charset="0"/>
                <a:ea typeface="Calibri" pitchFamily="34" charset="-122"/>
                <a:cs typeface="Calibri" pitchFamily="34" charset="-120"/>
              </a:rPr>
              <a:t>tests passing</a:t>
            </a:r>
            <a:endParaRPr lang="en-US" sz="1200" dirty="0"/>
          </a:p>
        </p:txBody>
      </p:sp>
      <p:sp>
        <p:nvSpPr>
          <p:cNvPr id="10" name="Text 8"/>
          <p:cNvSpPr/>
          <p:nvPr/>
        </p:nvSpPr>
        <p:spPr>
          <a:xfrm>
            <a:off x="8166598" y="2194560"/>
            <a:ext cx="3900465" cy="658368"/>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88</a:t>
            </a:r>
            <a:endParaRPr lang="en-US" sz="3600" dirty="0"/>
          </a:p>
        </p:txBody>
      </p:sp>
      <p:sp>
        <p:nvSpPr>
          <p:cNvPr id="11" name="Text 9"/>
          <p:cNvSpPr/>
          <p:nvPr/>
        </p:nvSpPr>
        <p:spPr>
          <a:xfrm>
            <a:off x="8166598" y="2880360"/>
            <a:ext cx="3900465" cy="320040"/>
          </a:xfrm>
          <a:prstGeom prst="rect">
            <a:avLst/>
          </a:prstGeom>
          <a:noFill/>
          <a:ln/>
        </p:spPr>
        <p:txBody>
          <a:bodyPr wrap="square" rtlCol="0" anchor="ctr"/>
          <a:lstStyle/>
          <a:p>
            <a:pPr algn="ctr" indent="0" marL="0">
              <a:buNone/>
            </a:pPr>
            <a:r>
              <a:rPr lang="en-US" sz="1200" dirty="0">
                <a:solidFill>
                  <a:srgbClr val="00A9A3"/>
                </a:solidFill>
                <a:latin typeface="Calibri" pitchFamily="34" charset="0"/>
                <a:ea typeface="Calibri" pitchFamily="34" charset="-122"/>
                <a:cs typeface="Calibri" pitchFamily="34" charset="-120"/>
              </a:rPr>
              <a:t>Rust files</a:t>
            </a:r>
            <a:endParaRPr lang="en-US" sz="1200" dirty="0"/>
          </a:p>
        </p:txBody>
      </p:sp>
      <p:sp>
        <p:nvSpPr>
          <p:cNvPr id="12" name="Text 10"/>
          <p:cNvSpPr/>
          <p:nvPr/>
        </p:nvSpPr>
        <p:spPr>
          <a:xfrm>
            <a:off x="8166598" y="3474720"/>
            <a:ext cx="3900465" cy="658368"/>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12,263</a:t>
            </a:r>
            <a:endParaRPr lang="en-US" sz="3600" dirty="0"/>
          </a:p>
        </p:txBody>
      </p:sp>
      <p:sp>
        <p:nvSpPr>
          <p:cNvPr id="13" name="Text 11"/>
          <p:cNvSpPr/>
          <p:nvPr/>
        </p:nvSpPr>
        <p:spPr>
          <a:xfrm>
            <a:off x="8166598" y="4160520"/>
            <a:ext cx="3900465" cy="320040"/>
          </a:xfrm>
          <a:prstGeom prst="rect">
            <a:avLst/>
          </a:prstGeom>
          <a:noFill/>
          <a:ln/>
        </p:spPr>
        <p:txBody>
          <a:bodyPr wrap="square" rtlCol="0" anchor="ctr"/>
          <a:lstStyle/>
          <a:p>
            <a:pPr algn="ctr" indent="0" marL="0">
              <a:buNone/>
            </a:pPr>
            <a:r>
              <a:rPr lang="en-US" sz="1200" dirty="0">
                <a:solidFill>
                  <a:srgbClr val="00A9A3"/>
                </a:solidFill>
                <a:latin typeface="Calibri" pitchFamily="34" charset="0"/>
                <a:ea typeface="Calibri" pitchFamily="34" charset="-122"/>
                <a:cs typeface="Calibri" pitchFamily="34" charset="-120"/>
              </a:rPr>
              <a:t>code lines</a:t>
            </a:r>
            <a:endParaRPr lang="en-US" sz="1200" dirty="0"/>
          </a:p>
        </p:txBody>
      </p:sp>
      <p:sp>
        <p:nvSpPr>
          <p:cNvPr id="14" name="Text 12"/>
          <p:cNvSpPr/>
          <p:nvPr/>
        </p:nvSpPr>
        <p:spPr>
          <a:xfrm>
            <a:off x="8166598" y="4754880"/>
            <a:ext cx="3900465" cy="658368"/>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5</a:t>
            </a:r>
            <a:endParaRPr lang="en-US" sz="3600" dirty="0"/>
          </a:p>
        </p:txBody>
      </p:sp>
      <p:sp>
        <p:nvSpPr>
          <p:cNvPr id="15" name="Text 13"/>
          <p:cNvSpPr/>
          <p:nvPr/>
        </p:nvSpPr>
        <p:spPr>
          <a:xfrm>
            <a:off x="8166598" y="5440680"/>
            <a:ext cx="3900465" cy="320040"/>
          </a:xfrm>
          <a:prstGeom prst="rect">
            <a:avLst/>
          </a:prstGeom>
          <a:noFill/>
          <a:ln/>
        </p:spPr>
        <p:txBody>
          <a:bodyPr wrap="square" rtlCol="0" anchor="ctr"/>
          <a:lstStyle/>
          <a:p>
            <a:pPr algn="ctr" indent="0" marL="0">
              <a:buNone/>
            </a:pPr>
            <a:r>
              <a:rPr lang="en-US" sz="1200" dirty="0">
                <a:solidFill>
                  <a:srgbClr val="00A9A3"/>
                </a:solidFill>
                <a:latin typeface="Calibri" pitchFamily="34" charset="0"/>
                <a:ea typeface="Calibri" pitchFamily="34" charset="-122"/>
                <a:cs typeface="Calibri" pitchFamily="34" charset="-120"/>
              </a:rPr>
              <a:t>milestones</a:t>
            </a:r>
            <a:endParaRPr lang="en-US" sz="1200" dirty="0"/>
          </a:p>
        </p:txBody>
      </p:sp>
      <p:sp>
        <p:nvSpPr>
          <p:cNvPr id="16" name="Text 14"/>
          <p:cNvSpPr/>
          <p:nvPr/>
        </p:nvSpPr>
        <p:spPr>
          <a:xfrm>
            <a:off x="10177272" y="201168"/>
            <a:ext cx="1828800" cy="365760"/>
          </a:xfrm>
          <a:prstGeom prst="rect">
            <a:avLst/>
          </a:prstGeom>
          <a:noFill/>
          <a:ln/>
        </p:spPr>
        <p:txBody>
          <a:bodyPr wrap="square"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7" name="Shape 15"/>
          <p:cNvSpPr/>
          <p:nvPr/>
        </p:nvSpPr>
        <p:spPr>
          <a:xfrm>
            <a:off x="0" y="6656832"/>
            <a:ext cx="12188952" cy="201168"/>
          </a:xfrm>
          <a:prstGeom prst="rect">
            <a:avLst/>
          </a:prstGeom>
          <a:solidFill>
            <a:srgbClr val="005C58"/>
          </a:solidFill>
          <a:ln w="12700">
            <a:solidFill>
              <a:srgbClr val="005C58"/>
            </a:solidFill>
            <a:prstDash val="solid"/>
          </a:ln>
        </p:spPr>
      </p:sp>
      <p:sp>
        <p:nvSpPr>
          <p:cNvPr id="18" name="Text 16"/>
          <p:cNvSpPr/>
          <p:nvPr/>
        </p:nvSpPr>
        <p:spPr>
          <a:xfrm>
            <a:off x="274320" y="6656832"/>
            <a:ext cx="3657600" cy="201168"/>
          </a:xfrm>
          <a:prstGeom prst="rect">
            <a:avLst/>
          </a:prstGeom>
          <a:noFill/>
          <a:ln/>
        </p:spPr>
        <p:txBody>
          <a:bodyPr wrap="square" rtlCol="0" anchor="ctr"/>
          <a:lstStyle/>
          <a:p>
            <a:pPr indent="0" marL="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9" name="Text 17"/>
          <p:cNvSpPr/>
          <p:nvPr/>
        </p:nvSpPr>
        <p:spPr>
          <a:xfrm>
            <a:off x="10360152" y="6656832"/>
            <a:ext cx="1645920" cy="201168"/>
          </a:xfrm>
          <a:prstGeom prst="rect">
            <a:avLst/>
          </a:prstGeom>
          <a:noFill/>
          <a:ln/>
        </p:spPr>
        <p:txBody>
          <a:bodyPr wrap="square" rtlCol="0" anchor="ctr"/>
          <a:lstStyle/>
          <a:p>
            <a:pPr algn="r" indent="0" marL="0">
              <a:buNone/>
            </a:pPr>
            <a:r>
              <a:rPr lang="en-US" sz="750" dirty="0">
                <a:solidFill>
                  <a:srgbClr val="BBBBBB"/>
                </a:solidFill>
                <a:latin typeface="Calibri" pitchFamily="34" charset="0"/>
                <a:ea typeface="Calibri" pitchFamily="34" charset="-122"/>
                <a:cs typeface="Calibri" pitchFamily="34" charset="-120"/>
              </a:rPr>
              <a:t>April 2026   |   18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2026-04-17T07:39:07Z</dcterms:created>
  <dcterms:modified xsi:type="dcterms:W3CDTF">2026-04-17T07:39:07Z</dcterms:modified>
</cp:coreProperties>
</file>